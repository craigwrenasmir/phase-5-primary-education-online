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copied81.xml" ContentType="application/vnd.openxmlformats-officedocument.presentationml.tags+xml"/>
  <Override PartName="/ppt/media/copied83.xml" ContentType="application/vnd.ms-powerpoint.comments+xml"/>
  <Override PartName="/ppt/media/copied84.svg" ContentType="image/svg+xml"/>
  <Override PartName="/ppt/media/copied85.xml" ContentType="application/vnd.openxmlformats-officedocument.presentationml.tags+xml"/>
  <Override PartName="/ppt/media/copied87.svg" ContentType="image/svg+xml"/>
  <Override PartName="/ppt/media/copied88.xml" ContentType="application/vnd.openxmlformats-officedocument.presentationml.tags+xml"/>
  <Override PartName="/ppt/media/copied90.svg" ContentType="image/svg+xml"/>
  <Override PartName="/ppt/media/copied92.xml" ContentType="application/vnd.openxmlformats-officedocument.presentationml.tag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6" r:id="rId12"/>
    <p:sldId id="257" r:id="rId13"/>
    <p:sldId id="258" r:id="rId14"/>
    <p:sldId id="259" r:id="rId15"/>
    <p:sldId id="260" r:id="rId16"/>
    <p:sldId id="261" r:id="rId17"/>
    <p:sldId id="262" r:id="rId18"/>
    <p:sldId id="263" r:id="rId19"/>
    <p:sldId id="264" r:id="rId20"/>
    <p:sldId id="265" r:id="rId21"/>
    <p:sldId id="266" r:id="rId11"/>
    <p:sldId id="267" r:id="rId10"/>
    <p:sldId id="268" r:id="rId9"/>
    <p:sldId id="269" r:id="rId8"/>
    <p:sldId id="270" r:id="rId7"/>
    <p:sldId id="27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78"/>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 Type="http://schemas.openxmlformats.org/officeDocument/2006/relationships/slide" Target="slides/slide16.xml"/><Relationship Id="rId7" Type="http://schemas.openxmlformats.org/officeDocument/2006/relationships/slide" Target="slides/slide15.xml"/><Relationship Id="rId8" Type="http://schemas.openxmlformats.org/officeDocument/2006/relationships/slide" Target="slides/slide14.xml"/><Relationship Id="rId9" Type="http://schemas.openxmlformats.org/officeDocument/2006/relationships/slide" Target="slides/slide13.xml"/><Relationship Id="rId10" Type="http://schemas.openxmlformats.org/officeDocument/2006/relationships/slide" Target="slides/slide12.xml"/><Relationship Id="rId11" Type="http://schemas.openxmlformats.org/officeDocument/2006/relationships/slide" Target="slides/slide1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4:04.942" v="11" actId="1076"/>
      <pc:docMkLst>
        <pc:docMk/>
      </pc:docMkLst>
      <pc:sldChg chg="addSp delSp modSp">
        <pc:chgData name="Jen Cousins" userId="S::jcousins@autismspectrum.org.au::e5107725-ce0a-4006-bfb3-3787c68d621c" providerId="AD" clId="Web-{00000000-0000-0000-0000-000000000000}" dt="2026-08-25T01:14:04.942" v="11" actId="1076"/>
        <pc:sldMkLst>
          <pc:docMk/>
          <pc:sldMk cId="3674033657" sldId="847"/>
        </pc:sldMkLst>
        <pc:spChg chg="mod">
          <ac:chgData name="Jen Cousins" userId="S::jcousins@autismspectrum.org.au::e5107725-ce0a-4006-bfb3-3787c68d621c" providerId="AD" clId="Web-{00000000-0000-0000-0000-000000000000}" dt="2026-08-25T01:14:04.942" v="11" actId="1076"/>
          <ac:spMkLst>
            <pc:docMk/>
            <pc:sldMk cId="3674033657" sldId="847"/>
            <ac:spMk id="2" creationId="{6BFC9AB3-31EC-27A9-8206-7C0BE658E8B7}"/>
          </ac:spMkLst>
        </pc:spChg>
        <pc:picChg chg="add mod ord">
          <ac:chgData name="Jen Cousins" userId="S::jcousins@autismspectrum.org.au::e5107725-ce0a-4006-bfb3-3787c68d621c" providerId="AD" clId="Web-{00000000-0000-0000-0000-000000000000}" dt="2026-08-25T01:13:48.894" v="9"/>
          <ac:picMkLst>
            <pc:docMk/>
            <pc:sldMk cId="3674033657" sldId="847"/>
            <ac:picMk id="4" creationId="{A5C575AF-C7D4-085E-94F7-3A72A52D6DAC}"/>
          </ac:picMkLst>
        </pc:picChg>
        <pc:picChg chg="add mod">
          <ac:chgData name="Jen Cousins" userId="S::jcousins@autismspectrum.org.au::e5107725-ce0a-4006-bfb3-3787c68d621c" providerId="AD" clId="Web-{00000000-0000-0000-0000-000000000000}" dt="2026-08-25T01:13:54.207" v="10"/>
          <ac:picMkLst>
            <pc:docMk/>
            <pc:sldMk cId="3674033657" sldId="847"/>
            <ac:picMk id="5" creationId="{C27A36B8-FF2A-0D74-971A-0E4E85BADCA9}"/>
          </ac:picMkLst>
        </pc:picChg>
      </pc:sldChg>
    </pc:docChg>
  </pc:docChgLst>
</pc:chgInfo>
</file>

<file path=ppt/media/copied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media/copied83.xml><?xml version="1.0" encoding="utf-8"?>
<p188:cmLst xmlns:a="http://schemas.openxmlformats.org/drawingml/2006/main" xmlns:r="http://schemas.openxmlformats.org/officeDocument/2006/relationships" xmlns:p188="http://schemas.microsoft.com/office/powerpoint/2018/8/main">
  <p188:cm id="{9A2E3823-3A5D-4D7E-8175-8FFB0A015633}" authorId="{94DEC358-9AF5-9F80-E7CA-D932E5596AC8}" created="2026-08-14T00:36:04.317">
    <ac:txMkLst xmlns:ac="http://schemas.microsoft.com/office/drawing/2013/main/command">
      <pc:docMk xmlns:pc="http://schemas.microsoft.com/office/powerpoint/2013/main/command"/>
      <pc:sldMk xmlns:pc="http://schemas.microsoft.com/office/powerpoint/2013/main/command" cId="1040241880" sldId="838"/>
      <ac:spMk id="5" creationId="{05A4E05F-DA50-6B99-BED1-648587EBB414}"/>
      <ac:txMk cp="0" len="23">
        <ac:context len="24" hash="2699318344"/>
      </ac:txMk>
    </ac:txMkLst>
    <p188:pos x="5065408" y="428754"/>
    <p188:txBody>
      <a:bodyPr/>
      <a:lstStyle/>
      <a:p>
        <a:r>
          <a:rPr lang="en-AU"/>
          <a:t>As this session time is so limited we discussed that we could use it as an opportunity to see where all the partnerships converge and what skills are needed for success across all partnerships.</a:t>
        </a:r>
      </a:p>
    </p188:txBody>
  </p188:cm>
</p188:cmLst>
</file>

<file path=ppt/media/copied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media/copied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media/copied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717EB-867A-43D8-909C-6209D0EC13B1}"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87F1C-BD57-478D-B104-476A213D31F6}" type="slidenum">
              <a:rPr lang="en-AU" smtClean="0"/>
              <a:t>‹#›</a:t>
            </a:fld>
            <a:endParaRPr lang="en-AU"/>
          </a:p>
        </p:txBody>
      </p:sp>
    </p:spTree>
    <p:extLst>
      <p:ext uri="{BB962C8B-B14F-4D97-AF65-F5344CB8AC3E}">
        <p14:creationId xmlns:p14="http://schemas.microsoft.com/office/powerpoint/2010/main" val="39486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0 - 3</a:t>
            </a:r>
          </a:p>
          <a:p/>
          <a:p>
            <a:r>
              <a:t>PURPOSE</a:t>
            </a:r>
          </a:p>
          <a:p>
            <a:r>
              <a:t>Welcome participants back, reconnect with the Session 3 design work and open the final session on partnership.</a:t>
            </a:r>
          </a:p>
          <a:p/>
          <a:p>
            <a:r>
              <a:t>WHAT TO DO</a:t>
            </a:r>
          </a:p>
          <a:p>
            <a:r>
              <a:t>1. Welcome participants back and restate the participation choices: cameras optional; chat, reactions, speaking, private notes or passing all count. People can step away and come back whenever they need to.</a:t>
            </a:r>
          </a:p>
          <a:p>
            <a:r>
              <a:t>2. Reconnect since last session: invite people to add a reaction or a short line in the chat if they tried or noticed anything with their Session 3 change. No report needed.</a:t>
            </a:r>
          </a:p>
          <a:p>
            <a:r>
              <a:t>3. Pick up the "Who needs to be involved?" question from the Session 3 close (Share, refine and commit).</a:t>
            </a:r>
          </a:p>
          <a:p>
            <a:r>
              <a:t>4. If someone missed Session 3, they choose one routine and one small change from the Session 3 options menu (executive functioning supports, predictability, schedules or visual supports) to plan the conversation around.</a:t>
            </a:r>
          </a:p>
          <a:p>
            <a:r>
              <a:t>5. Name the shift from what educators can redesign to how home and school can understand and act together.</a:t>
            </a:r>
          </a:p>
          <a:p>
            <a:r>
              <a:t>6. Acknowledge that participants may bring both productive and difficult partnership experiences.</a:t>
            </a:r>
          </a:p>
          <a:p>
            <a:r>
              <a:t>7. Remind the group that sharing is voluntary and examples stay anonymised: initials or roles only, in the chat and in breakout rooms.</a:t>
            </a:r>
          </a:p>
          <a:p>
            <a:r>
              <a:t>8. Let people know this is the last session of the series, and that the second half is protected planning time.</a:t>
            </a:r>
          </a:p>
          <a:p/>
          <a:p>
            <a:r>
              <a:t>KEY MESSAGES</a:t>
            </a:r>
          </a:p>
          <a:p>
            <a:r>
              <a:t>• Partnership is part of understanding and support, not an additional task after decisions are made.</a:t>
            </a:r>
          </a:p>
          <a:p>
            <a:r>
              <a:t>• The student, family and school may each hold different parts of the picture.</a:t>
            </a:r>
          </a:p>
          <a:p/>
          <a:p>
            <a:r>
              <a:t>KEEP IN MIND</a:t>
            </a:r>
          </a:p>
          <a:p>
            <a:r>
              <a:t>• If running behind: take one or two Solutions notes only in the power dynamics activity (slide 4) and keep Consultation literacy (slide 6) to one minute. Protect the planning time on slides 11 and 12 and the feedback time on slide 15.</a:t>
            </a:r>
          </a:p>
          <a:p/>
          <a:p>
            <a:r>
              <a:t>THREAD</a:t>
            </a:r>
          </a:p>
          <a:p>
            <a:r>
              <a:t>Picks up the Session 3 close ("Who needs to be involved?") and the two or three students participants have kept in mind since Session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3 - 7  ·  Participant Guide - Where partnerships converge</a:t>
            </a:r>
          </a:p>
          <a:p/>
          <a:p>
            <a:r>
              <a:t>PURPOSE</a:t>
            </a:r>
          </a:p>
          <a:p>
            <a:r>
              <a:t>Show where the partnerships around a student intersect, with the student at the centre of every one.</a:t>
            </a:r>
          </a:p>
          <a:p/>
          <a:p>
            <a:r>
              <a:t>WHAT TO DO</a:t>
            </a:r>
          </a:p>
          <a:p>
            <a:r>
              <a:t>1. Introduce the Venn: family, school staff and paraprofessionals, with the student at the centre.</a:t>
            </a:r>
          </a:p>
          <a:p>
            <a:r>
              <a:t>2. Explain that every partner brings unique knowledge, expertise and perspectives, and a different relationship with the student and with each other.</a:t>
            </a:r>
          </a:p>
          <a:p>
            <a:r>
              <a:t>3. Ask the question on the slide and invite answers in the chat or out loud: What is the goal of these intersecting partnerships?</a:t>
            </a:r>
          </a:p>
          <a:p>
            <a:r>
              <a:t>4. Read out one or two chat responses and steer toward the point that the student is at the centre of all partnerships.</a:t>
            </a:r>
          </a:p>
          <a:p>
            <a:r>
              <a:t>5. Link back briefly: Autistic flourishing and the lens (Session 1), communication and the school day (Session 2), the design change and continuum of support (Session 3).</a:t>
            </a:r>
          </a:p>
          <a:p>
            <a:r>
              <a:t>6. Ask who is missing from the picture and how the student's communication can be included.</a:t>
            </a:r>
          </a:p>
          <a:p>
            <a:r>
              <a:t>7. Point participants to Where partnerships converge in the Participant Guide.</a:t>
            </a:r>
          </a:p>
          <a:p/>
          <a:p>
            <a:r>
              <a:t>YOU MIGHT SAY</a:t>
            </a:r>
          </a:p>
          <a:p>
            <a:r>
              <a:t>What is the goal of these intersecting partnerships?</a:t>
            </a:r>
          </a:p>
          <a:p/>
          <a:p>
            <a:r>
              <a:t>KEY MESSAGES</a:t>
            </a:r>
          </a:p>
          <a:p>
            <a:r>
              <a:t>• Positive partnership keeps the student at the centre.</a:t>
            </a:r>
          </a:p>
          <a:p>
            <a:r>
              <a:t>• No single person holds the complete picture.</a:t>
            </a:r>
          </a:p>
          <a:p>
            <a:r>
              <a:t>• Every partner brings different knowledge and a different relationship with the student.</a:t>
            </a:r>
          </a:p>
          <a:p/>
          <a:p>
            <a:r>
              <a:t>KEEP IN MIND</a:t>
            </a:r>
          </a:p>
          <a:p>
            <a:r>
              <a:t>• Use the elements as discussion prompts rather than a complete definition.</a:t>
            </a:r>
          </a:p>
          <a:p>
            <a:r>
              <a:t>• Take one or two chat shares only; keep this moving.</a:t>
            </a:r>
          </a:p>
          <a:p/>
          <a:p>
            <a:r>
              <a:t>BACKGROUND</a:t>
            </a:r>
          </a:p>
          <a:p>
            <a:r>
              <a:t>With session time limited, this slide is a chance to see where all the partnerships converge and what is needed for success across all of them.</a:t>
            </a:r>
          </a:p>
          <a:p/>
          <a:p>
            <a:r>
              <a:t>THREAD</a:t>
            </a:r>
          </a:p>
          <a:p>
            <a:r>
              <a:t>Draws on the lens and Autistic flourishing (Session 1), the primary school day (Session 2) and the Session 3 design change and continuum of 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7 - 10</a:t>
            </a:r>
          </a:p>
          <a:p/>
          <a:p>
            <a:r>
              <a:t>PURPOSE</a:t>
            </a:r>
          </a:p>
          <a:p>
            <a:r>
              <a:t>Help participants notice how agendas, language, authority and decision-making shape consultation.</a:t>
            </a:r>
          </a:p>
          <a:p/>
          <a:p>
            <a:r>
              <a:t>WHAT TO DO</a:t>
            </a:r>
          </a:p>
          <a:p>
            <a:r>
              <a:t>1. Introduce the seesaw: school, home and the student.</a:t>
            </a:r>
          </a:p>
          <a:p>
            <a:r>
              <a:t>2. Name where power can sit: socio-economic status, historical and cultural experiences of education, speaking English or another language, understanding of school systems and curriculum, and perceptions of the importance of school.</a:t>
            </a:r>
          </a:p>
          <a:p>
            <a:r>
              <a:t>3. Ask the power questions below to examine practice, not to blame individual participants. Give a moment of quiet thinking rather than calling for answers.</a:t>
            </a:r>
          </a:p>
          <a:p>
            <a:r>
              <a:t>4. Invite educators to identify where school language, timing or process may create a barrier.</a:t>
            </a:r>
          </a:p>
          <a:p>
            <a:r>
              <a:t>5. Note that online and phone meetings carry their own power questions too: who can join easily, whose camera is on, and who is doing the talking.</a:t>
            </a:r>
          </a:p>
          <a:p/>
          <a:p>
            <a:r>
              <a:t>YOU MIGHT SAY</a:t>
            </a:r>
          </a:p>
          <a:p>
            <a:r>
              <a:t>Who sets the agenda?</a:t>
            </a:r>
          </a:p>
          <a:p>
            <a:r>
              <a:t>Whose knowledge is heard?</a:t>
            </a:r>
          </a:p>
          <a:p>
            <a:r>
              <a:t>Who can make decisions?</a:t>
            </a:r>
          </a:p>
          <a:p>
            <a:r>
              <a:t>Is the student included in a way that works for them?</a:t>
            </a:r>
          </a:p>
          <a:p>
            <a:r>
              <a:t>What could the school change about the process?</a:t>
            </a:r>
          </a:p>
          <a:p/>
          <a:p>
            <a:r>
              <a:t>KEY MESSAGES</a:t>
            </a:r>
          </a:p>
          <a:p>
            <a:r>
              <a:t>• Power is present in meeting structures, language and decision pathways.</a:t>
            </a:r>
          </a:p>
          <a:p/>
          <a:p>
            <a:r>
              <a:t>KEEP IN MIND</a:t>
            </a:r>
          </a:p>
          <a:p>
            <a:r>
              <a:t>• Avoid describing a family as difficult, disengaged or unrealistic without examining the context and process.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6 min  ·  minutes 10 - 16  ·  Participant Guide - Power dynamics</a:t>
            </a:r>
          </a:p>
          <a:p/>
          <a:p>
            <a:r>
              <a:t>PURPOSE</a:t>
            </a:r>
          </a:p>
          <a:p>
            <a:r>
              <a:t>Prompt educators to reflect on perceived and real power imbalances in the home-school relationship.</a:t>
            </a:r>
          </a:p>
          <a:p/>
          <a:p>
            <a:r>
              <a:t>WHAT TO DO</a:t>
            </a:r>
          </a:p>
          <a:p>
            <a:r>
              <a:t>1. Producer: open Zoom Whiteboard with three columns headed Home, School and Solutions, and paste the link and the three prompts into the chat. If Zoom Whiteboard is not enabled, use the chat instead: people start each message with Home, School or Solutions.</a:t>
            </a:r>
          </a:p>
          <a:p>
            <a:r>
              <a:t>2. Direct participants to the three instructions on the slide.</a:t>
            </a:r>
          </a:p>
          <a:p>
            <a:r>
              <a:t>3. Give a 30-second demo: open the whiteboard, add a note under one column, and show where to find the board again.</a:t>
            </a:r>
          </a:p>
          <a:p>
            <a:r>
              <a:t>4. Offer the options: add notes to the whiteboard, type in the chat, or jot privately in the Participant Guide.</a:t>
            </a:r>
          </a:p>
          <a:p>
            <a:r>
              <a:t>5. Support the group to look for solutions rather than place blame.</a:t>
            </a:r>
          </a:p>
          <a:p>
            <a:r>
              <a:t>6. In the last minute, read out two or three Solutions notes and ask the debrief question that fits best.</a:t>
            </a:r>
          </a:p>
          <a:p/>
          <a:p>
            <a:r>
              <a:t>KEY MESSAGES</a:t>
            </a:r>
          </a:p>
          <a:p>
            <a:r>
              <a:t>• Power can be structural, historical, cultural, conscious and unconscious.</a:t>
            </a:r>
          </a:p>
          <a:p>
            <a:r>
              <a:t>• Status can be perceived as an imbalanced power dynamic, regardless of intent.</a:t>
            </a:r>
          </a:p>
          <a:p/>
          <a:p>
            <a:r>
              <a:t>ACTIVITY: Zoom Whiteboard or chat reflection  ·  individual, whole group in the main room  ·  6 minutes</a:t>
            </a:r>
          </a:p>
          <a:p>
            <a:r>
              <a:t>Prompt: Where do power imbalances sit in the home-school relationship, and how could you address them?</a:t>
            </a:r>
          </a:p>
          <a:p>
            <a:r>
              <a:t>1. Write an example of an imbalance in power dynamics from a home perspective.</a:t>
            </a:r>
          </a:p>
          <a:p>
            <a:r>
              <a:t>2. Write an example of an imbalance in power dynamics from a school perspective.</a:t>
            </a:r>
          </a:p>
          <a:p>
            <a:r>
              <a:t>3. Write how you could address these imbalances.</a:t>
            </a:r>
          </a:p>
          <a:p>
            <a:r>
              <a:t>4. Option 1: add your notes to the Zoom Whiteboard under Home, School and Solutions.</a:t>
            </a:r>
          </a:p>
          <a:p>
            <a:r>
              <a:t>5. Option 2: type your examples in the chat.</a:t>
            </a:r>
          </a:p>
          <a:p>
            <a:r>
              <a:t>6. Option 3: keep your notes private in the Participant Guide.</a:t>
            </a:r>
          </a:p>
          <a:p>
            <a:r>
              <a:t>Bring the room back:</a:t>
            </a:r>
          </a:p>
          <a:p>
            <a:r>
              <a:t>• Who sets the agenda?</a:t>
            </a:r>
          </a:p>
          <a:p>
            <a:r>
              <a:t>• Whose knowledge is heard?</a:t>
            </a:r>
          </a:p>
          <a:p>
            <a:r>
              <a:t>• What could the school change about the process?</a:t>
            </a:r>
          </a:p>
          <a:p>
            <a:r>
              <a:t>Close: Ask participants to keep one process change for their conversation plan later in this session.</a:t>
            </a:r>
          </a:p>
          <a:p/>
          <a:p>
            <a:r>
              <a:t>KEEP IN MIND</a:t>
            </a:r>
          </a:p>
          <a:p>
            <a:r>
              <a:t>• This may be challenging for some participants, who may have found themselves in positions of power or lack of power at different times in their career. Guide individuals to seek solutions and not place blame.</a:t>
            </a:r>
          </a:p>
          <a:p>
            <a:r>
              <a:t>• Whiteboard notes must not identify families, students or staff. Remove anything identifying before the board is saved or shared.</a:t>
            </a:r>
          </a:p>
          <a:p/>
          <a:p>
            <a:r>
              <a:t>BACKGROUND</a:t>
            </a:r>
          </a:p>
          <a:p>
            <a:r>
              <a:t>Educators are immersed in the culture of education, including a shared understanding of acronyms (e.g. NAPLAN, NCCD, IEP) which families may not be able to access as easily. Some people will purposely and naturally endow teachers with higher status, which can be a cultural or personal attitude. External providers and professionals can also affect the power dynamic between those working with and supporting Autistic students.</a:t>
            </a:r>
          </a:p>
          <a:p/>
          <a:p>
            <a:r>
              <a:t>THREAD</a:t>
            </a:r>
          </a:p>
          <a:p>
            <a:r>
              <a:t>The process change chosen here carries into the bridge reflection (slide 9) and the conversation plan (slide 12).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5 min  ·  minutes 16 - 21  ·  Participant Guide - Student voice</a:t>
            </a:r>
          </a:p>
          <a:p/>
          <a:p>
            <a:r>
              <a:t>PURPOSE</a:t>
            </a:r>
          </a:p>
          <a:p>
            <a:r>
              <a:t>Show what happens when a student is not listened to or consulted.</a:t>
            </a:r>
          </a:p>
          <a:p/>
          <a:p>
            <a:r>
              <a:t>WHAT TO DO</a:t>
            </a:r>
          </a:p>
          <a:p>
            <a:r>
              <a:t>1. Introduce the video as an example of a student who is not listened to nor consulted.</a:t>
            </a:r>
          </a:p>
          <a:p>
            <a:r>
              <a:t>2. Ask participants, while watching, to pay attention to what decisions were made and who made them.</a:t>
            </a:r>
          </a:p>
          <a:p>
            <a:r>
              <a:t>3. Share the video with computer sound on and captions visible.</a:t>
            </a:r>
          </a:p>
          <a:p>
            <a:r>
              <a:t>4. Ask the group: What impact did those decisions have on Adon? Invite answers in the chat or out loud.</a:t>
            </a:r>
          </a:p>
          <a:p>
            <a:r>
              <a:t>5. Connect to the students participants have in mind: how are their preferences asked and heard?</a:t>
            </a:r>
          </a:p>
          <a:p/>
          <a:p>
            <a:r>
              <a:t>YOU MIGHT SAY</a:t>
            </a:r>
          </a:p>
          <a:p>
            <a:r>
              <a:t>While watching, pay attention to what decisions were made and who made them.</a:t>
            </a:r>
          </a:p>
          <a:p>
            <a:r>
              <a:t>What impact did those decisions have on Adon?</a:t>
            </a:r>
          </a:p>
          <a:p/>
          <a:p>
            <a:r>
              <a:t>KEY MESSAGES</a:t>
            </a:r>
          </a:p>
          <a:p>
            <a:r>
              <a:t>• Students should have a say in decisions about them, at their level and in the way they communicate.</a:t>
            </a:r>
          </a:p>
          <a:p>
            <a:r>
              <a:t>• Even young children can show preferences: choices offered visually, reactions observed and honoured.</a:t>
            </a:r>
          </a:p>
          <a:p>
            <a:r>
              <a:t>• Ask students in a way that works for them: what helps? what's hard? what should teachers know?</a:t>
            </a:r>
          </a:p>
          <a:p>
            <a:r>
              <a:t>• Record their answers in their own words, so the student's view is part of the record.</a:t>
            </a:r>
          </a:p>
          <a:p>
            <a:r>
              <a:t>• This is an early step in building self-advocacy.</a:t>
            </a:r>
          </a:p>
          <a:p/>
          <a:p>
            <a:r>
              <a:t>KEEP IN MIND</a:t>
            </a:r>
          </a:p>
          <a:p>
            <a:r>
              <a:t>• Check the video plays smoothly over screen share before the session; have the link ready to paste in the chat as a fallback.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21 - 23  ·  Participant Guide - Consultation checklist</a:t>
            </a:r>
          </a:p>
          <a:p/>
          <a:p>
            <a:r>
              <a:t>PURPOSE</a:t>
            </a:r>
          </a:p>
          <a:p>
            <a:r>
              <a:t>Introduce consultation literacy: asking, listening and following up.</a:t>
            </a:r>
          </a:p>
          <a:p/>
          <a:p>
            <a:r>
              <a:t>WHAT TO DO</a:t>
            </a:r>
          </a:p>
          <a:p>
            <a:r>
              <a:t>1. Walk through what useful consultation includes.</a:t>
            </a:r>
          </a:p>
          <a:p>
            <a:r>
              <a:t>2. Frame the list as a check participants can use before and after a meeting.</a:t>
            </a:r>
          </a:p>
          <a:p>
            <a:r>
              <a:t>3. Make the point: ask, listen, and follow up.</a:t>
            </a:r>
          </a:p>
          <a:p/>
          <a:p>
            <a:r>
              <a:t>KEY MESSAGES</a:t>
            </a:r>
          </a:p>
          <a:p>
            <a:r>
              <a:t>• Ask, listen, and follow up.</a:t>
            </a:r>
          </a:p>
          <a:p>
            <a:r>
              <a:t>• Tools should support consultation rather than replace listening and student voice.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23 - 26</a:t>
            </a:r>
          </a:p>
          <a:p/>
          <a:p>
            <a:r>
              <a:t>PURPOSE</a:t>
            </a:r>
          </a:p>
          <a:p>
            <a:r>
              <a:t>Give practical ways to consult students and families so every voice can be heard.</a:t>
            </a:r>
          </a:p>
          <a:p/>
          <a:p>
            <a:r>
              <a:t>WHAT TO DO</a:t>
            </a:r>
          </a:p>
          <a:p>
            <a:r>
              <a:t>1. Take the two columns in turn: with students, then with families.</a:t>
            </a:r>
          </a:p>
          <a:p>
            <a:r>
              <a:t>2. With students: presume competence, provide communication supports, offer choices, allow time, and act on what students tell us.</a:t>
            </a:r>
          </a:p>
          <a:p>
            <a:r>
              <a:t>3. With families: start with the student's strengths, interests and what works well, and listen to families' knowledge of their child without making assumptions.</a:t>
            </a:r>
          </a:p>
          <a:p>
            <a:r>
              <a:t>4. Ask participants to pick one practice from each column to try with the students they have in mind, and note it privately. One or two can share in the chat if they like.</a:t>
            </a:r>
          </a:p>
          <a:p/>
          <a:p>
            <a:r>
              <a:t>KEY MESSAGES</a:t>
            </a:r>
          </a:p>
          <a:p>
            <a:r>
              <a:t>• Listen, adapt, give choices, and make it easy for every student to have a voice.</a:t>
            </a:r>
          </a:p>
          <a:p>
            <a:r>
              <a:t>• Ensure trusted supporters assist communication without replacing the student's voice.</a:t>
            </a:r>
          </a:p>
          <a:p>
            <a:r>
              <a:t>• Use plain language and explain educational terms clearly.</a:t>
            </a:r>
          </a:p>
          <a:p>
            <a:r>
              <a:t>• Focus on the student's needs and goals, not just their diagnosis.</a:t>
            </a:r>
          </a:p>
          <a:p>
            <a:r>
              <a:t>• Recognise that some parents will be neurodivergent themselves.</a:t>
            </a:r>
          </a:p>
          <a:p/>
          <a:p>
            <a:r>
              <a:t>BACKGROUND</a:t>
            </a:r>
          </a:p>
          <a:p>
            <a:r>
              <a:t>Student consultation: provide multiple communication options (AAC, visuals, writing, drawing, video, symbols); prepare students in advance with questions, agendas and meeting information; use supported decision-making with simple choices and extra processing time; create sensory-friendly environments; recognise that behaviour is communication and can indicate preferences; build on strengths, interests and preferences; use accessible, strengths-based questions. Family consultation: be respectful of different cultures, experiences and family perspectives; use real examples from school to discuss supports and adjustments; check everyone has the same understanding; agree clear next steps and how progress will be reviewed; keep communication open and ongoing.</a:t>
            </a:r>
          </a:p>
          <a:p/>
          <a:p>
            <a:r>
              <a:t>THREAD</a:t>
            </a:r>
          </a:p>
          <a:p>
            <a:r>
              <a:t>Picks up the consultation, documentation and review processes named alongside NCCD in Session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26 - 29</a:t>
            </a:r>
          </a:p>
          <a:p/>
          <a:p>
            <a:r>
              <a:t>PURPOSE</a:t>
            </a:r>
          </a:p>
          <a:p>
            <a:r>
              <a:t>Introduce meltdown, shutdown and School Can't within partnership discussion, without blame.</a:t>
            </a:r>
          </a:p>
          <a:p/>
          <a:p>
            <a:r>
              <a:t>WHAT TO DO</a:t>
            </a:r>
          </a:p>
          <a:p>
            <a:r>
              <a:t>1. Let people know this slide touches on distress, and that they can step away or turn off their camera if they need to.</a:t>
            </a:r>
          </a:p>
          <a:p>
            <a:r>
              <a:t>2. Introduce the three terms without presenting them as wilful behaviour.</a:t>
            </a:r>
          </a:p>
          <a:p>
            <a:r>
              <a:t>3. Connect discussion to accumulated demands, what may not be visible, and what home and school can learn from each other.</a:t>
            </a:r>
          </a:p>
          <a:p>
            <a:r>
              <a:t>4. Ask what information, listening and environmental change would help the team respond more safely and usefully.</a:t>
            </a:r>
          </a:p>
          <a:p>
            <a:r>
              <a:t>5. Point to the focus line: safety, what preceded the situation, what supports recovery and what can change in the environment, task or response.</a:t>
            </a:r>
          </a:p>
          <a:p/>
          <a:p>
            <a:r>
              <a:t>KEY MESSAGES</a:t>
            </a:r>
          </a:p>
          <a:p>
            <a:r>
              <a:t>• Capacity should be discussed without blame.</a:t>
            </a:r>
          </a:p>
          <a:p>
            <a:r>
              <a:t>• Home and school may observe different parts of the student's experience.</a:t>
            </a:r>
          </a:p>
          <a:p>
            <a:r>
              <a:t>• Use non-blaming language and the safety guidance for this series.</a:t>
            </a:r>
          </a:p>
          <a:p/>
          <a:p>
            <a:r>
              <a:t>KEEP IN MIND</a:t>
            </a:r>
          </a:p>
          <a:p>
            <a:r>
              <a:t>• Do not frame meltdown, shutdown or School Can't as wilful misbehaviour or a failure of parenting.</a:t>
            </a:r>
          </a:p>
          <a:p>
            <a:r>
              <a:t>• Do not offer clinical, diagnostic, legal or crisis guidance beyond the material.</a:t>
            </a:r>
          </a:p>
          <a:p>
            <a:r>
              <a:t>• Do not invite personal crisis stories in the chat. If something concerning is posted, follow up privately after the session.</a:t>
            </a:r>
          </a:p>
          <a:p/>
          <a:p>
            <a:r>
              <a:t>THREAD</a:t>
            </a:r>
          </a:p>
          <a:p>
            <a:r>
              <a:t>Builds on capacity and accumulated demands across the primary school day from Sessions 1 and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29 - 33  ·  Participant Guide - Bridge to the next family conversation</a:t>
            </a:r>
          </a:p>
          <a:p/>
          <a:p>
            <a:r>
              <a:t>PURPOSE</a:t>
            </a:r>
          </a:p>
          <a:p>
            <a:r>
              <a:t>Identify the question and shared purpose participants will take into the conversation plan later in this session.</a:t>
            </a:r>
          </a:p>
          <a:p/>
          <a:p>
            <a:r>
              <a:t>WHAT TO DO</a:t>
            </a:r>
          </a:p>
          <a:p>
            <a:r>
              <a:t>1. Ask participants to return to the students they have in mind and their Session 3 design change.</a:t>
            </a:r>
          </a:p>
          <a:p>
            <a:r>
              <a:t>2. Invite them to work through the prompts on the slide privately, in the Participant Guide or their own notes. Cameras can go off.</a:t>
            </a:r>
          </a:p>
          <a:p>
            <a:r>
              <a:t>3. Keep the focus on preparation rather than scripting what the family should say.</a:t>
            </a:r>
          </a:p>
          <a:p>
            <a:r>
              <a:t>4. Ask participants to carry one process change from the power reflection into the plan.</a:t>
            </a:r>
          </a:p>
          <a:p>
            <a:r>
              <a:t>5. Let people know the notes will be used again in about 10 minutes.</a:t>
            </a:r>
          </a:p>
          <a:p/>
          <a:p>
            <a:r>
              <a:t>YOU MIGHT SAY</a:t>
            </a:r>
          </a:p>
          <a:p>
            <a:r>
              <a:t>Keep these notes for your conversation plan later in this session.</a:t>
            </a:r>
          </a:p>
          <a:p/>
          <a:p>
            <a:r>
              <a:t>KEY MESSAGES</a:t>
            </a:r>
          </a:p>
          <a:p>
            <a:r>
              <a:t>• Prepare for one purposeful conversation.</a:t>
            </a:r>
          </a:p>
          <a:p/>
          <a:p>
            <a:r>
              <a:t>ACTIVITY: Private bridge reflection  ·  on your own  ·  4 minutes</a:t>
            </a:r>
          </a:p>
          <a:p>
            <a:r>
              <a:t>Prompt: Prepare for one purposeful conversation.</a:t>
            </a:r>
          </a:p>
          <a:p>
            <a:r>
              <a:t>1. What needs to be understood?</a:t>
            </a:r>
          </a:p>
          <a:p>
            <a:r>
              <a:t>2. What question will open the conversation?</a:t>
            </a:r>
          </a:p>
          <a:p>
            <a:r>
              <a:t>3. How will the student's voice be included?</a:t>
            </a:r>
          </a:p>
          <a:p>
            <a:r>
              <a:t>4. What can be decided together?</a:t>
            </a:r>
          </a:p>
          <a:p>
            <a:r>
              <a:t>5. How and when will the school follow up?</a:t>
            </a:r>
          </a:p>
          <a:p>
            <a:r>
              <a:t>Close: Keep these notes open for the conversation plan (slide 12).</a:t>
            </a:r>
          </a:p>
          <a:p/>
          <a:p>
            <a:r>
              <a:t>THREAD</a:t>
            </a:r>
          </a:p>
          <a:p>
            <a:r>
              <a:t>Connects to the Session 3 close ("Who needs to be involved?") and the conversation plan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33 - 35</a:t>
            </a:r>
          </a:p>
          <a:p/>
          <a:p>
            <a:r>
              <a:t>PURPOSE</a:t>
            </a:r>
          </a:p>
          <a:p>
            <a:r>
              <a:t>Bring together the series lens, classroom design and partnership through belonging, capacity and joy.</a:t>
            </a:r>
          </a:p>
          <a:p/>
          <a:p>
            <a:r>
              <a:t>WHAT TO DO</a:t>
            </a:r>
          </a:p>
          <a:p>
            <a:r>
              <a:t>1. Present belonging, capacity and joy together, as connected ideas.</a:t>
            </a:r>
          </a:p>
          <a:p>
            <a:r>
              <a:t>2. Briefly link the series' three practical strands: a neurodiversity-affirming lens that begins with the person; a more accessible classroom shaped by student experience; positive partnership that brings student, family and school knowledge together.</a:t>
            </a:r>
          </a:p>
          <a:p>
            <a:r>
              <a:t>3. Invite participants to notice whether their design change supports belonging or joy as well as reducing a barrier.</a:t>
            </a:r>
          </a:p>
          <a:p>
            <a:r>
              <a:t>4. Point to the last line on the slide: return to these three when judging whether a change supports flourishing.</a:t>
            </a:r>
          </a:p>
          <a:p/>
          <a:p>
            <a:r>
              <a:t>YOU MIGHT SAY</a:t>
            </a:r>
          </a:p>
          <a:p>
            <a:r>
              <a:t>Belonging, capacity and joy run through all three.</a:t>
            </a:r>
          </a:p>
          <a:p/>
          <a:p>
            <a:r>
              <a:t>KEY MESSAGES</a:t>
            </a:r>
          </a:p>
          <a:p>
            <a:r>
              <a:t>• Belonging, capacity and joy belong alongside access and participation.</a:t>
            </a:r>
          </a:p>
          <a:p>
            <a:r>
              <a:t>• Classroom design and partnership should stay connected to each student's whole experience.</a:t>
            </a:r>
          </a:p>
          <a:p/>
          <a:p>
            <a:r>
              <a:t>KEEP IN MIND</a:t>
            </a:r>
          </a:p>
          <a:p>
            <a:r>
              <a:t>• Avoid presenting academic performance, quiet compliance or conventional independence as the only evidence of flourishing.</a:t>
            </a:r>
          </a:p>
          <a:p/>
          <a:p>
            <a:r>
              <a:t>THREAD</a:t>
            </a:r>
          </a:p>
          <a:p>
            <a:r>
              <a:t>Capacity picks up Session 2's thinking about what the school day costs and what lightens it; the whole frame is the test for the Session 3 design change and today's partnership planning.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7 min  ·  minutes 35 - 42  ·  Participant Guide - Start · Continue · Reconsider</a:t>
            </a:r>
          </a:p>
          <a:p/>
          <a:p>
            <a:r>
              <a:t>PURPOSE</a:t>
            </a:r>
          </a:p>
          <a:p>
            <a:r>
              <a:t>Turn the series into one specific, environment-first classroom action, alongside a practice to keep and one to rethink.</a:t>
            </a:r>
          </a:p>
          <a:p/>
          <a:p>
            <a:r>
              <a:t>WHAT TO DO</a:t>
            </a:r>
          </a:p>
          <a:p>
            <a:r>
              <a:t>1. Ask participants to have their Session 3 notes (Share, refine and commit: what will you try?) in front of them.</a:t>
            </a:r>
          </a:p>
          <a:p>
            <a:r>
              <a:t>2. Ask what matters most now, rather than for a summary of every topic.</a:t>
            </a:r>
          </a:p>
          <a:p>
            <a:r>
              <a:t>3. Suggest their Start can be that same Session 3 change, now with how they will know it worked.</a:t>
            </a:r>
          </a:p>
          <a:p>
            <a:r>
              <a:t>4. Producer: paste the stems into the chat: I will... / The barrier or demand I am addressing is... / I will notice... / I need to consult... / I will review this on...</a:t>
            </a:r>
          </a:p>
          <a:p>
            <a:r>
              <a:t>5. Check that each Start sits within the participant's influence and does not require a student to appear less Autistic.</a:t>
            </a:r>
          </a:p>
          <a:p>
            <a:r>
              <a:t>6. Encourage participants to include when they will consult the student, family or team.</a:t>
            </a:r>
          </a:p>
          <a:p>
            <a:r>
              <a:t>7. In the last minute, invite anyone who would like to share one thing in the chat. Read out one or two.</a:t>
            </a:r>
          </a:p>
          <a:p/>
          <a:p>
            <a:r>
              <a:t>KEY MESSAGES</a:t>
            </a:r>
          </a:p>
          <a:p>
            <a:r>
              <a:t>• Use access, participation or experience as the measure, not outward compliance.</a:t>
            </a:r>
          </a:p>
          <a:p>
            <a:r>
              <a:t>• Choose one insight, question or design opportunity that is specific and small enough to start.</a:t>
            </a:r>
          </a:p>
          <a:p/>
          <a:p>
            <a:r>
              <a:t>ACTIVITY: Individual action planning  ·  on your own  ·  7 minutes</a:t>
            </a:r>
          </a:p>
          <a:p>
            <a:r>
              <a:t>Prompt: What matters most now, and what is one change you will take forward?</a:t>
            </a:r>
          </a:p>
          <a:p>
            <a:r>
              <a:t>1. In your Participant Guide, identify one strategy to start: something small you can start next week.</a:t>
            </a:r>
          </a:p>
          <a:p>
            <a:r>
              <a:t>2. Identify one practice to continue: something this series confirmed you already do well.</a:t>
            </a:r>
          </a:p>
          <a:p>
            <a:r>
              <a:t>3. Identify one approach to reconsider: something you would now do differently.</a:t>
            </a:r>
          </a:p>
          <a:p>
            <a:r>
              <a:t>4. For each, decide: How will you know it worked? What evidence will show it?</a:t>
            </a:r>
          </a:p>
          <a:p>
            <a:r>
              <a:t>5. If time allows, note beside your Start the barrier or demand it addresses, who to consult and when to review it.</a:t>
            </a:r>
          </a:p>
          <a:p>
            <a:r>
              <a:t>6. This plan is yours. Share one thing in the chat if you would like to.</a:t>
            </a:r>
          </a:p>
          <a:p>
            <a:r>
              <a:t>Close: Ask participants to keep the action small, testable and open to revision.</a:t>
            </a:r>
          </a:p>
          <a:p/>
          <a:p>
            <a:r>
              <a:t>KEEP IN MIND</a:t>
            </a:r>
          </a:p>
          <a:p>
            <a:r>
              <a:t>• Do not let 'what they will notice' become outward compliance.</a:t>
            </a:r>
          </a:p>
          <a:p>
            <a:r>
              <a:t>• The plan is theirs: sharing in the chat is optional.</a:t>
            </a:r>
          </a:p>
          <a:p/>
          <a:p>
            <a:r>
              <a:t>THREAD</a:t>
            </a:r>
          </a:p>
          <a:p>
            <a:r>
              <a:t>Picks up the Session 3 close (Share, refine and commit: what will you try, what will you notice?).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8 min  ·  minutes 42 - 50  ·  Participant Guide - Plan the next conversation</a:t>
            </a:r>
          </a:p>
          <a:p/>
          <a:p>
            <a:r>
              <a:t>PURPOSE</a:t>
            </a:r>
          </a:p>
          <a:p>
            <a:r>
              <a:t>Prepare one purposeful, power-aware conversation with a student's family or the student themselves, within two weeks.</a:t>
            </a:r>
          </a:p>
          <a:p/>
          <a:p>
            <a:r>
              <a:t>WHAT TO DO</a:t>
            </a:r>
          </a:p>
          <a:p>
            <a:r>
              <a:t>1. Ask participants to open their bridge notes from slide 9.</a:t>
            </a:r>
          </a:p>
          <a:p>
            <a:r>
              <a:t>2. Ask them to define the purpose before writing questions or next steps.</a:t>
            </a:r>
          </a:p>
          <a:p>
            <a:r>
              <a:t>3. Point back to the bridge prompts: what needs to be understood, how student voice will be included, what can be decided together and how the school will follow up.</a:t>
            </a:r>
          </a:p>
          <a:p>
            <a:r>
              <a:t>4. Ask participants to apply the process change they identified during the power-dynamics reflection.</a:t>
            </a:r>
          </a:p>
          <a:p>
            <a:r>
              <a:t>5. Give about 4 minutes of private planning time; cameras can go off. Put a visible timer on screen.</a:t>
            </a:r>
          </a:p>
          <a:p>
            <a:r>
              <a:t>6. Optional pair practice (3 to 4 minutes, taken from the writing time): producer opens breakout pairs. Each person says their opening sentence aloud and hears one response: does it sound genuinely open? Main-room alternative: type your opening sentence privately in your Participant Guide or notes and read it back to yourself.</a:t>
            </a:r>
          </a:p>
          <a:p>
            <a:r>
              <a:t>7. Keep all notes anonymised (initials or roles only) and sharing voluntary.</a:t>
            </a:r>
          </a:p>
          <a:p/>
          <a:p>
            <a:r>
              <a:t>ACTIVITY: Individual conversation planning  ·  on your own, with optional breakout pairs  ·  8 minutes (about 4 minutes writing, then an optional 3 to 4 minute pair practice)</a:t>
            </a:r>
          </a:p>
          <a:p>
            <a:r>
              <a:t>Prompt: Plan one real conversation you will have within two weeks.</a:t>
            </a:r>
          </a:p>
          <a:p>
            <a:r>
              <a:t>1. Choose the real conversation you'll have within two weeks: with a student's family, or with the student themselves.</a:t>
            </a:r>
          </a:p>
          <a:p>
            <a:r>
              <a:t>2. Write the purpose in one sentence: what you need to understand, rather than what you need the family to accept.</a:t>
            </a:r>
          </a:p>
          <a:p>
            <a:r>
              <a:t>3. Plan it in your Participant Guide: what I'll share (a strength first), what I'll ask (specifically), what I'll offer.</a:t>
            </a:r>
          </a:p>
          <a:p>
            <a:r>
              <a:t>4. Plan how the student's communication and preferences will be included.</a:t>
            </a:r>
          </a:p>
          <a:p>
            <a:r>
              <a:t>5. Write your opening sentence, word for word.</a:t>
            </a:r>
          </a:p>
          <a:p>
            <a:r>
              <a:t>6. Name one possible shared next step, leaving room for the conversation to change it, and how you will follow up.</a:t>
            </a:r>
          </a:p>
          <a:p>
            <a:r>
              <a:t>7. Note it: when, where, how.</a:t>
            </a:r>
          </a:p>
          <a:p>
            <a:r>
              <a:t>8. Optional: in a breakout pair, say your opening sentence aloud and hear one response. Or type it privately and read it back.</a:t>
            </a:r>
          </a:p>
          <a:p>
            <a:r>
              <a:t>Close: Invite participants to check that the plan is clear, respectful and genuinely open to family and student knowledge.</a:t>
            </a:r>
          </a:p>
          <a:p/>
          <a:p>
            <a:r>
              <a:t>KEEP IN MIND</a:t>
            </a:r>
          </a:p>
          <a:p>
            <a:r>
              <a:t>• Avoid scripting the family's response.</a:t>
            </a:r>
          </a:p>
          <a:p>
            <a:r>
              <a:t>• Avoid treating the meeting as a way to secure agreement with a finished school plan.</a:t>
            </a:r>
          </a:p>
          <a:p>
            <a:r>
              <a:t>• Some people will prefer not to rehearse aloud. Let them stay in the main room and type their opening sentence privately.</a:t>
            </a:r>
          </a:p>
          <a:p/>
          <a:p>
            <a:r>
              <a:t>THREAD</a:t>
            </a:r>
          </a:p>
          <a:p>
            <a:r>
              <a:t>Starts from the bridge notes (slide 9) and the power-dynamics reflection (slide 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minutes 50 - 53  ·  Participant Guide - Final reflection</a:t>
            </a:r>
          </a:p>
          <a:p/>
          <a:p>
            <a:r>
              <a:t>PURPOSE</a:t>
            </a:r>
          </a:p>
          <a:p>
            <a:r>
              <a:t>Return participants to where they started in Session 1 and name, privately, what has shifted.</a:t>
            </a:r>
          </a:p>
          <a:p/>
          <a:p>
            <a:r>
              <a:t>WHAT TO DO</a:t>
            </a:r>
          </a:p>
          <a:p>
            <a:r>
              <a:t>1. Ask participants to find what they wrote in Session 1 (Think about your students: What are you here for? What would you like to understand better?) and read their own words back.</a:t>
            </a:r>
          </a:p>
          <a:p>
            <a:r>
              <a:t>2. Ask: What's different now?</a:t>
            </a:r>
          </a:p>
          <a:p>
            <a:r>
              <a:t>3. Give quiet time for the two prompts: Where were you at the start of Session 1? Where are you now?</a:t>
            </a:r>
          </a:p>
          <a:p>
            <a:r>
              <a:t>4. Ask each person to answer the last question in one sentence, to themselves.</a:t>
            </a:r>
          </a:p>
          <a:p>
            <a:r>
              <a:t>5. Keep it private; no sharing is needed. Cameras can go off.</a:t>
            </a:r>
          </a:p>
          <a:p/>
          <a:p>
            <a:r>
              <a:t>YOU MIGHT SAY</a:t>
            </a:r>
          </a:p>
          <a:p>
            <a:r>
              <a:t>In one sentence, for yourself: what will you do differently in your teaching?</a:t>
            </a:r>
          </a:p>
          <a:p/>
          <a:p>
            <a:r>
              <a:t>KEEP IN MIND</a:t>
            </a:r>
          </a:p>
          <a:p>
            <a:r>
              <a:t>• Some people will not have their Session 1 notes. Invite them to think back to what they hoped to understand at the start.</a:t>
            </a:r>
          </a:p>
          <a:p/>
          <a:p>
            <a:r>
              <a:t>THREAD</a:t>
            </a:r>
          </a:p>
          <a:p>
            <a:r>
              <a:t>Returns to the Session 1 private reflection (Participant Guide - Think about your students).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minutes 53 - 55  ·  Participant Guide - Connections that continue</a:t>
            </a:r>
          </a:p>
          <a:p/>
          <a:p>
            <a:r>
              <a:t>PURPOSE</a:t>
            </a:r>
          </a:p>
          <a:p>
            <a:r>
              <a:t>Introduce continuing professional learning and community pathways.</a:t>
            </a:r>
          </a:p>
          <a:p/>
          <a:p>
            <a:r>
              <a:t>WHAT TO DO</a:t>
            </a:r>
          </a:p>
          <a:p>
            <a:r>
              <a:t>1. Ask: What are you curious to learn more about next? Invite a word or two in the chat.</a:t>
            </a:r>
          </a:p>
          <a:p>
            <a:r>
              <a:t>2. Point participants back to their Session 1 notes: how many of their questions got answered?</a:t>
            </a:r>
          </a:p>
          <a:p>
            <a:r>
              <a:t>3. Explain how to access each pathway: webinars and deep dives, the Online Community of Practice and the Positive Partnerships website.</a:t>
            </a:r>
          </a:p>
          <a:p>
            <a:r>
              <a:t>4. Producer: paste the website and any confirmed links into the chat.</a:t>
            </a:r>
          </a:p>
          <a:p>
            <a:r>
              <a:t>5. Keep this brief and practical.</a:t>
            </a:r>
          </a:p>
          <a:p/>
          <a:p>
            <a:r>
              <a:t>YOU MIGHT SAY</a:t>
            </a:r>
          </a:p>
          <a:p>
            <a:r>
              <a:t>This is a starting point. These supports continue after the series.</a:t>
            </a:r>
          </a:p>
          <a:p/>
          <a:p>
            <a:r>
              <a:t>KEY MESSAGES</a:t>
            </a:r>
          </a:p>
          <a:p>
            <a:r>
              <a:t>• The series is one point in continuing professional learning, reflection and partnership.</a:t>
            </a:r>
          </a:p>
          <a:p>
            <a:r>
              <a:t>• Choose the pathway that fits your next question.</a:t>
            </a:r>
          </a:p>
          <a:p/>
          <a:p>
            <a:r>
              <a:t>RESOURCES</a:t>
            </a:r>
          </a:p>
          <a:p>
            <a:r>
              <a:t>Positive Partnerships website - positivepartnerships.com.au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minutes 55 - 59</a:t>
            </a:r>
          </a:p>
          <a:p/>
          <a:p>
            <a:r>
              <a:t>PURPOSE</a:t>
            </a:r>
          </a:p>
          <a:p>
            <a:r>
              <a:t>Collect participant feedback on the online series.</a:t>
            </a:r>
          </a:p>
          <a:p/>
          <a:p>
            <a:r>
              <a:t>WHAT TO DO</a:t>
            </a:r>
          </a:p>
          <a:p>
            <a:r>
              <a:t>1. Explain why feedback is being collected and how it is used.</a:t>
            </a:r>
          </a:p>
          <a:p>
            <a:r>
              <a:t>2. Producer: paste the feedback link into the chat; the QR code stays on screen for anyone using a phone.</a:t>
            </a:r>
          </a:p>
          <a:p>
            <a:r>
              <a:t>3. Allow protected time for completion before the session ends.</a:t>
            </a:r>
          </a:p>
          <a:p>
            <a:r>
              <a:t>4. Let people know they can ask for help in the chat if the form does not open.</a:t>
            </a:r>
          </a:p>
          <a:p>
            <a:r>
              <a:t>5. Provide an accessible alternative if the process includes one.</a:t>
            </a:r>
          </a:p>
          <a:p/>
          <a:p>
            <a:r>
              <a:t>KEEP IN MIND</a:t>
            </a:r>
          </a:p>
          <a:p>
            <a:r>
              <a:t>• Before running, confirm the feedback form has an option for the online series. The form shown on the slide lists face-to-face workshops only.</a:t>
            </a:r>
          </a:p>
          <a:p/>
          <a:p>
            <a:r>
              <a:t>RESOURCES</a:t>
            </a:r>
          </a:p>
          <a:p>
            <a:r>
              <a:t>Feedback form - http://tiny.cc/PP-PLfeedback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1 min  ·  minutes 59 - 60</a:t>
            </a:r>
          </a:p>
          <a:p/>
          <a:p>
            <a:r>
              <a:t>PURPOSE</a:t>
            </a:r>
          </a:p>
          <a:p>
            <a:r>
              <a:t>Close the series warmly and return participants to student-centred curiosity.</a:t>
            </a:r>
          </a:p>
          <a:p/>
          <a:p>
            <a:r>
              <a:t>WHAT TO DO</a:t>
            </a:r>
          </a:p>
          <a:p>
            <a:r>
              <a:t>1. Thank participants for their attention, questions and professional reflection across the four sessions.</a:t>
            </a:r>
          </a:p>
          <a:p>
            <a:r>
              <a:t>2. Invite them to stay curious and keep students at the centre.</a:t>
            </a:r>
          </a:p>
          <a:p>
            <a:r>
              <a:t>3. Remind participants to keep their Start · Continue · Reconsider plan and conversation plan.</a:t>
            </a:r>
          </a:p>
          <a:p>
            <a:r>
              <a:t>4. State the relevant follow-up and contact arrangements, and leave the room open for a minute for anyone who wants to stay.</a:t>
            </a:r>
          </a:p>
          <a:p/>
          <a:p>
            <a:r>
              <a:t>KEY MESSAGES</a:t>
            </a:r>
          </a:p>
          <a:p>
            <a:r>
              <a:t>• Stay curious.</a:t>
            </a:r>
          </a:p>
          <a:p>
            <a:r>
              <a:t>• Keep students at the centre.</a:t>
            </a:r>
          </a:p>
          <a:p>
            <a:r>
              <a:t>• Small, informed changes can be reviewed and refined in partnership.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D28A-B3EE-B2F8-2D9F-E38956BB4C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91FFC2E-1ACE-62A5-4072-FDF6F0EA0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4599CF-C943-D7C4-7811-263721D4555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1EEF46FB-5BFF-6413-8DC9-C662D210F6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AE1BB-D8CC-E9DD-8F6F-D88C38DE89A5}"/>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29591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3CB4-060A-C51F-2EC8-354B364A60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3379BE2-E71C-D173-20F7-3DC235E13D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F0FBE1-DEF4-01E6-B192-F54120AB142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3D19024-81F6-B24D-2524-4A38F3C734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EF9EC-1F2C-3CE9-DEFE-2FF7BA77C9D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365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B6A3-2485-D4A0-889B-2A9272838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E0D3F2C-BD31-4AAE-2D0A-9FDF48529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1D3BE7-495A-45AB-B509-EF0F34943E9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40B1C35D-E99A-E291-987B-AF21274B258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857903-8C9F-BACD-61B4-225B4ACBFE1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9313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A35-C5D0-A8D3-1ED0-DBF6C7038B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0E58A-4B8D-2F6C-6CED-E77C340B9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1D8A72-9F1F-7780-A02A-6480C7F09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5D4972C-A7FC-EEBF-EB80-07E12A45D2D0}"/>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B2E53512-D333-F27C-FA62-2D6D626AD1C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326B4B-35FD-594C-461D-73FB077E727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14952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8FB18-6446-C345-2715-2FCD4BBD208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51CA7F-8671-00FB-2759-AE7473DA2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92E17-C65A-E73A-04CA-7B10C867F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DC5BF-9F4A-A4A9-2DCD-D39C08A7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0E987-78C7-89E8-B39B-214F53673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5BB3663-DCDB-9D47-2A05-8C8A1751BD1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8" name="Footer Placeholder 7">
            <a:extLst>
              <a:ext uri="{FF2B5EF4-FFF2-40B4-BE49-F238E27FC236}">
                <a16:creationId xmlns:a16="http://schemas.microsoft.com/office/drawing/2014/main" id="{9A1E0899-2FB9-D5F8-C7D9-6A64DF55DCD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1B0A265-38DC-25F3-63F7-264C7CBC5749}"/>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1963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0DD-9672-EA32-8499-5F359273C84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7A619D4-673B-7869-BDA8-90EF6AE1A4F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4" name="Footer Placeholder 3">
            <a:extLst>
              <a:ext uri="{FF2B5EF4-FFF2-40B4-BE49-F238E27FC236}">
                <a16:creationId xmlns:a16="http://schemas.microsoft.com/office/drawing/2014/main" id="{3DC3F31B-821F-4600-8E2D-5409A083DD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99563D0-06DF-DDC6-6DE6-F286B2AD439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911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158A0-525F-DBD6-072B-A32480F33201}"/>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3" name="Footer Placeholder 2">
            <a:extLst>
              <a:ext uri="{FF2B5EF4-FFF2-40B4-BE49-F238E27FC236}">
                <a16:creationId xmlns:a16="http://schemas.microsoft.com/office/drawing/2014/main" id="{EC38CD13-2E9D-DA86-8592-84CB918BBA0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1326335-F22B-E001-C43D-596FB359436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793934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21E-74D4-6662-046B-D00B43AFF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6EBDC0-FB04-159F-A56E-FCD49D6E2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4CC297-D38C-33F2-3923-309BA88C8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5D466-15C2-9CF9-49C4-908884E657CA}"/>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E51A267D-366B-4133-F6AE-178CB1C41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CE10DC-6374-4602-A4F6-08445FF5D48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8316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875E-4B02-5185-26A1-8AA35D458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A93C0B0-4CE7-414A-A922-9910F4AE4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A186429-E09E-E274-D9B2-B9FF7D73D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BDFA4-C431-D3D2-E11D-6B0825CAC2E6}"/>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D68A784D-C53A-7D39-41EB-A5FAB54CAA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DF602B-2F43-D06E-EEA1-A5842078DF4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469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FF24-BA52-E356-2969-BBEC613C5B3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FE647FD-F15F-0F7E-6331-911A43B458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29ABCC-425E-F40B-430F-6DBE435D59C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6ADAE07-2F6D-543D-8ADD-06E28BD16A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E3D450-00E6-5570-3748-99DB1FFF86AE}"/>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07843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7934-68A4-5202-087B-135726E7E4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0513942-979E-AFC8-F6F0-1B745E88E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DD712E-6F85-5F6F-2C74-2CEEBD8D63A8}"/>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8B04549D-D6FE-6A64-0BA2-1D595DEB18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DA3E06-3B8D-A569-B398-19316245599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388062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10504356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2D69F-858A-1B9A-29B7-9C2FE4AA8D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8B2ED96-8E16-D26A-34FC-9612F0C05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CBCBF3-792B-3F72-232C-3BB15CC78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B22C0ED6-9CA2-5575-50F9-C6F846B015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D4396C1-8D9B-39FF-FBFF-EAB2040E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FDF43-DACD-40EF-801D-14F8956C6332}" type="slidenum">
              <a:rPr lang="en-AU" smtClean="0"/>
              <a:t>‹#›</a:t>
            </a:fld>
            <a:endParaRPr lang="en-AU"/>
          </a:p>
        </p:txBody>
      </p:sp>
    </p:spTree>
    <p:extLst>
      <p:ext uri="{BB962C8B-B14F-4D97-AF65-F5344CB8AC3E}">
        <p14:creationId xmlns:p14="http://schemas.microsoft.com/office/powerpoint/2010/main" val="1684930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ags" Target="../media/copied81.xml"/><Relationship Id="rId3" Type="http://schemas.openxmlformats.org/officeDocument/2006/relationships/image" Target="../media/copied82.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media/copied83.xml"/><Relationship Id="rId3" Type="http://schemas.openxmlformats.org/officeDocument/2006/relationships/image" Target="../media/copied8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ags" Target="../media/copied85.xml"/><Relationship Id="rId3" Type="http://schemas.openxmlformats.org/officeDocument/2006/relationships/image" Target="../media/copied86.png"/><Relationship Id="rId4" Type="http://schemas.openxmlformats.org/officeDocument/2006/relationships/image" Target="../media/copied87.sv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ags" Target="../media/copied88.xml"/><Relationship Id="rId3" Type="http://schemas.microsoft.com/office/2007/relationships/media" Target="../media/copied89.mp4"/><Relationship Id="rId4" Type="http://schemas.openxmlformats.org/officeDocument/2006/relationships/video" Target="../media/copied89.mp4"/><Relationship Id="rId5" Type="http://schemas.openxmlformats.org/officeDocument/2006/relationships/image" Target="../media/copied90.svg"/><Relationship Id="rId6" Type="http://schemas.openxmlformats.org/officeDocument/2006/relationships/image" Target="../media/copied91.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copied84.sv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ags" Target="../media/copied92.xml"/><Relationship Id="rId3" Type="http://schemas.openxmlformats.org/officeDocument/2006/relationships/image" Target="../media/copied93.jpeg"/><Relationship Id="rId4" Type="http://schemas.openxmlformats.org/officeDocument/2006/relationships/image" Target="../media/copied94.jpeg"/><Relationship Id="rId5" Type="http://schemas.openxmlformats.org/officeDocument/2006/relationships/image" Target="../media/copied95.jpeg"/><Relationship Id="rId6" Type="http://schemas.openxmlformats.org/officeDocument/2006/relationships/image" Target="../media/copied96.png"/><Relationship Id="rId7" Type="http://schemas.openxmlformats.org/officeDocument/2006/relationships/image" Target="../media/copied97.png"/><Relationship Id="rId8" Type="http://schemas.openxmlformats.org/officeDocument/2006/relationships/image" Target="../media/copied98.png"/><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copied99.jpe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B03CD1B9-A570-DB32-424F-E4936D559176}"/>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4" name="Picture 3">
            <a:extLst>
              <a:ext uri="{FF2B5EF4-FFF2-40B4-BE49-F238E27FC236}">
                <a16:creationId xmlns:a16="http://schemas.microsoft.com/office/drawing/2014/main" id="{FE5D2DEF-3A6F-22DF-DC11-FD415D02042D}"/>
              </a:ext>
            </a:extLst>
          </p:cNvPr>
          <p:cNvPicPr>
            <a:picLocks noChangeAspect="1"/>
          </p:cNvPicPr>
          <p:nvPr/>
        </p:nvPicPr>
        <p:blipFill>
          <a:blip r:embed="rId3">
            <a:extLst>
              <a:ext uri="{28A0092B-C50C-407E-A947-70E740481C1C}">
                <a14:useLocalDpi xmlns:a14="http://schemas.microsoft.com/office/drawing/2010/main" val="0"/>
              </a:ext>
            </a:extLst>
          </a:blip>
          <a:srcRect l="8535" r="8535"/>
          <a:stretch>
            <a:fillRect/>
          </a:stretch>
        </p:blipFill>
        <p:spPr>
          <a:xfrm>
            <a:off x="0" y="0"/>
            <a:ext cx="6766560" cy="6858000"/>
          </a:xfrm>
          <a:prstGeom prst="rect">
            <a:avLst/>
          </a:prstGeom>
          <a:scene3d>
            <a:camera prst="orthographicFront">
              <a:rot lat="0" lon="10800000" rev="0"/>
            </a:camera>
            <a:lightRig rig="threePt" dir="t"/>
          </a:scene3d>
        </p:spPr>
      </p:pic>
      <p:sp>
        <p:nvSpPr>
          <p:cNvPr id="12" name="Title 3">
            <a:extLst>
              <a:ext uri="{FF2B5EF4-FFF2-40B4-BE49-F238E27FC236}">
                <a16:creationId xmlns:a16="http://schemas.microsoft.com/office/drawing/2014/main" id="{1F7B0FA0-9D53-70A9-352A-BBC0EC34F991}"/>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Primary Education Online · Session 4</a:t>
            </a:r>
          </a:p>
          <a:p>
            <a:pPr marL="0" indent="0" algn="l">
              <a:lnSpc>
                <a:spcPct val="95000"/>
              </a:lnSpc>
              <a:spcBef>
                <a:spcPts val="1000"/>
              </a:spcBef>
              <a:buNone/>
            </a:pPr>
            <a:r>
              <a:rPr lang="en-AU" sz="3600" b="0" dirty="0">
                <a:solidFill>
                  <a:srgbClr val="584099"/>
                </a:solidFill>
                <a:latin typeface="Arial Black"/>
                <a:ea typeface="Arial Black"/>
                <a:cs typeface="Arial Black"/>
              </a:rPr>
              <a:t>Partnership, Flourishing and Next Steps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AB9382F8-452B-88C6-A84D-650D7D2C3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A4E05F-DA50-6B99-BED1-648587EBB41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Working in partnership</a:t>
            </a:r>
          </a:p>
        </p:txBody>
      </p:sp>
      <p:sp>
        <p:nvSpPr>
          <p:cNvPr id="6" name="Oval 5"/>
          <p:cNvSpPr/>
          <p:nvPr/>
        </p:nvSpPr>
        <p:spPr>
          <a:xfrm>
            <a:off x="109728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7" name="TextBox 6"/>
          <p:cNvSpPr txBox="1"/>
          <p:nvPr/>
        </p:nvSpPr>
        <p:spPr>
          <a:xfrm>
            <a:off x="123444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Family</a:t>
            </a:r>
          </a:p>
        </p:txBody>
      </p:sp>
      <p:sp>
        <p:nvSpPr>
          <p:cNvPr id="8" name="Oval 7"/>
          <p:cNvSpPr/>
          <p:nvPr/>
        </p:nvSpPr>
        <p:spPr>
          <a:xfrm>
            <a:off x="283464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9" name="TextBox 8"/>
          <p:cNvSpPr txBox="1"/>
          <p:nvPr/>
        </p:nvSpPr>
        <p:spPr>
          <a:xfrm>
            <a:off x="361188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School staff</a:t>
            </a:r>
          </a:p>
        </p:txBody>
      </p:sp>
      <p:sp>
        <p:nvSpPr>
          <p:cNvPr id="10" name="Oval 9"/>
          <p:cNvSpPr/>
          <p:nvPr/>
        </p:nvSpPr>
        <p:spPr>
          <a:xfrm>
            <a:off x="1965960" y="315468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11" name="TextBox 10"/>
          <p:cNvSpPr txBox="1"/>
          <p:nvPr/>
        </p:nvSpPr>
        <p:spPr>
          <a:xfrm>
            <a:off x="2377440" y="530352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Paraprofessionals</a:t>
            </a:r>
          </a:p>
        </p:txBody>
      </p:sp>
      <p:sp>
        <p:nvSpPr>
          <p:cNvPr id="12" name="Oval 11"/>
          <p:cNvSpPr/>
          <p:nvPr/>
        </p:nvSpPr>
        <p:spPr>
          <a:xfrm>
            <a:off x="2890311" y="3337560"/>
            <a:ext cx="1316736" cy="640080"/>
          </a:xfrm>
          <a:prstGeom prst="ellipse">
            <a:avLst/>
          </a:prstGeom>
          <a:solidFill>
            <a:srgbClr val="584099"/>
          </a:solidFill>
          <a:ln>
            <a:noFill/>
          </a:ln>
        </p:spPr>
        <p:txBody>
          <a:bodyPr rtlCol="0" anchor="ctr"/>
          <a:lstStyle/>
          <a:p>
            <a:pPr algn="ctr"/>
            <a:endParaRPr/>
          </a:p>
        </p:txBody>
      </p:sp>
      <p:sp>
        <p:nvSpPr>
          <p:cNvPr id="14" name="Rounded Rectangle 13"/>
          <p:cNvSpPr/>
          <p:nvPr/>
        </p:nvSpPr>
        <p:spPr>
          <a:xfrm>
            <a:off x="6949440" y="1920240"/>
            <a:ext cx="4556455" cy="3291840"/>
          </a:xfrm>
          <a:prstGeom prst="roundRect">
            <a:avLst>
              <a:gd name="adj" fmla="val 8000"/>
            </a:avLst>
          </a:prstGeom>
          <a:solidFill>
            <a:srgbClr val="F3F0FA"/>
          </a:solidFill>
          <a:ln>
            <a:noFill/>
          </a:ln>
        </p:spPr>
        <p:txBody>
          <a:bodyPr rtlCol="0" anchor="ctr"/>
          <a:lstStyle/>
          <a:p>
            <a:pPr algn="ctr"/>
            <a:endParaRPr/>
          </a:p>
        </p:txBody>
      </p:sp>
      <p:pic>
        <p:nvPicPr>
          <p:cNvPr id="15" name="Discussion icon" descr="Speech bubbl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9480" y="2240280"/>
            <a:ext cx="658368" cy="658368"/>
          </a:xfrm>
          <a:prstGeom prst="rect">
            <a:avLst/>
          </a:prstGeom>
        </p:spPr>
      </p:pic>
      <p:sp>
        <p:nvSpPr>
          <p:cNvPr id="16" name="TextBox 15"/>
          <p:cNvSpPr txBox="1"/>
          <p:nvPr/>
        </p:nvSpPr>
        <p:spPr>
          <a:xfrm>
            <a:off x="7269480" y="3017520"/>
            <a:ext cx="3931920" cy="201168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What is the goal of these intersecting partnerships?</a:t>
            </a:r>
          </a:p>
          <a:p>
            <a:pPr marL="0" indent="0" algn="l">
              <a:lnSpc>
                <a:spcPct val="100000"/>
              </a:lnSpc>
              <a:spcBef>
                <a:spcPts val="1200"/>
              </a:spcBef>
              <a:buNone/>
            </a:pPr>
            <a:r>
              <a:rPr lang="en-AU" sz="1600" b="0">
                <a:solidFill>
                  <a:srgbClr val="2D2440"/>
                </a:solidFill>
                <a:latin typeface="Arial"/>
                <a:ea typeface="Arial"/>
                <a:cs typeface="Arial"/>
              </a:rPr>
              <a:t>Every partner brings different knowledge and a different relationship with the student.</a:t>
            </a:r>
          </a:p>
          <a:p>
            <a:pPr marL="0" indent="0" algn="l">
              <a:lnSpc>
                <a:spcPct val="100000"/>
              </a:lnSpc>
              <a:spcBef>
                <a:spcPts val="1200"/>
              </a:spcBef>
              <a:buNone/>
            </a:pPr>
            <a:r>
              <a:rPr lang="en-AU" sz="1600" b="1">
                <a:solidFill>
                  <a:srgbClr val="584099"/>
                </a:solidFill>
                <a:latin typeface="Arial"/>
                <a:ea typeface="Arial"/>
                <a:cs typeface="Arial"/>
              </a:rPr>
              <a:t>The student is at the centre of every partnership.</a:t>
            </a:r>
          </a:p>
        </p:txBody>
      </p:sp>
      <p:sp>
        <p:nvSpPr>
          <p:cNvPr id="2" name="TextBox 1">
            <a:extLst>
              <a:ext uri="{FF2B5EF4-FFF2-40B4-BE49-F238E27FC236}">
                <a16:creationId xmlns:a16="http://schemas.microsoft.com/office/drawing/2014/main" id="{C758B936-5435-16D0-6819-E05EF9A278A0}"/>
              </a:ext>
            </a:extLst>
          </p:cNvPr>
          <p:cNvSpPr txBox="1"/>
          <p:nvPr/>
        </p:nvSpPr>
        <p:spPr>
          <a:xfrm>
            <a:off x="2743200" y="3322768"/>
            <a:ext cx="164592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700" b="0">
                <a:solidFill>
                  <a:srgbClr val="FFFFFF"/>
                </a:solidFill>
                <a:latin typeface="Arial Black"/>
                <a:ea typeface="Arial Black"/>
                <a:cs typeface="Arial Black"/>
              </a:rPr>
              <a:t>Student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0FC69C-54F3-05A7-B346-4E036CA9F2D3}"/>
              </a:ext>
            </a:extLst>
          </p:cNvPr>
          <p:cNvPicPr>
            <a:picLocks noChangeAspect="1"/>
          </p:cNvPicPr>
          <p:nvPr/>
        </p:nvPicPr>
        <p:blipFill>
          <a:blip r:embed="rId3"/>
          <a:stretch>
            <a:fillRect/>
          </a:stretch>
        </p:blipFill>
        <p:spPr>
          <a:xfrm>
            <a:off x="5078454" y="2003743"/>
            <a:ext cx="6608395" cy="3094461"/>
          </a:xfrm>
          <a:prstGeom prst="rect">
            <a:avLst/>
          </a:prstGeom>
        </p:spPr>
      </p:pic>
      <p:sp>
        <p:nvSpPr>
          <p:cNvPr id="3" name="Title 3">
            <a:extLst>
              <a:ext uri="{FF2B5EF4-FFF2-40B4-BE49-F238E27FC236}">
                <a16:creationId xmlns:a16="http://schemas.microsoft.com/office/drawing/2014/main" id="{017F69A2-4E80-48E0-BDCA-6D087D9DE7AF}"/>
              </a:ext>
            </a:extLst>
          </p:cNvPr>
          <p:cNvSpPr txBox="1">
            <a:spLocks/>
          </p:cNvSpPr>
          <p:nvPr/>
        </p:nvSpPr>
        <p:spPr>
          <a:xfrm>
            <a:off x="685800" y="457200"/>
            <a:ext cx="10789920"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95000"/>
              </a:lnSpc>
              <a:spcBef>
                <a:spcPts val="0"/>
              </a:spcBef>
              <a:buNone/>
            </a:pPr>
            <a:r>
              <a:rPr lang="en-AU" sz="3600" b="0">
                <a:solidFill>
                  <a:srgbClr val="584099"/>
                </a:solidFill>
                <a:latin typeface="Arial Black"/>
                <a:ea typeface="Arial Black"/>
                <a:cs typeface="Arial Black"/>
              </a:rPr>
              <a:t>Power dynamics</a:t>
            </a:r>
          </a:p>
        </p:txBody>
      </p:sp>
      <p:sp>
        <p:nvSpPr>
          <p:cNvPr id="5" name="TextBox 4">
            <a:extLst>
              <a:ext uri="{FF2B5EF4-FFF2-40B4-BE49-F238E27FC236}">
                <a16:creationId xmlns:a16="http://schemas.microsoft.com/office/drawing/2014/main" id="{5C3E7BD3-ACD6-4A5D-B3A7-83716831489D}"/>
              </a:ext>
            </a:extLst>
          </p:cNvPr>
          <p:cNvSpPr txBox="1"/>
          <p:nvPr/>
        </p:nvSpPr>
        <p:spPr>
          <a:xfrm>
            <a:off x="9123426" y="4227460"/>
            <a:ext cx="1887474"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School</a:t>
            </a:r>
          </a:p>
        </p:txBody>
      </p:sp>
      <p:sp>
        <p:nvSpPr>
          <p:cNvPr id="8" name="TextBox 7">
            <a:extLst>
              <a:ext uri="{FF2B5EF4-FFF2-40B4-BE49-F238E27FC236}">
                <a16:creationId xmlns:a16="http://schemas.microsoft.com/office/drawing/2014/main" id="{A39AF474-49DB-4994-9B0B-E907B650A5BE}"/>
              </a:ext>
            </a:extLst>
          </p:cNvPr>
          <p:cNvSpPr txBox="1"/>
          <p:nvPr/>
        </p:nvSpPr>
        <p:spPr>
          <a:xfrm>
            <a:off x="5424419" y="4227461"/>
            <a:ext cx="1751167"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Home</a:t>
            </a:r>
          </a:p>
        </p:txBody>
      </p:sp>
      <p:pic>
        <p:nvPicPr>
          <p:cNvPr id="7" name="Graphic 6" descr="Confused person">
            <a:extLst>
              <a:ext uri="{FF2B5EF4-FFF2-40B4-BE49-F238E27FC236}">
                <a16:creationId xmlns:a16="http://schemas.microsoft.com/office/drawing/2014/main" id="{5436BB0C-EB1E-4C4A-A071-D6F24BFC6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02768" y="2132525"/>
            <a:ext cx="1503427" cy="1418449"/>
          </a:xfrm>
          <a:prstGeom prst="rect">
            <a:avLst/>
          </a:prstGeom>
        </p:spPr>
      </p:pic>
      <p:sp>
        <p:nvSpPr>
          <p:cNvPr id="9" name="TextBox 8">
            <a:extLst>
              <a:ext uri="{FF2B5EF4-FFF2-40B4-BE49-F238E27FC236}">
                <a16:creationId xmlns:a16="http://schemas.microsoft.com/office/drawing/2014/main" id="{FB9EA08C-CE5C-4006-A049-2F14C8C74149}"/>
              </a:ext>
            </a:extLst>
          </p:cNvPr>
          <p:cNvSpPr txBox="1"/>
          <p:nvPr/>
        </p:nvSpPr>
        <p:spPr>
          <a:xfrm>
            <a:off x="7255326" y="1283934"/>
            <a:ext cx="1998309"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Student</a:t>
            </a:r>
          </a:p>
        </p:txBody>
      </p:sp>
      <p:sp>
        <p:nvSpPr>
          <p:cNvPr id="11" name="TextBox 10"/>
          <p:cNvSpPr txBox="1"/>
          <p:nvPr/>
        </p:nvSpPr>
        <p:spPr>
          <a:xfrm>
            <a:off x="685800" y="1325880"/>
            <a:ext cx="420624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Power can sit in:</a:t>
            </a:r>
          </a:p>
        </p:txBody>
      </p:sp>
      <p:sp>
        <p:nvSpPr>
          <p:cNvPr id="12" name="Rounded Rectangle 11"/>
          <p:cNvSpPr/>
          <p:nvPr/>
        </p:nvSpPr>
        <p:spPr>
          <a:xfrm>
            <a:off x="685800" y="1874520"/>
            <a:ext cx="4206240" cy="713232"/>
          </a:xfrm>
          <a:prstGeom prst="roundRect">
            <a:avLst>
              <a:gd name="adj" fmla="val 20000"/>
            </a:avLst>
          </a:prstGeom>
          <a:solidFill>
            <a:srgbClr val="F3F0FA"/>
          </a:solidFill>
          <a:ln>
            <a:noFill/>
          </a:ln>
        </p:spPr>
        <p:txBody>
          <a:bodyPr rtlCol="0" anchor="ctr"/>
          <a:lstStyle/>
          <a:p>
            <a:pPr algn="ctr"/>
            <a:endParaRPr/>
          </a:p>
        </p:txBody>
      </p:sp>
      <p:sp>
        <p:nvSpPr>
          <p:cNvPr id="13" name="TextBox 12"/>
          <p:cNvSpPr txBox="1"/>
          <p:nvPr/>
        </p:nvSpPr>
        <p:spPr>
          <a:xfrm>
            <a:off x="960120" y="187452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Socio-economic status</a:t>
            </a:r>
          </a:p>
        </p:txBody>
      </p:sp>
      <p:sp>
        <p:nvSpPr>
          <p:cNvPr id="14" name="Rounded Rectangle 13"/>
          <p:cNvSpPr/>
          <p:nvPr/>
        </p:nvSpPr>
        <p:spPr>
          <a:xfrm>
            <a:off x="685800" y="2697480"/>
            <a:ext cx="4206240" cy="713232"/>
          </a:xfrm>
          <a:prstGeom prst="roundRect">
            <a:avLst>
              <a:gd name="adj" fmla="val 20000"/>
            </a:avLst>
          </a:prstGeom>
          <a:solidFill>
            <a:srgbClr val="F3F0FA"/>
          </a:solidFill>
          <a:ln>
            <a:noFill/>
          </a:ln>
        </p:spPr>
        <p:txBody>
          <a:bodyPr rtlCol="0" anchor="ctr"/>
          <a:lstStyle/>
          <a:p>
            <a:pPr algn="ctr"/>
            <a:endParaRPr/>
          </a:p>
        </p:txBody>
      </p:sp>
      <p:sp>
        <p:nvSpPr>
          <p:cNvPr id="15" name="TextBox 14"/>
          <p:cNvSpPr txBox="1"/>
          <p:nvPr/>
        </p:nvSpPr>
        <p:spPr>
          <a:xfrm>
            <a:off x="960120" y="269748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Historical / cultural experiences of education</a:t>
            </a:r>
          </a:p>
        </p:txBody>
      </p:sp>
      <p:sp>
        <p:nvSpPr>
          <p:cNvPr id="16" name="Rounded Rectangle 15"/>
          <p:cNvSpPr/>
          <p:nvPr/>
        </p:nvSpPr>
        <p:spPr>
          <a:xfrm>
            <a:off x="685800" y="3520440"/>
            <a:ext cx="4206240" cy="713232"/>
          </a:xfrm>
          <a:prstGeom prst="roundRect">
            <a:avLst>
              <a:gd name="adj" fmla="val 20000"/>
            </a:avLst>
          </a:prstGeom>
          <a:solidFill>
            <a:srgbClr val="F3F0FA"/>
          </a:solidFill>
          <a:ln>
            <a:noFill/>
          </a:ln>
        </p:spPr>
        <p:txBody>
          <a:bodyPr rtlCol="0" anchor="ctr"/>
          <a:lstStyle/>
          <a:p>
            <a:pPr algn="ctr"/>
            <a:endParaRPr/>
          </a:p>
        </p:txBody>
      </p:sp>
      <p:sp>
        <p:nvSpPr>
          <p:cNvPr id="17" name="TextBox 16"/>
          <p:cNvSpPr txBox="1"/>
          <p:nvPr/>
        </p:nvSpPr>
        <p:spPr>
          <a:xfrm>
            <a:off x="960120" y="352044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Speaking English vs speaking a language other than English</a:t>
            </a:r>
          </a:p>
        </p:txBody>
      </p:sp>
      <p:sp>
        <p:nvSpPr>
          <p:cNvPr id="18" name="Rounded Rectangle 17"/>
          <p:cNvSpPr/>
          <p:nvPr/>
        </p:nvSpPr>
        <p:spPr>
          <a:xfrm>
            <a:off x="685800" y="4343400"/>
            <a:ext cx="4206240" cy="713232"/>
          </a:xfrm>
          <a:prstGeom prst="roundRect">
            <a:avLst>
              <a:gd name="adj" fmla="val 20000"/>
            </a:avLst>
          </a:prstGeom>
          <a:solidFill>
            <a:srgbClr val="F3F0FA"/>
          </a:solidFill>
          <a:ln>
            <a:noFill/>
          </a:ln>
        </p:spPr>
        <p:txBody>
          <a:bodyPr rtlCol="0" anchor="ctr"/>
          <a:lstStyle/>
          <a:p>
            <a:pPr algn="ctr"/>
            <a:endParaRPr/>
          </a:p>
        </p:txBody>
      </p:sp>
      <p:sp>
        <p:nvSpPr>
          <p:cNvPr id="19" name="TextBox 18"/>
          <p:cNvSpPr txBox="1"/>
          <p:nvPr/>
        </p:nvSpPr>
        <p:spPr>
          <a:xfrm>
            <a:off x="960120" y="434340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Pedagogy / understanding of school systems and curriculum</a:t>
            </a:r>
          </a:p>
        </p:txBody>
      </p:sp>
      <p:sp>
        <p:nvSpPr>
          <p:cNvPr id="20" name="Rounded Rectangle 19"/>
          <p:cNvSpPr/>
          <p:nvPr/>
        </p:nvSpPr>
        <p:spPr>
          <a:xfrm>
            <a:off x="685800" y="5166360"/>
            <a:ext cx="4206240" cy="713232"/>
          </a:xfrm>
          <a:prstGeom prst="roundRect">
            <a:avLst>
              <a:gd name="adj" fmla="val 20000"/>
            </a:avLst>
          </a:prstGeom>
          <a:solidFill>
            <a:srgbClr val="F3F0FA"/>
          </a:solidFill>
          <a:ln>
            <a:noFill/>
          </a:ln>
        </p:spPr>
        <p:txBody>
          <a:bodyPr rtlCol="0" anchor="ctr"/>
          <a:lstStyle/>
          <a:p>
            <a:pPr algn="ctr"/>
            <a:endParaRPr/>
          </a:p>
        </p:txBody>
      </p:sp>
      <p:sp>
        <p:nvSpPr>
          <p:cNvPr id="21" name="TextBox 20"/>
          <p:cNvSpPr txBox="1"/>
          <p:nvPr/>
        </p:nvSpPr>
        <p:spPr>
          <a:xfrm>
            <a:off x="960120" y="516636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Perception of the importance / experience of school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2"/>
                                        </p:tgtEl>
                                        <p:attrNameLst>
                                          <p:attrName>r</p:attrName>
                                        </p:attrNameLst>
                                      </p:cBhvr>
                                    </p:animRot>
                                    <p:animRot by="-240000">
                                      <p:cBhvr>
                                        <p:cTn id="7" dur="400" fill="hold">
                                          <p:stCondLst>
                                            <p:cond delay="400"/>
                                          </p:stCondLst>
                                        </p:cTn>
                                        <p:tgtEl>
                                          <p:spTgt spid="2"/>
                                        </p:tgtEl>
                                        <p:attrNameLst>
                                          <p:attrName>r</p:attrName>
                                        </p:attrNameLst>
                                      </p:cBhvr>
                                    </p:animRot>
                                    <p:animRot by="240000">
                                      <p:cBhvr>
                                        <p:cTn id="8" dur="400" fill="hold">
                                          <p:stCondLst>
                                            <p:cond delay="800"/>
                                          </p:stCondLst>
                                        </p:cTn>
                                        <p:tgtEl>
                                          <p:spTgt spid="2"/>
                                        </p:tgtEl>
                                        <p:attrNameLst>
                                          <p:attrName>r</p:attrName>
                                        </p:attrNameLst>
                                      </p:cBhvr>
                                    </p:animRot>
                                    <p:animRot by="-240000">
                                      <p:cBhvr>
                                        <p:cTn id="9" dur="400" fill="hold">
                                          <p:stCondLst>
                                            <p:cond delay="1200"/>
                                          </p:stCondLst>
                                        </p:cTn>
                                        <p:tgtEl>
                                          <p:spTgt spid="2"/>
                                        </p:tgtEl>
                                        <p:attrNameLst>
                                          <p:attrName>r</p:attrName>
                                        </p:attrNameLst>
                                      </p:cBhvr>
                                    </p:animRot>
                                    <p:animRot by="120000">
                                      <p:cBhvr>
                                        <p:cTn id="1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Power dynamics activity</a:t>
            </a:r>
          </a:p>
        </p:txBody>
      </p:sp>
      <p:sp>
        <p:nvSpPr>
          <p:cNvPr id="5" name="TextBox 4"/>
          <p:cNvSpPr txBox="1"/>
          <p:nvPr/>
        </p:nvSpPr>
        <p:spPr>
          <a:xfrm>
            <a:off x="685800" y="132588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FFFFFF"/>
                </a:solidFill>
                <a:latin typeface="Arial"/>
                <a:ea typeface="Arial"/>
                <a:cs typeface="Arial"/>
              </a:rPr>
              <a:t>In the chat or on the whiteboard:</a:t>
            </a:r>
          </a:p>
        </p:txBody>
      </p:sp>
      <p:sp>
        <p:nvSpPr>
          <p:cNvPr id="6" name="Oval 5"/>
          <p:cNvSpPr/>
          <p:nvPr/>
        </p:nvSpPr>
        <p:spPr>
          <a:xfrm>
            <a:off x="685800" y="210312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7" name="TextBox 6"/>
          <p:cNvSpPr txBox="1"/>
          <p:nvPr/>
        </p:nvSpPr>
        <p:spPr>
          <a:xfrm>
            <a:off x="685800" y="21031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1</a:t>
            </a:r>
          </a:p>
        </p:txBody>
      </p:sp>
      <p:sp>
        <p:nvSpPr>
          <p:cNvPr id="8" name="TextBox 7"/>
          <p:cNvSpPr txBox="1"/>
          <p:nvPr/>
        </p:nvSpPr>
        <p:spPr>
          <a:xfrm>
            <a:off x="1325880" y="199339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home perspective.</a:t>
            </a:r>
          </a:p>
        </p:txBody>
      </p:sp>
      <p:sp>
        <p:nvSpPr>
          <p:cNvPr id="9" name="Oval 8"/>
          <p:cNvSpPr/>
          <p:nvPr/>
        </p:nvSpPr>
        <p:spPr>
          <a:xfrm>
            <a:off x="685800" y="297180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0" name="TextBox 9"/>
          <p:cNvSpPr txBox="1"/>
          <p:nvPr/>
        </p:nvSpPr>
        <p:spPr>
          <a:xfrm>
            <a:off x="685800" y="29718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2</a:t>
            </a:r>
          </a:p>
        </p:txBody>
      </p:sp>
      <p:sp>
        <p:nvSpPr>
          <p:cNvPr id="11" name="TextBox 10"/>
          <p:cNvSpPr txBox="1"/>
          <p:nvPr/>
        </p:nvSpPr>
        <p:spPr>
          <a:xfrm>
            <a:off x="1325880" y="286207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school perspective.</a:t>
            </a:r>
          </a:p>
        </p:txBody>
      </p:sp>
      <p:sp>
        <p:nvSpPr>
          <p:cNvPr id="12" name="Oval 11"/>
          <p:cNvSpPr/>
          <p:nvPr/>
        </p:nvSpPr>
        <p:spPr>
          <a:xfrm>
            <a:off x="685800" y="384048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3" name="TextBox 12"/>
          <p:cNvSpPr txBox="1"/>
          <p:nvPr/>
        </p:nvSpPr>
        <p:spPr>
          <a:xfrm>
            <a:off x="685800" y="38404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3</a:t>
            </a:r>
          </a:p>
        </p:txBody>
      </p:sp>
      <p:sp>
        <p:nvSpPr>
          <p:cNvPr id="14" name="TextBox 13"/>
          <p:cNvSpPr txBox="1"/>
          <p:nvPr/>
        </p:nvSpPr>
        <p:spPr>
          <a:xfrm>
            <a:off x="1325880" y="373075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how you could address these imbalances.</a:t>
            </a:r>
          </a:p>
        </p:txBody>
      </p:sp>
      <p:sp>
        <p:nvSpPr>
          <p:cNvPr id="15" name="TextBox 14"/>
          <p:cNvSpPr txBox="1"/>
          <p:nvPr/>
        </p:nvSpPr>
        <p:spPr>
          <a:xfrm>
            <a:off x="685800" y="480060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1700" b="0">
                <a:solidFill>
                  <a:srgbClr val="E6E0F5"/>
                </a:solidFill>
                <a:latin typeface="Arial"/>
                <a:ea typeface="Arial"/>
                <a:cs typeface="Arial"/>
              </a:rPr>
              <a:t>Add your notes to the shared whiteboard under Home, School and Solutions.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 name="Oval 12"/>
          <p:cNvSpPr/>
          <p:nvPr/>
        </p:nvSpPr>
        <p:spPr>
          <a:xfrm>
            <a:off x="9052560" y="3931920"/>
            <a:ext cx="5486400" cy="5486400"/>
          </a:xfrm>
          <a:prstGeom prst="ellipse">
            <a:avLst/>
          </a:prstGeom>
          <a:solidFill>
            <a:srgbClr val="EDE8F8"/>
          </a:solidFill>
          <a:ln>
            <a:noFill/>
          </a:ln>
        </p:spPr>
        <p:txBody>
          <a:bodyPr rtlCol="0" anchor="ctr"/>
          <a:lstStyle/>
          <a:p>
            <a:pPr algn="ctr"/>
            <a:endParaRPr/>
          </a:p>
        </p:txBody>
      </p:sp>
      <p:pic>
        <p:nvPicPr>
          <p:cNvPr id="11" name="Graphic 19">
            <a:extLst>
              <a:ext uri="{FF2B5EF4-FFF2-40B4-BE49-F238E27FC236}">
                <a16:creationId xmlns:a16="http://schemas.microsoft.com/office/drawing/2014/main" id="{5AADB8DD-F243-4F8D-BC60-11443AF4F579}"/>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85800" y="1551622"/>
            <a:ext cx="914400" cy="914400"/>
          </a:xfrm>
          <a:prstGeom prst="rect">
            <a:avLst/>
          </a:prstGeom>
        </p:spPr>
      </p:pic>
      <p:pic>
        <p:nvPicPr>
          <p:cNvPr id="9" name="Diversity_Self_care_slide_26">
            <a:hlinkClick r:id="" action="ppaction://media"/>
            <a:extLst>
              <a:ext uri="{FF2B5EF4-FFF2-40B4-BE49-F238E27FC236}">
                <a16:creationId xmlns:a16="http://schemas.microsoft.com/office/drawing/2014/main" id="{2528EEDD-2764-4D95-BAB4-AC44ACE96B2B}"/>
              </a:ext>
            </a:extLst>
          </p:cNvPr>
          <p:cNvPicPr>
            <a:picLocks noChangeAspect="1"/>
          </p:cNvPicPr>
          <p:nvPr>
            <a:videoFile r:link="rId4"/>
            <p:extLst>
              <p:ext uri="{DAA4B4D4-6D71-4841-9C94-3DE7FCFB9230}">
                <p14:media xmlns:p14="http://schemas.microsoft.com/office/powerpoint/2010/main" r:embed="rId3"/>
              </p:ext>
            </p:extLst>
          </p:nvPr>
        </p:nvPicPr>
        <p:blipFill>
          <a:blip r:embed="rId6"/>
          <a:stretch>
            <a:fillRect/>
          </a:stretch>
        </p:blipFill>
        <p:spPr>
          <a:xfrm>
            <a:off x="4830775" y="1551622"/>
            <a:ext cx="6675120" cy="3754755"/>
          </a:xfrm>
          <a:prstGeom prst="roundRect">
            <a:avLst>
              <a:gd name="adj" fmla="val 5000"/>
            </a:avLst>
          </a:prstGeom>
        </p:spPr>
      </p:pic>
      <p:sp>
        <p:nvSpPr>
          <p:cNvPr id="14" name="Title"/>
          <p:cNvSpPr txBox="1"/>
          <p:nvPr/>
        </p:nvSpPr>
        <p:spPr>
          <a:xfrm>
            <a:off x="685800" y="2740342"/>
            <a:ext cx="3687775" cy="1463040"/>
          </a:xfrm>
          <a:prstGeom prst="rect">
            <a:avLst/>
          </a:prstGeom>
          <a:noFill/>
        </p:spPr>
        <p:txBody>
          <a:bodyPr wrap="square" lIns="0" tIns="0" rIns="0" bIns="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Student voice</a:t>
            </a:r>
          </a:p>
        </p:txBody>
      </p:sp>
      <p:sp>
        <p:nvSpPr>
          <p:cNvPr id="15" name="Rounded Rectangle 14"/>
          <p:cNvSpPr/>
          <p:nvPr/>
        </p:nvSpPr>
        <p:spPr>
          <a:xfrm>
            <a:off x="685800" y="4218242"/>
            <a:ext cx="3687775" cy="1088136"/>
          </a:xfrm>
          <a:prstGeom prst="roundRect">
            <a:avLst>
              <a:gd name="adj" fmla="val 10000"/>
            </a:avLst>
          </a:prstGeom>
          <a:solidFill>
            <a:srgbClr val="F3F0FA"/>
          </a:solidFill>
          <a:ln>
            <a:noFill/>
          </a:ln>
        </p:spPr>
        <p:txBody>
          <a:bodyPr rtlCol="0" anchor="ctr"/>
          <a:lstStyle/>
          <a:p>
            <a:pPr algn="ctr"/>
            <a:endParaRPr/>
          </a:p>
        </p:txBody>
      </p:sp>
      <p:sp>
        <p:nvSpPr>
          <p:cNvPr id="16" name="TextBox 15"/>
          <p:cNvSpPr txBox="1"/>
          <p:nvPr/>
        </p:nvSpPr>
        <p:spPr>
          <a:xfrm>
            <a:off x="914400" y="4218242"/>
            <a:ext cx="3230575" cy="1088136"/>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What decisions were made, and who made them?</a:t>
            </a:r>
          </a:p>
          <a:p>
            <a:pPr marL="0" indent="0" algn="l">
              <a:lnSpc>
                <a:spcPct val="100000"/>
              </a:lnSpc>
              <a:spcBef>
                <a:spcPts val="400"/>
              </a:spcBef>
              <a:buNone/>
            </a:pPr>
            <a:r>
              <a:rPr lang="en-AU" sz="1600" b="1">
                <a:solidFill>
                  <a:srgbClr val="3D2A6B"/>
                </a:solidFill>
                <a:latin typeface="Arial"/>
                <a:ea typeface="Arial"/>
                <a:cs typeface="Arial"/>
              </a:rPr>
              <a:t>What impact did those decisions have on Adon?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Consultation literacy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Useful consultation includes:</a:t>
            </a:r>
          </a:p>
        </p:txBody>
      </p:sp>
      <p:sp>
        <p:nvSpPr>
          <p:cNvPr id="4" name="Rounded Rectangle 3"/>
          <p:cNvSpPr/>
          <p:nvPr/>
        </p:nvSpPr>
        <p:spPr>
          <a:xfrm>
            <a:off x="685800"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 clear, shared purpose</a:t>
            </a:r>
          </a:p>
        </p:txBody>
      </p:sp>
      <p:sp>
        <p:nvSpPr>
          <p:cNvPr id="6" name="Rounded Rectangle 5"/>
          <p:cNvSpPr/>
          <p:nvPr/>
        </p:nvSpPr>
        <p:spPr>
          <a:xfrm>
            <a:off x="4368698"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Open questions</a:t>
            </a:r>
          </a:p>
        </p:txBody>
      </p:sp>
      <p:sp>
        <p:nvSpPr>
          <p:cNvPr id="8" name="Rounded Rectangle 7"/>
          <p:cNvSpPr/>
          <p:nvPr/>
        </p:nvSpPr>
        <p:spPr>
          <a:xfrm>
            <a:off x="8051597"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More than one way to contribute</a:t>
            </a:r>
          </a:p>
        </p:txBody>
      </p:sp>
      <p:sp>
        <p:nvSpPr>
          <p:cNvPr id="10" name="Rounded Rectangle 9"/>
          <p:cNvSpPr/>
          <p:nvPr/>
        </p:nvSpPr>
        <p:spPr>
          <a:xfrm>
            <a:off x="685800"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Respect for student and family knowledge</a:t>
            </a:r>
          </a:p>
        </p:txBody>
      </p:sp>
      <p:sp>
        <p:nvSpPr>
          <p:cNvPr id="12" name="Rounded Rectangle 11"/>
          <p:cNvSpPr/>
          <p:nvPr/>
        </p:nvSpPr>
        <p:spPr>
          <a:xfrm>
            <a:off x="4368698"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Accurate recording of what was heard</a:t>
            </a:r>
          </a:p>
        </p:txBody>
      </p:sp>
      <p:sp>
        <p:nvSpPr>
          <p:cNvPr id="14" name="Rounded Rectangle 13"/>
          <p:cNvSpPr/>
          <p:nvPr/>
        </p:nvSpPr>
        <p:spPr>
          <a:xfrm>
            <a:off x="8051597"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An agreed action, responsibility and follow-up</a:t>
            </a:r>
          </a:p>
        </p:txBody>
      </p:sp>
      <p:sp>
        <p:nvSpPr>
          <p:cNvPr id="16" name="Rounded Rectangle 15"/>
          <p:cNvSpPr/>
          <p:nvPr/>
        </p:nvSpPr>
        <p:spPr>
          <a:xfrm>
            <a:off x="685800" y="50749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7" name="TextBox 16"/>
          <p:cNvSpPr txBox="1"/>
          <p:nvPr/>
        </p:nvSpPr>
        <p:spPr>
          <a:xfrm>
            <a:off x="960120" y="50749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Ask, listen, and follow 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Consulting students and families</a:t>
            </a:r>
          </a:p>
        </p:txBody>
      </p:sp>
      <p:sp>
        <p:nvSpPr>
          <p:cNvPr id="3" name="Rounded Rectangle 2"/>
          <p:cNvSpPr/>
          <p:nvPr/>
        </p:nvSpPr>
        <p:spPr>
          <a:xfrm>
            <a:off x="685800"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4" name="TextBox 3"/>
          <p:cNvSpPr txBox="1"/>
          <p:nvPr/>
        </p:nvSpPr>
        <p:spPr>
          <a:xfrm>
            <a:off x="960120"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students</a:t>
            </a:r>
          </a:p>
        </p:txBody>
      </p:sp>
      <p:sp>
        <p:nvSpPr>
          <p:cNvPr id="5" name="Rounded Rectangle 4"/>
          <p:cNvSpPr/>
          <p:nvPr/>
        </p:nvSpPr>
        <p:spPr>
          <a:xfrm>
            <a:off x="685800" y="2057400"/>
            <a:ext cx="2545004" cy="841248"/>
          </a:xfrm>
          <a:prstGeom prst="roundRect">
            <a:avLst>
              <a:gd name="adj" fmla="val 20000"/>
            </a:avLst>
          </a:prstGeom>
          <a:solidFill>
            <a:srgbClr val="F3F0FA"/>
          </a:solidFill>
          <a:ln>
            <a:noFill/>
          </a:ln>
        </p:spPr>
        <p:txBody>
          <a:bodyPr rtlCol="0" anchor="ctr"/>
          <a:lstStyle/>
          <a:p>
            <a:pPr algn="ctr"/>
            <a:endParaRPr/>
          </a:p>
        </p:txBody>
      </p:sp>
      <p:sp>
        <p:nvSpPr>
          <p:cNvPr id="6" name="TextBox 5"/>
          <p:cNvSpPr txBox="1"/>
          <p:nvPr/>
        </p:nvSpPr>
        <p:spPr>
          <a:xfrm>
            <a:off x="777240" y="2057400"/>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Offer communication choices</a:t>
            </a:r>
          </a:p>
        </p:txBody>
      </p:sp>
      <p:sp>
        <p:nvSpPr>
          <p:cNvPr id="7" name="Rounded Rectangle 6"/>
          <p:cNvSpPr/>
          <p:nvPr/>
        </p:nvSpPr>
        <p:spPr>
          <a:xfrm>
            <a:off x="3367964" y="2057400"/>
            <a:ext cx="2545004" cy="841248"/>
          </a:xfrm>
          <a:prstGeom prst="roundRect">
            <a:avLst>
              <a:gd name="adj" fmla="val 20000"/>
            </a:avLst>
          </a:prstGeom>
          <a:solidFill>
            <a:srgbClr val="F3F0FA"/>
          </a:solidFill>
          <a:ln>
            <a:noFill/>
          </a:ln>
        </p:spPr>
        <p:txBody>
          <a:bodyPr rtlCol="0" anchor="ctr"/>
          <a:lstStyle/>
          <a:p>
            <a:pPr algn="ctr"/>
            <a:endParaRPr/>
          </a:p>
        </p:txBody>
      </p:sp>
      <p:sp>
        <p:nvSpPr>
          <p:cNvPr id="8" name="TextBox 7"/>
          <p:cNvSpPr txBox="1"/>
          <p:nvPr/>
        </p:nvSpPr>
        <p:spPr>
          <a:xfrm>
            <a:off x="3459404" y="2057400"/>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Meeting preparation</a:t>
            </a:r>
          </a:p>
        </p:txBody>
      </p:sp>
      <p:sp>
        <p:nvSpPr>
          <p:cNvPr id="9" name="Rounded Rectangle 8"/>
          <p:cNvSpPr/>
          <p:nvPr/>
        </p:nvSpPr>
        <p:spPr>
          <a:xfrm>
            <a:off x="685800" y="2962656"/>
            <a:ext cx="2545004" cy="841248"/>
          </a:xfrm>
          <a:prstGeom prst="roundRect">
            <a:avLst>
              <a:gd name="adj" fmla="val 20000"/>
            </a:avLst>
          </a:prstGeom>
          <a:solidFill>
            <a:srgbClr val="F3F0FA"/>
          </a:solidFill>
          <a:ln>
            <a:noFill/>
          </a:ln>
        </p:spPr>
        <p:txBody>
          <a:bodyPr rtlCol="0" anchor="ctr"/>
          <a:lstStyle/>
          <a:p>
            <a:pPr algn="ctr"/>
            <a:endParaRPr/>
          </a:p>
        </p:txBody>
      </p:sp>
      <p:sp>
        <p:nvSpPr>
          <p:cNvPr id="10" name="TextBox 9"/>
          <p:cNvSpPr txBox="1"/>
          <p:nvPr/>
        </p:nvSpPr>
        <p:spPr>
          <a:xfrm>
            <a:off x="777240" y="2962656"/>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Simple choices</a:t>
            </a:r>
          </a:p>
        </p:txBody>
      </p:sp>
      <p:sp>
        <p:nvSpPr>
          <p:cNvPr id="11" name="Rounded Rectangle 10"/>
          <p:cNvSpPr/>
          <p:nvPr/>
        </p:nvSpPr>
        <p:spPr>
          <a:xfrm>
            <a:off x="3367964" y="2962656"/>
            <a:ext cx="2545004" cy="841248"/>
          </a:xfrm>
          <a:prstGeom prst="roundRect">
            <a:avLst>
              <a:gd name="adj" fmla="val 20000"/>
            </a:avLst>
          </a:prstGeom>
          <a:solidFill>
            <a:srgbClr val="F3F0FA"/>
          </a:solidFill>
          <a:ln>
            <a:noFill/>
          </a:ln>
        </p:spPr>
        <p:txBody>
          <a:bodyPr rtlCol="0" anchor="ctr"/>
          <a:lstStyle/>
          <a:p>
            <a:pPr algn="ctr"/>
            <a:endParaRPr/>
          </a:p>
        </p:txBody>
      </p:sp>
      <p:sp>
        <p:nvSpPr>
          <p:cNvPr id="12" name="TextBox 11"/>
          <p:cNvSpPr txBox="1"/>
          <p:nvPr/>
        </p:nvSpPr>
        <p:spPr>
          <a:xfrm>
            <a:off x="3459404" y="2962656"/>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Processing time</a:t>
            </a:r>
          </a:p>
        </p:txBody>
      </p:sp>
      <p:sp>
        <p:nvSpPr>
          <p:cNvPr id="13" name="Rounded Rectangle 12"/>
          <p:cNvSpPr/>
          <p:nvPr/>
        </p:nvSpPr>
        <p:spPr>
          <a:xfrm>
            <a:off x="685800" y="3867912"/>
            <a:ext cx="2545004" cy="841248"/>
          </a:xfrm>
          <a:prstGeom prst="roundRect">
            <a:avLst>
              <a:gd name="adj" fmla="val 20000"/>
            </a:avLst>
          </a:prstGeom>
          <a:solidFill>
            <a:srgbClr val="F3F0FA"/>
          </a:solidFill>
          <a:ln>
            <a:noFill/>
          </a:ln>
        </p:spPr>
        <p:txBody>
          <a:bodyPr rtlCol="0" anchor="ctr"/>
          <a:lstStyle/>
          <a:p>
            <a:pPr algn="ctr"/>
            <a:endParaRPr/>
          </a:p>
        </p:txBody>
      </p:sp>
      <p:sp>
        <p:nvSpPr>
          <p:cNvPr id="14" name="TextBox 13"/>
          <p:cNvSpPr txBox="1"/>
          <p:nvPr/>
        </p:nvSpPr>
        <p:spPr>
          <a:xfrm>
            <a:off x="777240" y="3867912"/>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Sensory-friendly spaces</a:t>
            </a:r>
          </a:p>
        </p:txBody>
      </p:sp>
      <p:sp>
        <p:nvSpPr>
          <p:cNvPr id="15" name="Rounded Rectangle 14"/>
          <p:cNvSpPr/>
          <p:nvPr/>
        </p:nvSpPr>
        <p:spPr>
          <a:xfrm>
            <a:off x="3367964" y="3867912"/>
            <a:ext cx="2545004" cy="841248"/>
          </a:xfrm>
          <a:prstGeom prst="roundRect">
            <a:avLst>
              <a:gd name="adj" fmla="val 20000"/>
            </a:avLst>
          </a:prstGeom>
          <a:solidFill>
            <a:srgbClr val="F3F0FA"/>
          </a:solidFill>
          <a:ln>
            <a:noFill/>
          </a:ln>
        </p:spPr>
        <p:txBody>
          <a:bodyPr rtlCol="0" anchor="ctr"/>
          <a:lstStyle/>
          <a:p>
            <a:pPr algn="ctr"/>
            <a:endParaRPr/>
          </a:p>
        </p:txBody>
      </p:sp>
      <p:sp>
        <p:nvSpPr>
          <p:cNvPr id="16" name="TextBox 15"/>
          <p:cNvSpPr txBox="1"/>
          <p:nvPr/>
        </p:nvSpPr>
        <p:spPr>
          <a:xfrm>
            <a:off x="3459404" y="3867912"/>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Behaviour as communication</a:t>
            </a:r>
          </a:p>
        </p:txBody>
      </p:sp>
      <p:sp>
        <p:nvSpPr>
          <p:cNvPr id="17" name="Rounded Rectangle 16"/>
          <p:cNvSpPr/>
          <p:nvPr/>
        </p:nvSpPr>
        <p:spPr>
          <a:xfrm>
            <a:off x="685800" y="4773168"/>
            <a:ext cx="2545004" cy="841248"/>
          </a:xfrm>
          <a:prstGeom prst="roundRect">
            <a:avLst>
              <a:gd name="adj" fmla="val 20000"/>
            </a:avLst>
          </a:prstGeom>
          <a:solidFill>
            <a:srgbClr val="F3F0FA"/>
          </a:solidFill>
          <a:ln>
            <a:noFill/>
          </a:ln>
        </p:spPr>
        <p:txBody>
          <a:bodyPr rtlCol="0" anchor="ctr"/>
          <a:lstStyle/>
          <a:p>
            <a:pPr algn="ctr"/>
            <a:endParaRPr/>
          </a:p>
        </p:txBody>
      </p:sp>
      <p:sp>
        <p:nvSpPr>
          <p:cNvPr id="18" name="TextBox 17"/>
          <p:cNvSpPr txBox="1"/>
          <p:nvPr/>
        </p:nvSpPr>
        <p:spPr>
          <a:xfrm>
            <a:off x="777240" y="4773168"/>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Strengths and interests</a:t>
            </a:r>
          </a:p>
        </p:txBody>
      </p:sp>
      <p:sp>
        <p:nvSpPr>
          <p:cNvPr id="19" name="Rounded Rectangle 18"/>
          <p:cNvSpPr/>
          <p:nvPr/>
        </p:nvSpPr>
        <p:spPr>
          <a:xfrm>
            <a:off x="3367964" y="4773168"/>
            <a:ext cx="2545004" cy="841248"/>
          </a:xfrm>
          <a:prstGeom prst="roundRect">
            <a:avLst>
              <a:gd name="adj" fmla="val 20000"/>
            </a:avLst>
          </a:prstGeom>
          <a:solidFill>
            <a:srgbClr val="F3F0FA"/>
          </a:solidFill>
          <a:ln>
            <a:noFill/>
          </a:ln>
        </p:spPr>
        <p:txBody>
          <a:bodyPr rtlCol="0" anchor="ctr"/>
          <a:lstStyle/>
          <a:p>
            <a:pPr algn="ctr"/>
            <a:endParaRPr/>
          </a:p>
        </p:txBody>
      </p:sp>
      <p:sp>
        <p:nvSpPr>
          <p:cNvPr id="20" name="TextBox 19"/>
          <p:cNvSpPr txBox="1"/>
          <p:nvPr/>
        </p:nvSpPr>
        <p:spPr>
          <a:xfrm>
            <a:off x="3459404" y="4773168"/>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Support - don’t speak for</a:t>
            </a:r>
          </a:p>
        </p:txBody>
      </p:sp>
      <p:sp>
        <p:nvSpPr>
          <p:cNvPr id="21" name="Rounded Rectangle 20"/>
          <p:cNvSpPr/>
          <p:nvPr/>
        </p:nvSpPr>
        <p:spPr>
          <a:xfrm>
            <a:off x="685800" y="5678424"/>
            <a:ext cx="2545004" cy="841248"/>
          </a:xfrm>
          <a:prstGeom prst="roundRect">
            <a:avLst>
              <a:gd name="adj" fmla="val 20000"/>
            </a:avLst>
          </a:prstGeom>
          <a:solidFill>
            <a:srgbClr val="F3F0FA"/>
          </a:solidFill>
          <a:ln>
            <a:noFill/>
          </a:ln>
        </p:spPr>
        <p:txBody>
          <a:bodyPr rtlCol="0" anchor="ctr"/>
          <a:lstStyle/>
          <a:p>
            <a:pPr algn="ctr"/>
            <a:endParaRPr/>
          </a:p>
        </p:txBody>
      </p:sp>
      <p:sp>
        <p:nvSpPr>
          <p:cNvPr id="22" name="TextBox 21"/>
          <p:cNvSpPr txBox="1"/>
          <p:nvPr/>
        </p:nvSpPr>
        <p:spPr>
          <a:xfrm>
            <a:off x="777240" y="5678424"/>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Clear, accessible questions</a:t>
            </a:r>
          </a:p>
        </p:txBody>
      </p:sp>
      <p:sp>
        <p:nvSpPr>
          <p:cNvPr id="23" name="Rounded Rectangle 22"/>
          <p:cNvSpPr/>
          <p:nvPr/>
        </p:nvSpPr>
        <p:spPr>
          <a:xfrm>
            <a:off x="6278728"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24" name="TextBox 23"/>
          <p:cNvSpPr txBox="1"/>
          <p:nvPr/>
        </p:nvSpPr>
        <p:spPr>
          <a:xfrm>
            <a:off x="6553048"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families</a:t>
            </a:r>
          </a:p>
        </p:txBody>
      </p:sp>
      <p:sp>
        <p:nvSpPr>
          <p:cNvPr id="25" name="Rounded Rectangle 24"/>
          <p:cNvSpPr/>
          <p:nvPr/>
        </p:nvSpPr>
        <p:spPr>
          <a:xfrm>
            <a:off x="6278728" y="2057400"/>
            <a:ext cx="2545004" cy="841248"/>
          </a:xfrm>
          <a:prstGeom prst="roundRect">
            <a:avLst>
              <a:gd name="adj" fmla="val 20000"/>
            </a:avLst>
          </a:prstGeom>
          <a:solidFill>
            <a:srgbClr val="F3F0FA"/>
          </a:solidFill>
          <a:ln>
            <a:noFill/>
          </a:ln>
        </p:spPr>
        <p:txBody>
          <a:bodyPr rtlCol="0" anchor="ctr"/>
          <a:lstStyle/>
          <a:p>
            <a:pPr algn="ctr"/>
            <a:endParaRPr/>
          </a:p>
        </p:txBody>
      </p:sp>
      <p:sp>
        <p:nvSpPr>
          <p:cNvPr id="26" name="TextBox 25"/>
          <p:cNvSpPr txBox="1"/>
          <p:nvPr/>
        </p:nvSpPr>
        <p:spPr>
          <a:xfrm>
            <a:off x="6370168" y="2057400"/>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Start with students’ strengths and interests</a:t>
            </a:r>
          </a:p>
        </p:txBody>
      </p:sp>
      <p:sp>
        <p:nvSpPr>
          <p:cNvPr id="27" name="Rounded Rectangle 26"/>
          <p:cNvSpPr/>
          <p:nvPr/>
        </p:nvSpPr>
        <p:spPr>
          <a:xfrm>
            <a:off x="8960891" y="2057400"/>
            <a:ext cx="2545004" cy="841248"/>
          </a:xfrm>
          <a:prstGeom prst="roundRect">
            <a:avLst>
              <a:gd name="adj" fmla="val 20000"/>
            </a:avLst>
          </a:prstGeom>
          <a:solidFill>
            <a:srgbClr val="F3F0FA"/>
          </a:solidFill>
          <a:ln>
            <a:noFill/>
          </a:ln>
        </p:spPr>
        <p:txBody>
          <a:bodyPr rtlCol="0" anchor="ctr"/>
          <a:lstStyle/>
          <a:p>
            <a:pPr algn="ctr"/>
            <a:endParaRPr/>
          </a:p>
        </p:txBody>
      </p:sp>
      <p:sp>
        <p:nvSpPr>
          <p:cNvPr id="28" name="TextBox 27"/>
          <p:cNvSpPr txBox="1"/>
          <p:nvPr/>
        </p:nvSpPr>
        <p:spPr>
          <a:xfrm>
            <a:off x="9052331" y="2057400"/>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Listen to families and value their insights</a:t>
            </a:r>
          </a:p>
        </p:txBody>
      </p:sp>
      <p:sp>
        <p:nvSpPr>
          <p:cNvPr id="29" name="Rounded Rectangle 28"/>
          <p:cNvSpPr/>
          <p:nvPr/>
        </p:nvSpPr>
        <p:spPr>
          <a:xfrm>
            <a:off x="6278728" y="2962656"/>
            <a:ext cx="2545004" cy="841248"/>
          </a:xfrm>
          <a:prstGeom prst="roundRect">
            <a:avLst>
              <a:gd name="adj" fmla="val 20000"/>
            </a:avLst>
          </a:prstGeom>
          <a:solidFill>
            <a:srgbClr val="F3F0FA"/>
          </a:solidFill>
          <a:ln>
            <a:noFill/>
          </a:ln>
        </p:spPr>
        <p:txBody>
          <a:bodyPr rtlCol="0" anchor="ctr"/>
          <a:lstStyle/>
          <a:p>
            <a:pPr algn="ctr"/>
            <a:endParaRPr/>
          </a:p>
        </p:txBody>
      </p:sp>
      <p:sp>
        <p:nvSpPr>
          <p:cNvPr id="30" name="TextBox 29"/>
          <p:cNvSpPr txBox="1"/>
          <p:nvPr/>
        </p:nvSpPr>
        <p:spPr>
          <a:xfrm>
            <a:off x="6370168" y="2962656"/>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Use clear, simple language</a:t>
            </a:r>
          </a:p>
        </p:txBody>
      </p:sp>
      <p:sp>
        <p:nvSpPr>
          <p:cNvPr id="31" name="Rounded Rectangle 30"/>
          <p:cNvSpPr/>
          <p:nvPr/>
        </p:nvSpPr>
        <p:spPr>
          <a:xfrm>
            <a:off x="8960891" y="2962656"/>
            <a:ext cx="2545004" cy="841248"/>
          </a:xfrm>
          <a:prstGeom prst="roundRect">
            <a:avLst>
              <a:gd name="adj" fmla="val 20000"/>
            </a:avLst>
          </a:prstGeom>
          <a:solidFill>
            <a:srgbClr val="F3F0FA"/>
          </a:solidFill>
          <a:ln>
            <a:noFill/>
          </a:ln>
        </p:spPr>
        <p:txBody>
          <a:bodyPr rtlCol="0" anchor="ctr"/>
          <a:lstStyle/>
          <a:p>
            <a:pPr algn="ctr"/>
            <a:endParaRPr/>
          </a:p>
        </p:txBody>
      </p:sp>
      <p:sp>
        <p:nvSpPr>
          <p:cNvPr id="32" name="TextBox 31"/>
          <p:cNvSpPr txBox="1"/>
          <p:nvPr/>
        </p:nvSpPr>
        <p:spPr>
          <a:xfrm>
            <a:off x="9052331" y="2962656"/>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Respect different perspectives / experiences</a:t>
            </a:r>
          </a:p>
        </p:txBody>
      </p:sp>
      <p:sp>
        <p:nvSpPr>
          <p:cNvPr id="33" name="Rounded Rectangle 32"/>
          <p:cNvSpPr/>
          <p:nvPr/>
        </p:nvSpPr>
        <p:spPr>
          <a:xfrm>
            <a:off x="6278728" y="3867912"/>
            <a:ext cx="2545004" cy="841248"/>
          </a:xfrm>
          <a:prstGeom prst="roundRect">
            <a:avLst>
              <a:gd name="adj" fmla="val 20000"/>
            </a:avLst>
          </a:prstGeom>
          <a:solidFill>
            <a:srgbClr val="F3F0FA"/>
          </a:solidFill>
          <a:ln>
            <a:noFill/>
          </a:ln>
        </p:spPr>
        <p:txBody>
          <a:bodyPr rtlCol="0" anchor="ctr"/>
          <a:lstStyle/>
          <a:p>
            <a:pPr algn="ctr"/>
            <a:endParaRPr/>
          </a:p>
        </p:txBody>
      </p:sp>
      <p:sp>
        <p:nvSpPr>
          <p:cNvPr id="34" name="TextBox 33"/>
          <p:cNvSpPr txBox="1"/>
          <p:nvPr/>
        </p:nvSpPr>
        <p:spPr>
          <a:xfrm>
            <a:off x="6370168" y="3867912"/>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Focus on needs, goals and participation</a:t>
            </a:r>
          </a:p>
        </p:txBody>
      </p:sp>
      <p:sp>
        <p:nvSpPr>
          <p:cNvPr id="35" name="Rounded Rectangle 34"/>
          <p:cNvSpPr/>
          <p:nvPr/>
        </p:nvSpPr>
        <p:spPr>
          <a:xfrm>
            <a:off x="8960891" y="3867912"/>
            <a:ext cx="2545004" cy="841248"/>
          </a:xfrm>
          <a:prstGeom prst="roundRect">
            <a:avLst>
              <a:gd name="adj" fmla="val 20000"/>
            </a:avLst>
          </a:prstGeom>
          <a:solidFill>
            <a:srgbClr val="F3F0FA"/>
          </a:solidFill>
          <a:ln>
            <a:noFill/>
          </a:ln>
        </p:spPr>
        <p:txBody>
          <a:bodyPr rtlCol="0" anchor="ctr"/>
          <a:lstStyle/>
          <a:p>
            <a:pPr algn="ctr"/>
            <a:endParaRPr/>
          </a:p>
        </p:txBody>
      </p:sp>
      <p:sp>
        <p:nvSpPr>
          <p:cNvPr id="36" name="TextBox 35"/>
          <p:cNvSpPr txBox="1"/>
          <p:nvPr/>
        </p:nvSpPr>
        <p:spPr>
          <a:xfrm>
            <a:off x="9052331" y="3867912"/>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Use real examples from school</a:t>
            </a:r>
          </a:p>
        </p:txBody>
      </p:sp>
      <p:sp>
        <p:nvSpPr>
          <p:cNvPr id="37" name="Rounded Rectangle 36"/>
          <p:cNvSpPr/>
          <p:nvPr/>
        </p:nvSpPr>
        <p:spPr>
          <a:xfrm>
            <a:off x="6278728" y="4773168"/>
            <a:ext cx="2545004" cy="841248"/>
          </a:xfrm>
          <a:prstGeom prst="roundRect">
            <a:avLst>
              <a:gd name="adj" fmla="val 20000"/>
            </a:avLst>
          </a:prstGeom>
          <a:solidFill>
            <a:srgbClr val="F3F0FA"/>
          </a:solidFill>
          <a:ln>
            <a:noFill/>
          </a:ln>
        </p:spPr>
        <p:txBody>
          <a:bodyPr rtlCol="0" anchor="ctr"/>
          <a:lstStyle/>
          <a:p>
            <a:pPr algn="ctr"/>
            <a:endParaRPr/>
          </a:p>
        </p:txBody>
      </p:sp>
      <p:sp>
        <p:nvSpPr>
          <p:cNvPr id="38" name="TextBox 37"/>
          <p:cNvSpPr txBox="1"/>
          <p:nvPr/>
        </p:nvSpPr>
        <p:spPr>
          <a:xfrm>
            <a:off x="6370168" y="4773168"/>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Check for shared understanding</a:t>
            </a:r>
          </a:p>
        </p:txBody>
      </p:sp>
      <p:sp>
        <p:nvSpPr>
          <p:cNvPr id="39" name="Rounded Rectangle 38"/>
          <p:cNvSpPr/>
          <p:nvPr/>
        </p:nvSpPr>
        <p:spPr>
          <a:xfrm>
            <a:off x="8960891" y="4773168"/>
            <a:ext cx="2545004" cy="841248"/>
          </a:xfrm>
          <a:prstGeom prst="roundRect">
            <a:avLst>
              <a:gd name="adj" fmla="val 20000"/>
            </a:avLst>
          </a:prstGeom>
          <a:solidFill>
            <a:srgbClr val="F3F0FA"/>
          </a:solidFill>
          <a:ln>
            <a:noFill/>
          </a:ln>
        </p:spPr>
        <p:txBody>
          <a:bodyPr rtlCol="0" anchor="ctr"/>
          <a:lstStyle/>
          <a:p>
            <a:pPr algn="ctr"/>
            <a:endParaRPr/>
          </a:p>
        </p:txBody>
      </p:sp>
      <p:sp>
        <p:nvSpPr>
          <p:cNvPr id="40" name="TextBox 39"/>
          <p:cNvSpPr txBox="1"/>
          <p:nvPr/>
        </p:nvSpPr>
        <p:spPr>
          <a:xfrm>
            <a:off x="9052331" y="4773168"/>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Agree on next steps</a:t>
            </a:r>
          </a:p>
        </p:txBody>
      </p:sp>
      <p:sp>
        <p:nvSpPr>
          <p:cNvPr id="41" name="Rounded Rectangle 40"/>
          <p:cNvSpPr/>
          <p:nvPr/>
        </p:nvSpPr>
        <p:spPr>
          <a:xfrm>
            <a:off x="6278728" y="5678424"/>
            <a:ext cx="2545004" cy="841248"/>
          </a:xfrm>
          <a:prstGeom prst="roundRect">
            <a:avLst>
              <a:gd name="adj" fmla="val 20000"/>
            </a:avLst>
          </a:prstGeom>
          <a:solidFill>
            <a:srgbClr val="F3F0FA"/>
          </a:solidFill>
          <a:ln>
            <a:noFill/>
          </a:ln>
        </p:spPr>
        <p:txBody>
          <a:bodyPr rtlCol="0" anchor="ctr"/>
          <a:lstStyle/>
          <a:p>
            <a:pPr algn="ctr"/>
            <a:endParaRPr/>
          </a:p>
        </p:txBody>
      </p:sp>
      <p:sp>
        <p:nvSpPr>
          <p:cNvPr id="42" name="TextBox 41"/>
          <p:cNvSpPr txBox="1"/>
          <p:nvPr/>
        </p:nvSpPr>
        <p:spPr>
          <a:xfrm>
            <a:off x="6370168" y="5678424"/>
            <a:ext cx="2362124" cy="84124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Keep communication open and ongoing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When student capacity runs out</a:t>
            </a:r>
          </a:p>
        </p:txBody>
      </p:sp>
      <p:sp>
        <p:nvSpPr>
          <p:cNvPr id="3" name="TextBox 2"/>
          <p:cNvSpPr txBox="1"/>
          <p:nvPr/>
        </p:nvSpPr>
        <p:spPr>
          <a:xfrm>
            <a:off x="685800" y="1325880"/>
            <a:ext cx="10789920" cy="91440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Discuss capacity without blame. Home and school may observe different parts of the student's experience.</a:t>
            </a:r>
          </a:p>
        </p:txBody>
      </p:sp>
      <p:sp>
        <p:nvSpPr>
          <p:cNvPr id="4" name="Rounded Rectangle 3"/>
          <p:cNvSpPr/>
          <p:nvPr/>
        </p:nvSpPr>
        <p:spPr>
          <a:xfrm>
            <a:off x="685800"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5" name="TextBox 4"/>
          <p:cNvSpPr txBox="1"/>
          <p:nvPr/>
        </p:nvSpPr>
        <p:spPr>
          <a:xfrm>
            <a:off x="960120"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Meltdown</a:t>
            </a:r>
          </a:p>
        </p:txBody>
      </p:sp>
      <p:sp>
        <p:nvSpPr>
          <p:cNvPr id="6" name="Rounded Rectangle 5"/>
          <p:cNvSpPr/>
          <p:nvPr/>
        </p:nvSpPr>
        <p:spPr>
          <a:xfrm>
            <a:off x="4383938"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7" name="TextBox 6"/>
          <p:cNvSpPr txBox="1"/>
          <p:nvPr/>
        </p:nvSpPr>
        <p:spPr>
          <a:xfrm>
            <a:off x="4658258"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Shutdown</a:t>
            </a:r>
          </a:p>
        </p:txBody>
      </p:sp>
      <p:sp>
        <p:nvSpPr>
          <p:cNvPr id="8" name="Rounded Rectangle 7"/>
          <p:cNvSpPr/>
          <p:nvPr/>
        </p:nvSpPr>
        <p:spPr>
          <a:xfrm>
            <a:off x="8082077"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9" name="TextBox 8"/>
          <p:cNvSpPr txBox="1"/>
          <p:nvPr/>
        </p:nvSpPr>
        <p:spPr>
          <a:xfrm>
            <a:off x="8356397"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School Can’t</a:t>
            </a:r>
          </a:p>
        </p:txBody>
      </p:sp>
      <p:sp>
        <p:nvSpPr>
          <p:cNvPr id="10" name="Rounded Rectangle 9"/>
          <p:cNvSpPr/>
          <p:nvPr/>
        </p:nvSpPr>
        <p:spPr>
          <a:xfrm>
            <a:off x="685800" y="4023360"/>
            <a:ext cx="10820095" cy="1234440"/>
          </a:xfrm>
          <a:prstGeom prst="roundRect">
            <a:avLst>
              <a:gd name="adj" fmla="val 2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1005840" y="4023360"/>
            <a:ext cx="10149840" cy="1234440"/>
          </a:xfrm>
          <a:prstGeom prst="rect">
            <a:avLst/>
          </a:prstGeom>
          <a:noFill/>
        </p:spPr>
        <p:txBody>
          <a:bodyPr wrap="square" lIns="0" tIns="0" rIns="0" bIns="0" anchor="ctr">
            <a:noAutofit/>
          </a:bodyPr>
          <a:lstStyle/>
          <a:p>
            <a:pPr marL="0" indent="0" algn="l">
              <a:lnSpc>
                <a:spcPct val="105000"/>
              </a:lnSpc>
              <a:spcBef>
                <a:spcPts val="0"/>
              </a:spcBef>
              <a:buNone/>
            </a:pPr>
            <a:r>
              <a:rPr lang="en-AU" sz="1800" b="0">
                <a:solidFill>
                  <a:srgbClr val="3D2A6B"/>
                </a:solidFill>
                <a:latin typeface="Arial"/>
                <a:ea typeface="Arial"/>
                <a:cs typeface="Arial"/>
              </a:rPr>
              <a:t>Focus on safety, what preceded the situation, what supports recovery and what can change in the environment, task or response.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Bridge to the next family conversation</a:t>
            </a:r>
          </a:p>
        </p:txBody>
      </p:sp>
      <p:sp>
        <p:nvSpPr>
          <p:cNvPr id="4" name="Rounded Rectangle 3"/>
          <p:cNvSpPr/>
          <p:nvPr/>
        </p:nvSpPr>
        <p:spPr>
          <a:xfrm>
            <a:off x="685800" y="1554480"/>
            <a:ext cx="9509760" cy="384048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3000" y="1965960"/>
            <a:ext cx="658368" cy="658368"/>
          </a:xfrm>
          <a:prstGeom prst="rect">
            <a:avLst/>
          </a:prstGeom>
        </p:spPr>
      </p:pic>
      <p:sp>
        <p:nvSpPr>
          <p:cNvPr id="6" name="TextBox 5"/>
          <p:cNvSpPr txBox="1"/>
          <p:nvPr/>
        </p:nvSpPr>
        <p:spPr>
          <a:xfrm>
            <a:off x="2194560" y="1828800"/>
            <a:ext cx="7680960" cy="33832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Prepare for one purposeful conversation.</a:t>
            </a:r>
          </a:p>
          <a:p>
            <a:pPr marL="347472" indent="-347472" algn="l">
              <a:lnSpc>
                <a:spcPct val="100000"/>
              </a:lnSpc>
              <a:spcBef>
                <a:spcPts val="1400"/>
              </a:spcBef>
              <a:buClr>
                <a:srgbClr val="584099"/>
              </a:buClr>
              <a:buFont typeface="Arial"/>
              <a:buChar char="•"/>
            </a:pPr>
            <a:r>
              <a:rPr lang="en-AU" sz="2000" b="0">
                <a:solidFill>
                  <a:srgbClr val="3D2A6B"/>
                </a:solidFill>
                <a:latin typeface="Arial"/>
                <a:ea typeface="Arial"/>
                <a:cs typeface="Arial"/>
              </a:rPr>
              <a:t>What needs to be understood?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question will open the conversation?</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will the student's voice be included?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can be decided together?</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and when will the school follow up?</a:t>
            </a:r>
          </a:p>
        </p:txBody>
      </p:sp>
      <p:sp>
        <p:nvSpPr>
          <p:cNvPr id="7" name="Rounded Rectangle 6"/>
          <p:cNvSpPr/>
          <p:nvPr/>
        </p:nvSpPr>
        <p:spPr>
          <a:xfrm>
            <a:off x="685800" y="56235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6235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Keep these notes for your conversation plan later in this session.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Belonging, capacity and joy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Keep all three in the picture.</a:t>
            </a:r>
          </a:p>
        </p:txBody>
      </p:sp>
      <p:sp>
        <p:nvSpPr>
          <p:cNvPr id="4" name="Rounded Rectangle 3"/>
          <p:cNvSpPr/>
          <p:nvPr/>
        </p:nvSpPr>
        <p:spPr>
          <a:xfrm>
            <a:off x="685800" y="2011680"/>
            <a:ext cx="3423818" cy="2743200"/>
          </a:xfrm>
          <a:prstGeom prst="roundRect">
            <a:avLst>
              <a:gd name="adj" fmla="val 10000"/>
            </a:avLst>
          </a:prstGeom>
          <a:solidFill>
            <a:srgbClr val="F3F0FA"/>
          </a:solidFill>
          <a:ln>
            <a:noFill/>
          </a:ln>
        </p:spPr>
        <p:txBody>
          <a:bodyPr rtlCol="0" anchor="ctr"/>
          <a:lstStyle/>
          <a:p>
            <a:pPr algn="ctr"/>
            <a:endParaRPr/>
          </a:p>
        </p:txBody>
      </p:sp>
      <p:sp>
        <p:nvSpPr>
          <p:cNvPr id="5" name="TextBox 4"/>
          <p:cNvSpPr txBox="1"/>
          <p:nvPr/>
        </p:nvSpPr>
        <p:spPr>
          <a:xfrm>
            <a:off x="1005840" y="2011680"/>
            <a:ext cx="2783738" cy="2743200"/>
          </a:xfrm>
          <a:prstGeom prst="rect">
            <a:avLst/>
          </a:prstGeom>
          <a:noFill/>
        </p:spPr>
        <p:txBody>
          <a:bodyPr wrap="square" lIns="0" tIns="0" rIns="0" bIns="0" anchor="ctr">
            <a:noAutofit/>
          </a:bodyPr>
          <a:lstStyle/>
          <a:p>
            <a:pPr marL="0" indent="0" algn="l">
              <a:lnSpc>
                <a:spcPct val="100000"/>
              </a:lnSpc>
              <a:spcBef>
                <a:spcPts val="0"/>
              </a:spcBef>
              <a:buNone/>
            </a:pPr>
            <a:r>
              <a:rPr lang="en-AU" sz="2800" b="0">
                <a:solidFill>
                  <a:srgbClr val="584099"/>
                </a:solidFill>
                <a:latin typeface="Arial Black"/>
                <a:ea typeface="Arial Black"/>
                <a:cs typeface="Arial Black"/>
              </a:rPr>
              <a:t>Belonging</a:t>
            </a:r>
          </a:p>
          <a:p>
            <a:pPr marL="0" indent="0" algn="l">
              <a:lnSpc>
                <a:spcPct val="105000"/>
              </a:lnSpc>
              <a:spcBef>
                <a:spcPts val="1000"/>
              </a:spcBef>
              <a:buNone/>
            </a:pPr>
            <a:r>
              <a:rPr lang="en-AU" sz="1800" b="1">
                <a:solidFill>
                  <a:srgbClr val="3D2A6B"/>
                </a:solidFill>
                <a:latin typeface="Arial"/>
                <a:ea typeface="Arial"/>
                <a:cs typeface="Arial"/>
              </a:rPr>
              <a:t>Being recognised, included and able to participate as oneself</a:t>
            </a:r>
          </a:p>
        </p:txBody>
      </p:sp>
      <p:sp>
        <p:nvSpPr>
          <p:cNvPr id="6" name="Rounded Rectangle 5"/>
          <p:cNvSpPr/>
          <p:nvPr/>
        </p:nvSpPr>
        <p:spPr>
          <a:xfrm>
            <a:off x="4383938" y="2011680"/>
            <a:ext cx="3423818" cy="2743200"/>
          </a:xfrm>
          <a:prstGeom prst="roundRect">
            <a:avLst>
              <a:gd name="adj" fmla="val 10000"/>
            </a:avLst>
          </a:prstGeom>
          <a:solidFill>
            <a:srgbClr val="DCD3F0"/>
          </a:solidFill>
          <a:ln>
            <a:noFill/>
          </a:ln>
        </p:spPr>
        <p:txBody>
          <a:bodyPr rtlCol="0" anchor="ctr"/>
          <a:lstStyle/>
          <a:p>
            <a:pPr algn="ctr"/>
            <a:endParaRPr/>
          </a:p>
        </p:txBody>
      </p:sp>
      <p:sp>
        <p:nvSpPr>
          <p:cNvPr id="7" name="TextBox 6"/>
          <p:cNvSpPr txBox="1"/>
          <p:nvPr/>
        </p:nvSpPr>
        <p:spPr>
          <a:xfrm>
            <a:off x="4703978" y="2011680"/>
            <a:ext cx="2783738" cy="2743200"/>
          </a:xfrm>
          <a:prstGeom prst="rect">
            <a:avLst/>
          </a:prstGeom>
          <a:noFill/>
        </p:spPr>
        <p:txBody>
          <a:bodyPr wrap="square" lIns="0" tIns="0" rIns="0" bIns="0" anchor="ctr">
            <a:noAutofit/>
          </a:bodyPr>
          <a:lstStyle/>
          <a:p>
            <a:pPr marL="0" indent="0" algn="l">
              <a:lnSpc>
                <a:spcPct val="100000"/>
              </a:lnSpc>
              <a:spcBef>
                <a:spcPts val="0"/>
              </a:spcBef>
              <a:buNone/>
            </a:pPr>
            <a:r>
              <a:rPr lang="en-AU" sz="2800" b="0">
                <a:solidFill>
                  <a:srgbClr val="584099"/>
                </a:solidFill>
                <a:latin typeface="Arial Black"/>
                <a:ea typeface="Arial Black"/>
                <a:cs typeface="Arial Black"/>
              </a:rPr>
              <a:t>Capacity</a:t>
            </a:r>
          </a:p>
          <a:p>
            <a:pPr marL="0" indent="0" algn="l">
              <a:lnSpc>
                <a:spcPct val="105000"/>
              </a:lnSpc>
              <a:spcBef>
                <a:spcPts val="1000"/>
              </a:spcBef>
              <a:buNone/>
            </a:pPr>
            <a:r>
              <a:rPr lang="en-AU" sz="1800" b="1">
                <a:solidFill>
                  <a:srgbClr val="3D2A6B"/>
                </a:solidFill>
                <a:latin typeface="Arial"/>
                <a:ea typeface="Arial"/>
                <a:cs typeface="Arial"/>
              </a:rPr>
              <a:t>What the day costs, protects and restores</a:t>
            </a:r>
          </a:p>
        </p:txBody>
      </p:sp>
      <p:sp>
        <p:nvSpPr>
          <p:cNvPr id="8" name="Rounded Rectangle 7"/>
          <p:cNvSpPr/>
          <p:nvPr/>
        </p:nvSpPr>
        <p:spPr>
          <a:xfrm>
            <a:off x="8082077" y="2011680"/>
            <a:ext cx="3423818" cy="2743200"/>
          </a:xfrm>
          <a:prstGeom prst="roundRect">
            <a:avLst>
              <a:gd name="adj" fmla="val 10000"/>
            </a:avLst>
          </a:prstGeom>
          <a:solidFill>
            <a:srgbClr val="F3F0FA"/>
          </a:solidFill>
          <a:ln>
            <a:noFill/>
          </a:ln>
        </p:spPr>
        <p:txBody>
          <a:bodyPr rtlCol="0" anchor="ctr"/>
          <a:lstStyle/>
          <a:p>
            <a:pPr algn="ctr"/>
            <a:endParaRPr/>
          </a:p>
        </p:txBody>
      </p:sp>
      <p:sp>
        <p:nvSpPr>
          <p:cNvPr id="9" name="TextBox 8"/>
          <p:cNvSpPr txBox="1"/>
          <p:nvPr/>
        </p:nvSpPr>
        <p:spPr>
          <a:xfrm>
            <a:off x="8402117" y="2011680"/>
            <a:ext cx="2783738" cy="2743200"/>
          </a:xfrm>
          <a:prstGeom prst="rect">
            <a:avLst/>
          </a:prstGeom>
          <a:noFill/>
        </p:spPr>
        <p:txBody>
          <a:bodyPr wrap="square" lIns="0" tIns="0" rIns="0" bIns="0" anchor="ctr">
            <a:noAutofit/>
          </a:bodyPr>
          <a:lstStyle/>
          <a:p>
            <a:pPr marL="0" indent="0" algn="l">
              <a:lnSpc>
                <a:spcPct val="100000"/>
              </a:lnSpc>
              <a:spcBef>
                <a:spcPts val="0"/>
              </a:spcBef>
              <a:buNone/>
            </a:pPr>
            <a:r>
              <a:rPr lang="en-AU" sz="2800" b="0">
                <a:solidFill>
                  <a:srgbClr val="584099"/>
                </a:solidFill>
                <a:latin typeface="Arial Black"/>
                <a:ea typeface="Arial Black"/>
                <a:cs typeface="Arial Black"/>
              </a:rPr>
              <a:t>Joy</a:t>
            </a:r>
          </a:p>
          <a:p>
            <a:pPr marL="0" indent="0" algn="l">
              <a:lnSpc>
                <a:spcPct val="105000"/>
              </a:lnSpc>
              <a:spcBef>
                <a:spcPts val="1000"/>
              </a:spcBef>
              <a:buNone/>
            </a:pPr>
            <a:r>
              <a:rPr lang="en-AU" sz="1800" b="1">
                <a:solidFill>
                  <a:srgbClr val="3D2A6B"/>
                </a:solidFill>
                <a:latin typeface="Arial"/>
                <a:ea typeface="Arial"/>
                <a:cs typeface="Arial"/>
              </a:rPr>
              <a:t>Interests, connection and authentic expression</a:t>
            </a:r>
          </a:p>
        </p:txBody>
      </p:sp>
      <p:sp>
        <p:nvSpPr>
          <p:cNvPr id="10" name="Rounded Rectangle 9"/>
          <p:cNvSpPr/>
          <p:nvPr/>
        </p:nvSpPr>
        <p:spPr>
          <a:xfrm>
            <a:off x="685800" y="512064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960120" y="512064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Return to these when judging whether a change supports flourishing.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564336-1E2A-DABF-1A15-0FD63C44A7F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Start · Continue · Reconsider</a:t>
            </a:r>
          </a:p>
        </p:txBody>
      </p:sp>
      <p:sp>
        <p:nvSpPr>
          <p:cNvPr id="5" name="TextBox 4"/>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In your Participant Guide, identify:</a:t>
            </a:r>
          </a:p>
        </p:txBody>
      </p:sp>
      <p:sp>
        <p:nvSpPr>
          <p:cNvPr id="6" name="Rounded Rectangle 5"/>
          <p:cNvSpPr/>
          <p:nvPr/>
        </p:nvSpPr>
        <p:spPr>
          <a:xfrm>
            <a:off x="685800" y="2011680"/>
            <a:ext cx="3423818" cy="2148840"/>
          </a:xfrm>
          <a:prstGeom prst="roundRect">
            <a:avLst>
              <a:gd name="adj" fmla="val 10000"/>
            </a:avLst>
          </a:prstGeom>
          <a:solidFill>
            <a:srgbClr val="584099"/>
          </a:solidFill>
          <a:ln>
            <a:noFill/>
          </a:ln>
        </p:spPr>
        <p:txBody>
          <a:bodyPr rtlCol="0" anchor="ctr"/>
          <a:lstStyle/>
          <a:p>
            <a:pPr algn="ctr"/>
            <a:endParaRPr/>
          </a:p>
        </p:txBody>
      </p:sp>
      <p:sp>
        <p:nvSpPr>
          <p:cNvPr id="7" name="TextBox 6"/>
          <p:cNvSpPr txBox="1"/>
          <p:nvPr/>
        </p:nvSpPr>
        <p:spPr>
          <a:xfrm>
            <a:off x="1005840" y="2011680"/>
            <a:ext cx="2783738" cy="2148840"/>
          </a:xfrm>
          <a:prstGeom prst="rect">
            <a:avLst/>
          </a:prstGeom>
          <a:noFill/>
        </p:spPr>
        <p:txBody>
          <a:bodyPr wrap="square" lIns="0" tIns="0" rIns="0" bIns="0" anchor="ctr">
            <a:noAutofit/>
          </a:bodyPr>
          <a:lstStyle/>
          <a:p>
            <a:pPr marL="0" indent="0" algn="l">
              <a:lnSpc>
                <a:spcPct val="100000"/>
              </a:lnSpc>
              <a:spcBef>
                <a:spcPts val="0"/>
              </a:spcBef>
              <a:buNone/>
            </a:pPr>
            <a:r>
              <a:rPr lang="en-AU" sz="2600" b="0">
                <a:solidFill>
                  <a:srgbClr val="FFFFFF"/>
                </a:solidFill>
                <a:latin typeface="Arial Black"/>
                <a:ea typeface="Arial Black"/>
                <a:cs typeface="Arial Black"/>
              </a:rPr>
              <a:t>Start</a:t>
            </a:r>
          </a:p>
          <a:p>
            <a:pPr marL="0" indent="0" algn="l">
              <a:lnSpc>
                <a:spcPct val="100000"/>
              </a:lnSpc>
              <a:spcBef>
                <a:spcPts val="600"/>
              </a:spcBef>
              <a:buNone/>
            </a:pPr>
            <a:r>
              <a:rPr lang="en-AU" sz="1700" b="1">
                <a:solidFill>
                  <a:srgbClr val="FFFFFF"/>
                </a:solidFill>
                <a:latin typeface="Arial"/>
                <a:ea typeface="Arial"/>
                <a:cs typeface="Arial"/>
              </a:rPr>
              <a:t>One strategy to start</a:t>
            </a:r>
          </a:p>
          <a:p>
            <a:pPr marL="0" indent="0" algn="l">
              <a:lnSpc>
                <a:spcPct val="100000"/>
              </a:lnSpc>
              <a:spcBef>
                <a:spcPts val="400"/>
              </a:spcBef>
              <a:buNone/>
            </a:pPr>
            <a:r>
              <a:rPr lang="en-AU" sz="1500" b="0">
                <a:solidFill>
                  <a:srgbClr val="E6E0F5"/>
                </a:solidFill>
                <a:latin typeface="Arial"/>
                <a:ea typeface="Arial"/>
                <a:cs typeface="Arial"/>
              </a:rPr>
              <a:t>something small you can start next week</a:t>
            </a:r>
          </a:p>
        </p:txBody>
      </p:sp>
      <p:sp>
        <p:nvSpPr>
          <p:cNvPr id="8" name="Rounded Rectangle 7"/>
          <p:cNvSpPr/>
          <p:nvPr/>
        </p:nvSpPr>
        <p:spPr>
          <a:xfrm>
            <a:off x="4383938" y="2011680"/>
            <a:ext cx="3423818" cy="2148840"/>
          </a:xfrm>
          <a:prstGeom prst="roundRect">
            <a:avLst>
              <a:gd name="adj" fmla="val 10000"/>
            </a:avLst>
          </a:prstGeom>
          <a:solidFill>
            <a:srgbClr val="F3F0FA"/>
          </a:solidFill>
          <a:ln>
            <a:noFill/>
          </a:ln>
        </p:spPr>
        <p:txBody>
          <a:bodyPr rtlCol="0" anchor="ctr"/>
          <a:lstStyle/>
          <a:p>
            <a:pPr algn="ctr"/>
            <a:endParaRPr/>
          </a:p>
        </p:txBody>
      </p:sp>
      <p:sp>
        <p:nvSpPr>
          <p:cNvPr id="9" name="TextBox 8"/>
          <p:cNvSpPr txBox="1"/>
          <p:nvPr/>
        </p:nvSpPr>
        <p:spPr>
          <a:xfrm>
            <a:off x="4703978" y="2011680"/>
            <a:ext cx="2783738" cy="2148840"/>
          </a:xfrm>
          <a:prstGeom prst="rect">
            <a:avLst/>
          </a:prstGeom>
          <a:noFill/>
        </p:spPr>
        <p:txBody>
          <a:bodyPr wrap="square" lIns="0" tIns="0" rIns="0" bIns="0" anchor="ctr">
            <a:noAutofit/>
          </a:bodyPr>
          <a:lstStyle/>
          <a:p>
            <a:pPr marL="0" indent="0" algn="l">
              <a:lnSpc>
                <a:spcPct val="100000"/>
              </a:lnSpc>
              <a:spcBef>
                <a:spcPts val="0"/>
              </a:spcBef>
              <a:buNone/>
            </a:pPr>
            <a:r>
              <a:rPr lang="en-AU" sz="2600" b="0">
                <a:solidFill>
                  <a:srgbClr val="584099"/>
                </a:solidFill>
                <a:latin typeface="Arial Black"/>
                <a:ea typeface="Arial Black"/>
                <a:cs typeface="Arial Black"/>
              </a:rPr>
              <a:t>Continue</a:t>
            </a:r>
          </a:p>
          <a:p>
            <a:pPr marL="0" indent="0" algn="l">
              <a:lnSpc>
                <a:spcPct val="100000"/>
              </a:lnSpc>
              <a:spcBef>
                <a:spcPts val="600"/>
              </a:spcBef>
              <a:buNone/>
            </a:pPr>
            <a:r>
              <a:rPr lang="en-AU" sz="1700" b="1">
                <a:solidFill>
                  <a:srgbClr val="3D2A6B"/>
                </a:solidFill>
                <a:latin typeface="Arial"/>
                <a:ea typeface="Arial"/>
                <a:cs typeface="Arial"/>
              </a:rPr>
              <a:t>One practice to continue</a:t>
            </a:r>
          </a:p>
          <a:p>
            <a:pPr marL="0" indent="0" algn="l">
              <a:lnSpc>
                <a:spcPct val="100000"/>
              </a:lnSpc>
              <a:spcBef>
                <a:spcPts val="400"/>
              </a:spcBef>
              <a:buNone/>
            </a:pPr>
            <a:r>
              <a:rPr lang="en-AU" sz="1500" b="0">
                <a:solidFill>
                  <a:srgbClr val="2D2440"/>
                </a:solidFill>
                <a:latin typeface="Arial"/>
                <a:ea typeface="Arial"/>
                <a:cs typeface="Arial"/>
              </a:rPr>
              <a:t>something this series confirmed you already do well</a:t>
            </a:r>
          </a:p>
        </p:txBody>
      </p:sp>
      <p:sp>
        <p:nvSpPr>
          <p:cNvPr id="10" name="Rounded Rectangle 9"/>
          <p:cNvSpPr/>
          <p:nvPr/>
        </p:nvSpPr>
        <p:spPr>
          <a:xfrm>
            <a:off x="8082077" y="2011680"/>
            <a:ext cx="3423818" cy="2148840"/>
          </a:xfrm>
          <a:prstGeom prst="roundRect">
            <a:avLst>
              <a:gd name="adj" fmla="val 10000"/>
            </a:avLst>
          </a:prstGeom>
          <a:solidFill>
            <a:srgbClr val="F3F0FA"/>
          </a:solidFill>
          <a:ln>
            <a:noFill/>
          </a:ln>
        </p:spPr>
        <p:txBody>
          <a:bodyPr rtlCol="0" anchor="ctr"/>
          <a:lstStyle/>
          <a:p>
            <a:pPr algn="ctr"/>
            <a:endParaRPr/>
          </a:p>
        </p:txBody>
      </p:sp>
      <p:sp>
        <p:nvSpPr>
          <p:cNvPr id="11" name="TextBox 10"/>
          <p:cNvSpPr txBox="1"/>
          <p:nvPr/>
        </p:nvSpPr>
        <p:spPr>
          <a:xfrm>
            <a:off x="8402117" y="2011680"/>
            <a:ext cx="2783738" cy="2148840"/>
          </a:xfrm>
          <a:prstGeom prst="rect">
            <a:avLst/>
          </a:prstGeom>
          <a:noFill/>
        </p:spPr>
        <p:txBody>
          <a:bodyPr wrap="square" lIns="0" tIns="0" rIns="0" bIns="0" anchor="ctr">
            <a:noAutofit/>
          </a:bodyPr>
          <a:lstStyle/>
          <a:p>
            <a:pPr marL="0" indent="0" algn="l">
              <a:lnSpc>
                <a:spcPct val="100000"/>
              </a:lnSpc>
              <a:spcBef>
                <a:spcPts val="0"/>
              </a:spcBef>
              <a:buNone/>
            </a:pPr>
            <a:r>
              <a:rPr lang="en-AU" sz="2600" b="0">
                <a:solidFill>
                  <a:srgbClr val="584099"/>
                </a:solidFill>
                <a:latin typeface="Arial Black"/>
                <a:ea typeface="Arial Black"/>
                <a:cs typeface="Arial Black"/>
              </a:rPr>
              <a:t>Reconsider</a:t>
            </a:r>
          </a:p>
          <a:p>
            <a:pPr marL="0" indent="0" algn="l">
              <a:lnSpc>
                <a:spcPct val="100000"/>
              </a:lnSpc>
              <a:spcBef>
                <a:spcPts val="600"/>
              </a:spcBef>
              <a:buNone/>
            </a:pPr>
            <a:r>
              <a:rPr lang="en-AU" sz="1700" b="1">
                <a:solidFill>
                  <a:srgbClr val="3D2A6B"/>
                </a:solidFill>
                <a:latin typeface="Arial"/>
                <a:ea typeface="Arial"/>
                <a:cs typeface="Arial"/>
              </a:rPr>
              <a:t>One approach to reconsider</a:t>
            </a:r>
          </a:p>
          <a:p>
            <a:pPr marL="0" indent="0" algn="l">
              <a:lnSpc>
                <a:spcPct val="100000"/>
              </a:lnSpc>
              <a:spcBef>
                <a:spcPts val="400"/>
              </a:spcBef>
              <a:buNone/>
            </a:pPr>
            <a:r>
              <a:rPr lang="en-AU" sz="1500" b="0">
                <a:solidFill>
                  <a:srgbClr val="2D2440"/>
                </a:solidFill>
                <a:latin typeface="Arial"/>
                <a:ea typeface="Arial"/>
                <a:cs typeface="Arial"/>
              </a:rPr>
              <a:t>something you would now do differently</a:t>
            </a:r>
          </a:p>
        </p:txBody>
      </p:sp>
      <p:sp>
        <p:nvSpPr>
          <p:cNvPr id="12" name="TextBox 11"/>
          <p:cNvSpPr txBox="1"/>
          <p:nvPr/>
        </p:nvSpPr>
        <p:spPr>
          <a:xfrm>
            <a:off x="685800" y="4389120"/>
            <a:ext cx="10789920" cy="822960"/>
          </a:xfrm>
          <a:prstGeom prst="rect">
            <a:avLst/>
          </a:prstGeom>
          <a:noFill/>
        </p:spPr>
        <p:txBody>
          <a:bodyPr wrap="square" lIns="0" tIns="0" rIns="0" bIns="0" anchor="t">
            <a:noAutofit/>
          </a:bodyPr>
          <a:lstStyle/>
          <a:p>
            <a:pPr marL="0" indent="0" algn="l">
              <a:lnSpc>
                <a:spcPct val="100000"/>
              </a:lnSpc>
              <a:spcBef>
                <a:spcPts val="0"/>
              </a:spcBef>
              <a:buNone/>
            </a:pPr>
            <a:r>
              <a:rPr lang="en-AU" sz="1800" b="1">
                <a:solidFill>
                  <a:srgbClr val="3D2A6B"/>
                </a:solidFill>
                <a:latin typeface="Arial"/>
                <a:ea typeface="Arial"/>
                <a:cs typeface="Arial"/>
              </a:rPr>
              <a:t>For each, decide: How will you know it worked? What evidence will show it?</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4" name="TextBox 13"/>
          <p:cNvSpPr txBox="1"/>
          <p:nvPr/>
        </p:nvSpPr>
        <p:spPr>
          <a:xfrm>
            <a:off x="960120" y="525780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This plan is yours. Share one thing in the chat if you would like 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8B3160-3FF6-2D0B-C202-81FA4BCAD256}"/>
              </a:ext>
            </a:extLst>
          </p:cNvPr>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Plan the next conversation</a:t>
            </a:r>
          </a:p>
        </p:txBody>
      </p:sp>
      <p:sp>
        <p:nvSpPr>
          <p:cNvPr id="6" name="TextBox 5"/>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584099"/>
                </a:solidFill>
                <a:latin typeface="Arial"/>
                <a:ea typeface="Arial"/>
                <a:cs typeface="Arial"/>
              </a:rPr>
              <a:t>Start from your bridge notes.</a:t>
            </a:r>
          </a:p>
        </p:txBody>
      </p:sp>
      <p:sp>
        <p:nvSpPr>
          <p:cNvPr id="7" name="Oval 6"/>
          <p:cNvSpPr/>
          <p:nvPr/>
        </p:nvSpPr>
        <p:spPr>
          <a:xfrm>
            <a:off x="685800" y="1965960"/>
            <a:ext cx="457200" cy="457200"/>
          </a:xfrm>
          <a:prstGeom prst="ellipse">
            <a:avLst/>
          </a:prstGeom>
          <a:solidFill>
            <a:srgbClr val="FFFFFF"/>
          </a:solidFill>
          <a:ln w="22225">
            <a:solidFill>
              <a:srgbClr val="584099"/>
            </a:solidFill>
          </a:ln>
        </p:spPr>
        <p:txBody>
          <a:bodyPr rtlCol="0" anchor="ctr"/>
          <a:lstStyle/>
          <a:p>
            <a:pPr algn="ctr"/>
            <a:endParaRPr/>
          </a:p>
        </p:txBody>
      </p:sp>
      <p:sp>
        <p:nvSpPr>
          <p:cNvPr id="8" name="TextBox 7"/>
          <p:cNvSpPr txBox="1"/>
          <p:nvPr/>
        </p:nvSpPr>
        <p:spPr>
          <a:xfrm>
            <a:off x="685800" y="196596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584099"/>
                </a:solidFill>
                <a:latin typeface="Arial Black"/>
                <a:ea typeface="Arial Black"/>
                <a:cs typeface="Arial Black"/>
              </a:rPr>
              <a:t>1</a:t>
            </a:r>
          </a:p>
        </p:txBody>
      </p:sp>
      <p:sp>
        <p:nvSpPr>
          <p:cNvPr id="9" name="TextBox 8"/>
          <p:cNvSpPr txBox="1"/>
          <p:nvPr/>
        </p:nvSpPr>
        <p:spPr>
          <a:xfrm>
            <a:off x="1325880" y="1856232"/>
            <a:ext cx="10058400" cy="676656"/>
          </a:xfrm>
          <a:prstGeom prst="rect">
            <a:avLst/>
          </a:prstGeom>
          <a:noFill/>
        </p:spPr>
        <p:txBody>
          <a:bodyPr wrap="square" lIns="0" tIns="0" rIns="0" bIns="0" anchor="ctr">
            <a:noAutofit/>
          </a:bodyPr>
          <a:lstStyle/>
          <a:p>
            <a:pPr marL="0" indent="0" algn="l">
              <a:lnSpc>
                <a:spcPct val="100000"/>
              </a:lnSpc>
              <a:spcBef>
                <a:spcPts val="0"/>
              </a:spcBef>
              <a:buNone/>
            </a:pPr>
            <a:r>
              <a:rPr lang="en-AU" sz="1800" b="1" dirty="0">
                <a:solidFill>
                  <a:srgbClr val="3D2A6B"/>
                </a:solidFill>
                <a:latin typeface="Arial"/>
                <a:ea typeface="Arial"/>
                <a:cs typeface="Arial"/>
              </a:rPr>
              <a:t>Choose the real conversation you'll have within two weeks:</a:t>
            </a:r>
            <a:br>
              <a:rPr lang="en-AU" sz="1800" b="1" dirty="0">
                <a:solidFill>
                  <a:srgbClr val="3D2A6B"/>
                </a:solidFill>
                <a:latin typeface="Arial"/>
                <a:ea typeface="Arial"/>
                <a:cs typeface="Arial"/>
              </a:rPr>
            </a:br>
            <a:r>
              <a:rPr lang="en-AU" sz="1800" b="1" dirty="0">
                <a:solidFill>
                  <a:srgbClr val="3D2A6B"/>
                </a:solidFill>
                <a:latin typeface="Arial"/>
                <a:ea typeface="Arial"/>
                <a:cs typeface="Arial"/>
              </a:rPr>
              <a:t>with a student's family, or with the student themselves</a:t>
            </a:r>
          </a:p>
        </p:txBody>
      </p:sp>
      <p:sp>
        <p:nvSpPr>
          <p:cNvPr id="10" name="Oval 9"/>
          <p:cNvSpPr/>
          <p:nvPr/>
        </p:nvSpPr>
        <p:spPr>
          <a:xfrm>
            <a:off x="685800" y="2834640"/>
            <a:ext cx="457200" cy="457200"/>
          </a:xfrm>
          <a:prstGeom prst="ellipse">
            <a:avLst/>
          </a:prstGeom>
          <a:solidFill>
            <a:srgbClr val="FFFFFF"/>
          </a:solidFill>
          <a:ln w="22225">
            <a:solidFill>
              <a:srgbClr val="584099"/>
            </a:solidFill>
          </a:ln>
        </p:spPr>
        <p:txBody>
          <a:bodyPr rtlCol="0" anchor="ctr"/>
          <a:lstStyle/>
          <a:p>
            <a:pPr algn="ctr"/>
            <a:endParaRPr/>
          </a:p>
        </p:txBody>
      </p:sp>
      <p:sp>
        <p:nvSpPr>
          <p:cNvPr id="11" name="TextBox 10"/>
          <p:cNvSpPr txBox="1"/>
          <p:nvPr/>
        </p:nvSpPr>
        <p:spPr>
          <a:xfrm>
            <a:off x="685800" y="283464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584099"/>
                </a:solidFill>
                <a:latin typeface="Arial Black"/>
                <a:ea typeface="Arial Black"/>
                <a:cs typeface="Arial Black"/>
              </a:rPr>
              <a:t>2</a:t>
            </a:r>
          </a:p>
        </p:txBody>
      </p:sp>
      <p:sp>
        <p:nvSpPr>
          <p:cNvPr id="12" name="TextBox 11"/>
          <p:cNvSpPr txBox="1"/>
          <p:nvPr/>
        </p:nvSpPr>
        <p:spPr>
          <a:xfrm>
            <a:off x="1325880" y="2724912"/>
            <a:ext cx="10058400" cy="676656"/>
          </a:xfrm>
          <a:prstGeom prst="rect">
            <a:avLst/>
          </a:prstGeom>
          <a:noFill/>
        </p:spPr>
        <p:txBody>
          <a:bodyPr wrap="square" lIns="0" tIns="0" rIns="0" bIns="0" anchor="ctr">
            <a:noAutofit/>
          </a:bodyPr>
          <a:lstStyle/>
          <a:p>
            <a:pPr marL="0" indent="0" algn="l">
              <a:lnSpc>
                <a:spcPct val="100000"/>
              </a:lnSpc>
              <a:spcBef>
                <a:spcPts val="0"/>
              </a:spcBef>
              <a:buNone/>
            </a:pPr>
            <a:r>
              <a:rPr lang="en-AU" sz="1800" b="1" dirty="0">
                <a:solidFill>
                  <a:srgbClr val="3D2A6B"/>
                </a:solidFill>
                <a:latin typeface="Arial"/>
                <a:ea typeface="Arial"/>
                <a:cs typeface="Arial"/>
              </a:rPr>
              <a:t>Plan it in your Participant Guide: </a:t>
            </a:r>
            <a:br>
              <a:rPr lang="en-AU" sz="1800" b="1" dirty="0">
                <a:solidFill>
                  <a:srgbClr val="3D2A6B"/>
                </a:solidFill>
                <a:latin typeface="Arial"/>
                <a:ea typeface="Arial"/>
                <a:cs typeface="Arial"/>
              </a:rPr>
            </a:br>
            <a:r>
              <a:rPr lang="en-AU" sz="1800" b="1" dirty="0">
                <a:solidFill>
                  <a:srgbClr val="3D2A6B"/>
                </a:solidFill>
                <a:latin typeface="Arial"/>
                <a:ea typeface="Arial"/>
                <a:cs typeface="Arial"/>
              </a:rPr>
              <a:t>what I'll share (a strength first) · what I'll ask (specifically) · what I'll offer</a:t>
            </a:r>
          </a:p>
        </p:txBody>
      </p:sp>
      <p:sp>
        <p:nvSpPr>
          <p:cNvPr id="13" name="Oval 12"/>
          <p:cNvSpPr/>
          <p:nvPr/>
        </p:nvSpPr>
        <p:spPr>
          <a:xfrm>
            <a:off x="685800" y="3703320"/>
            <a:ext cx="457200" cy="457200"/>
          </a:xfrm>
          <a:prstGeom prst="ellipse">
            <a:avLst/>
          </a:prstGeom>
          <a:solidFill>
            <a:srgbClr val="FFFFFF"/>
          </a:solidFill>
          <a:ln w="22225">
            <a:solidFill>
              <a:srgbClr val="584099"/>
            </a:solidFill>
          </a:ln>
        </p:spPr>
        <p:txBody>
          <a:bodyPr rtlCol="0" anchor="ctr"/>
          <a:lstStyle/>
          <a:p>
            <a:pPr algn="ctr"/>
            <a:endParaRPr/>
          </a:p>
        </p:txBody>
      </p:sp>
      <p:sp>
        <p:nvSpPr>
          <p:cNvPr id="14" name="TextBox 13"/>
          <p:cNvSpPr txBox="1"/>
          <p:nvPr/>
        </p:nvSpPr>
        <p:spPr>
          <a:xfrm>
            <a:off x="685800" y="37033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584099"/>
                </a:solidFill>
                <a:latin typeface="Arial Black"/>
                <a:ea typeface="Arial Black"/>
                <a:cs typeface="Arial Black"/>
              </a:rPr>
              <a:t>3</a:t>
            </a:r>
          </a:p>
        </p:txBody>
      </p:sp>
      <p:sp>
        <p:nvSpPr>
          <p:cNvPr id="15" name="TextBox 14"/>
          <p:cNvSpPr txBox="1"/>
          <p:nvPr/>
        </p:nvSpPr>
        <p:spPr>
          <a:xfrm>
            <a:off x="1325880" y="3593592"/>
            <a:ext cx="10058400" cy="676656"/>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Write your opening sentence, word for word</a:t>
            </a:r>
          </a:p>
        </p:txBody>
      </p:sp>
      <p:sp>
        <p:nvSpPr>
          <p:cNvPr id="16" name="Oval 15"/>
          <p:cNvSpPr/>
          <p:nvPr/>
        </p:nvSpPr>
        <p:spPr>
          <a:xfrm>
            <a:off x="685800" y="4572000"/>
            <a:ext cx="457200" cy="457200"/>
          </a:xfrm>
          <a:prstGeom prst="ellipse">
            <a:avLst/>
          </a:prstGeom>
          <a:solidFill>
            <a:srgbClr val="FFFFFF"/>
          </a:solidFill>
          <a:ln w="22225">
            <a:solidFill>
              <a:srgbClr val="584099"/>
            </a:solidFill>
          </a:ln>
        </p:spPr>
        <p:txBody>
          <a:bodyPr rtlCol="0" anchor="ctr"/>
          <a:lstStyle/>
          <a:p>
            <a:pPr algn="ctr"/>
            <a:endParaRPr/>
          </a:p>
        </p:txBody>
      </p:sp>
      <p:sp>
        <p:nvSpPr>
          <p:cNvPr id="17" name="TextBox 16"/>
          <p:cNvSpPr txBox="1"/>
          <p:nvPr/>
        </p:nvSpPr>
        <p:spPr>
          <a:xfrm>
            <a:off x="685800" y="45720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584099"/>
                </a:solidFill>
                <a:latin typeface="Arial Black"/>
                <a:ea typeface="Arial Black"/>
                <a:cs typeface="Arial Black"/>
              </a:rPr>
              <a:t>4</a:t>
            </a:r>
          </a:p>
        </p:txBody>
      </p:sp>
      <p:sp>
        <p:nvSpPr>
          <p:cNvPr id="18" name="TextBox 17"/>
          <p:cNvSpPr txBox="1"/>
          <p:nvPr/>
        </p:nvSpPr>
        <p:spPr>
          <a:xfrm>
            <a:off x="1325880" y="4462272"/>
            <a:ext cx="10058400" cy="676656"/>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3D2A6B"/>
                </a:solidFill>
                <a:latin typeface="Arial"/>
                <a:ea typeface="Arial"/>
                <a:cs typeface="Arial"/>
              </a:rPr>
              <a:t>Note it: when, where, how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Rectangle 2"/>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4" name="Oval 3"/>
          <p:cNvSpPr/>
          <p:nvPr/>
        </p:nvSpPr>
        <p:spPr>
          <a:xfrm>
            <a:off x="8595360" y="4754880"/>
            <a:ext cx="5669280" cy="5669280"/>
          </a:xfrm>
          <a:prstGeom prst="ellipse">
            <a:avLst/>
          </a:prstGeom>
          <a:solidFill>
            <a:srgbClr val="6A52AB"/>
          </a:solidFill>
          <a:ln>
            <a:noFill/>
          </a:ln>
        </p:spPr>
        <p:txBody>
          <a:bodyPr rtlCol="0" anchor="ctr"/>
          <a:lstStyle/>
          <a:p>
            <a:pPr algn="ctr"/>
            <a:endParaRPr/>
          </a:p>
        </p:txBody>
      </p:sp>
      <p:sp>
        <p:nvSpPr>
          <p:cNvPr id="2" name="Title 1">
            <a:extLst>
              <a:ext uri="{FF2B5EF4-FFF2-40B4-BE49-F238E27FC236}">
                <a16:creationId xmlns:a16="http://schemas.microsoft.com/office/drawing/2014/main" id="{59EFBDF4-2EE7-D4AD-3DCB-B64C00E218FC}"/>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Final reflection</a:t>
            </a:r>
          </a:p>
        </p:txBody>
      </p:sp>
      <p:sp>
        <p:nvSpPr>
          <p:cNvPr id="5" name="TextBox 4"/>
          <p:cNvSpPr txBox="1"/>
          <p:nvPr/>
        </p:nvSpPr>
        <p:spPr>
          <a:xfrm>
            <a:off x="685800" y="1417320"/>
            <a:ext cx="9601200" cy="118872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FFFFFF"/>
                </a:solidFill>
                <a:latin typeface="Arial"/>
                <a:ea typeface="Arial"/>
                <a:cs typeface="Arial"/>
              </a:rPr>
              <a:t>In Session 1 you wrote what you hoped to understand. Read your own words back. What's different now?</a:t>
            </a:r>
          </a:p>
        </p:txBody>
      </p:sp>
      <p:sp>
        <p:nvSpPr>
          <p:cNvPr id="6" name="TextBox 5"/>
          <p:cNvSpPr txBox="1"/>
          <p:nvPr/>
        </p:nvSpPr>
        <p:spPr>
          <a:xfrm>
            <a:off x="685800" y="2788920"/>
            <a:ext cx="9601200" cy="731520"/>
          </a:xfrm>
          <a:prstGeom prst="rect">
            <a:avLst/>
          </a:prstGeom>
          <a:noFill/>
        </p:spPr>
        <p:txBody>
          <a:bodyPr wrap="square" lIns="0" tIns="0" rIns="0" bIns="0" anchor="ctr">
            <a:noAutofit/>
          </a:bodyPr>
          <a:lstStyle/>
          <a:p>
            <a:pPr marL="0" indent="0" algn="l">
              <a:lnSpc>
                <a:spcPct val="105000"/>
              </a:lnSpc>
              <a:spcBef>
                <a:spcPts val="0"/>
              </a:spcBef>
              <a:buNone/>
            </a:pPr>
            <a:r>
              <a:rPr lang="en-AU" sz="2000" b="0" dirty="0">
                <a:solidFill>
                  <a:srgbClr val="FFFFFF"/>
                </a:solidFill>
                <a:latin typeface="Arial"/>
                <a:ea typeface="Arial"/>
                <a:cs typeface="Arial"/>
              </a:rPr>
              <a:t>Where were you at the start of Session 1?</a:t>
            </a:r>
          </a:p>
        </p:txBody>
      </p:sp>
      <p:sp>
        <p:nvSpPr>
          <p:cNvPr id="7" name="TextBox 6"/>
          <p:cNvSpPr txBox="1"/>
          <p:nvPr/>
        </p:nvSpPr>
        <p:spPr>
          <a:xfrm>
            <a:off x="685800" y="3566160"/>
            <a:ext cx="9601200" cy="731520"/>
          </a:xfrm>
          <a:prstGeom prst="rect">
            <a:avLst/>
          </a:prstGeom>
          <a:noFill/>
        </p:spPr>
        <p:txBody>
          <a:bodyPr wrap="square" lIns="0" tIns="0" rIns="0" bIns="0" anchor="ctr">
            <a:noAutofit/>
          </a:bodyPr>
          <a:lstStyle/>
          <a:p>
            <a:pPr marL="0" indent="0" algn="l">
              <a:lnSpc>
                <a:spcPct val="105000"/>
              </a:lnSpc>
              <a:spcBef>
                <a:spcPts val="0"/>
              </a:spcBef>
              <a:buNone/>
            </a:pPr>
            <a:r>
              <a:rPr lang="en-AU" sz="2000" b="0">
                <a:solidFill>
                  <a:srgbClr val="FFFFFF"/>
                </a:solidFill>
                <a:latin typeface="Arial"/>
                <a:ea typeface="Arial"/>
                <a:cs typeface="Arial"/>
              </a:rPr>
              <a:t>Where are you now?</a:t>
            </a:r>
          </a:p>
        </p:txBody>
      </p:sp>
      <p:sp>
        <p:nvSpPr>
          <p:cNvPr id="8" name="TextBox 7"/>
          <p:cNvSpPr txBox="1"/>
          <p:nvPr/>
        </p:nvSpPr>
        <p:spPr>
          <a:xfrm>
            <a:off x="685800" y="4343400"/>
            <a:ext cx="9601200" cy="731520"/>
          </a:xfrm>
          <a:prstGeom prst="rect">
            <a:avLst/>
          </a:prstGeom>
          <a:noFill/>
        </p:spPr>
        <p:txBody>
          <a:bodyPr wrap="square" lIns="0" tIns="0" rIns="0" bIns="0" anchor="ctr">
            <a:noAutofit/>
          </a:bodyPr>
          <a:lstStyle/>
          <a:p>
            <a:pPr marL="0" indent="0" algn="l">
              <a:lnSpc>
                <a:spcPct val="105000"/>
              </a:lnSpc>
              <a:spcBef>
                <a:spcPts val="0"/>
              </a:spcBef>
              <a:buNone/>
            </a:pPr>
            <a:r>
              <a:rPr lang="en-AU" sz="2000" b="0" dirty="0">
                <a:solidFill>
                  <a:srgbClr val="FFFFFF"/>
                </a:solidFill>
                <a:latin typeface="Arial"/>
                <a:ea typeface="Arial"/>
                <a:cs typeface="Arial"/>
              </a:rPr>
              <a:t>In one sentence, for yourself: what will you do differently in your teaching?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AB9B-F98C-5EFD-BABF-E0BC0A463489}"/>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Connections that continue</a:t>
            </a:r>
          </a:p>
        </p:txBody>
      </p:sp>
      <p:sp>
        <p:nvSpPr>
          <p:cNvPr id="3" name="TextBox 2"/>
          <p:cNvSpPr txBox="1"/>
          <p:nvPr/>
        </p:nvSpPr>
        <p:spPr>
          <a:xfrm>
            <a:off x="685800" y="1325880"/>
            <a:ext cx="10789920" cy="822960"/>
          </a:xfrm>
          <a:prstGeom prst="rect">
            <a:avLst/>
          </a:prstGeom>
          <a:noFill/>
        </p:spPr>
        <p:txBody>
          <a:bodyPr wrap="square" lIns="0" tIns="0" rIns="0" bIns="0" anchor="t">
            <a:noAutofit/>
          </a:bodyPr>
          <a:lstStyle/>
          <a:p>
            <a:pPr marL="0" indent="0" algn="l">
              <a:lnSpc>
                <a:spcPct val="105000"/>
              </a:lnSpc>
              <a:spcBef>
                <a:spcPts val="0"/>
              </a:spcBef>
              <a:buNone/>
            </a:pPr>
            <a:r>
              <a:rPr lang="en-AU" sz="1900" b="1">
                <a:solidFill>
                  <a:srgbClr val="3D2A6B"/>
                </a:solidFill>
                <a:latin typeface="Arial"/>
                <a:ea typeface="Arial"/>
                <a:cs typeface="Arial"/>
              </a:rPr>
              <a:t>What are you curious to learn more about next? Look back at your notes from Session 1: how many of your questions got answered?</a:t>
            </a:r>
          </a:p>
        </p:txBody>
      </p:sp>
      <p:sp>
        <p:nvSpPr>
          <p:cNvPr id="4" name="Rounded Rectangle 3"/>
          <p:cNvSpPr/>
          <p:nvPr/>
        </p:nvSpPr>
        <p:spPr>
          <a:xfrm>
            <a:off x="685800" y="2377440"/>
            <a:ext cx="3423818" cy="2560320"/>
          </a:xfrm>
          <a:prstGeom prst="roundRect">
            <a:avLst>
              <a:gd name="adj" fmla="val 10000"/>
            </a:avLst>
          </a:prstGeom>
          <a:solidFill>
            <a:srgbClr val="F3F0FA"/>
          </a:solidFill>
          <a:ln>
            <a:noFill/>
          </a:ln>
        </p:spPr>
        <p:txBody>
          <a:bodyPr rtlCol="0" anchor="ctr"/>
          <a:lstStyle/>
          <a:p>
            <a:pPr algn="ctr"/>
            <a:endParaRPr/>
          </a:p>
        </p:txBody>
      </p:sp>
      <p:sp>
        <p:nvSpPr>
          <p:cNvPr id="5" name="TextBox 4"/>
          <p:cNvSpPr txBox="1"/>
          <p:nvPr/>
        </p:nvSpPr>
        <p:spPr>
          <a:xfrm>
            <a:off x="960120" y="2514600"/>
            <a:ext cx="2875178" cy="2286000"/>
          </a:xfrm>
          <a:prstGeom prst="rect">
            <a:avLst/>
          </a:prstGeom>
          <a:noFill/>
        </p:spPr>
        <p:txBody>
          <a:bodyPr wrap="square" lIns="0" tIns="0" rIns="0" bIns="0" anchor="t">
            <a:noAutofit/>
          </a:bodyPr>
          <a:lstStyle/>
          <a:p>
            <a:pPr marL="0" indent="0" algn="l">
              <a:lnSpc>
                <a:spcPct val="95000"/>
              </a:lnSpc>
              <a:spcBef>
                <a:spcPts val="0"/>
              </a:spcBef>
              <a:buNone/>
            </a:pPr>
            <a:r>
              <a:rPr lang="en-AU" sz="2000" b="0">
                <a:solidFill>
                  <a:srgbClr val="584099"/>
                </a:solidFill>
                <a:latin typeface="Arial Black"/>
                <a:ea typeface="Arial Black"/>
                <a:cs typeface="Arial Black"/>
              </a:rPr>
              <a:t>Webinars and deep dives</a:t>
            </a:r>
          </a:p>
          <a:p>
            <a:pPr marL="0" indent="0" algn="l">
              <a:lnSpc>
                <a:spcPct val="105000"/>
              </a:lnSpc>
              <a:spcBef>
                <a:spcPts val="800"/>
              </a:spcBef>
              <a:buNone/>
            </a:pPr>
            <a:r>
              <a:rPr lang="en-AU" sz="1500" b="0">
                <a:solidFill>
                  <a:srgbClr val="2D2440"/>
                </a:solidFill>
                <a:latin typeface="Arial"/>
                <a:ea typeface="Arial"/>
                <a:cs typeface="Arial"/>
              </a:rPr>
              <a:t>Follow-ups on UDL, executive functioning, sensory design, anxiety and more</a:t>
            </a:r>
          </a:p>
          <a:p>
            <a:pPr marL="0" indent="0" algn="l">
              <a:lnSpc>
                <a:spcPct val="100000"/>
              </a:lnSpc>
              <a:spcBef>
                <a:spcPts val="1000"/>
              </a:spcBef>
              <a:buNone/>
            </a:pPr>
            <a:r>
              <a:rPr lang="en-AU" sz="1400" b="1">
                <a:solidFill>
                  <a:srgbClr val="5B5670"/>
                </a:solidFill>
                <a:latin typeface="Arial"/>
                <a:ea typeface="Arial"/>
                <a:cs typeface="Arial"/>
              </a:rPr>
              <a:t>[Titles and dates to confirm]</a:t>
            </a:r>
          </a:p>
        </p:txBody>
      </p:sp>
      <p:sp>
        <p:nvSpPr>
          <p:cNvPr id="6" name="Rounded Rectangle 5"/>
          <p:cNvSpPr/>
          <p:nvPr/>
        </p:nvSpPr>
        <p:spPr>
          <a:xfrm>
            <a:off x="4383938" y="2377440"/>
            <a:ext cx="3423818" cy="2560320"/>
          </a:xfrm>
          <a:prstGeom prst="roundRect">
            <a:avLst>
              <a:gd name="adj" fmla="val 10000"/>
            </a:avLst>
          </a:prstGeom>
          <a:solidFill>
            <a:srgbClr val="F3F0FA"/>
          </a:solidFill>
          <a:ln>
            <a:noFill/>
          </a:ln>
        </p:spPr>
        <p:txBody>
          <a:bodyPr rtlCol="0" anchor="ctr"/>
          <a:lstStyle/>
          <a:p>
            <a:pPr algn="ctr"/>
            <a:endParaRPr/>
          </a:p>
        </p:txBody>
      </p:sp>
      <p:sp>
        <p:nvSpPr>
          <p:cNvPr id="7" name="TextBox 6"/>
          <p:cNvSpPr txBox="1"/>
          <p:nvPr/>
        </p:nvSpPr>
        <p:spPr>
          <a:xfrm>
            <a:off x="4658258" y="2514600"/>
            <a:ext cx="2875178" cy="2286000"/>
          </a:xfrm>
          <a:prstGeom prst="rect">
            <a:avLst/>
          </a:prstGeom>
          <a:noFill/>
        </p:spPr>
        <p:txBody>
          <a:bodyPr wrap="square" lIns="0" tIns="0" rIns="0" bIns="0" anchor="t">
            <a:noAutofit/>
          </a:bodyPr>
          <a:lstStyle/>
          <a:p>
            <a:pPr marL="0" indent="0" algn="l">
              <a:lnSpc>
                <a:spcPct val="95000"/>
              </a:lnSpc>
              <a:spcBef>
                <a:spcPts val="0"/>
              </a:spcBef>
              <a:buNone/>
            </a:pPr>
            <a:r>
              <a:rPr lang="en-AU" sz="2000" b="0">
                <a:solidFill>
                  <a:srgbClr val="584099"/>
                </a:solidFill>
                <a:latin typeface="Arial Black"/>
                <a:ea typeface="Arial Black"/>
                <a:cs typeface="Arial Black"/>
              </a:rPr>
              <a:t>Online Community of Practice</a:t>
            </a:r>
          </a:p>
          <a:p>
            <a:pPr marL="0" indent="0" algn="l">
              <a:lnSpc>
                <a:spcPct val="105000"/>
              </a:lnSpc>
              <a:spcBef>
                <a:spcPts val="800"/>
              </a:spcBef>
              <a:buNone/>
            </a:pPr>
            <a:r>
              <a:rPr lang="en-AU" sz="1500" b="0">
                <a:solidFill>
                  <a:srgbClr val="2D2440"/>
                </a:solidFill>
                <a:latin typeface="Arial"/>
                <a:ea typeface="Arial"/>
                <a:cs typeface="Arial"/>
              </a:rPr>
              <a:t>A place to keep talking with other educators after this series.</a:t>
            </a:r>
          </a:p>
          <a:p>
            <a:pPr marL="0" indent="0" algn="l">
              <a:lnSpc>
                <a:spcPct val="100000"/>
              </a:lnSpc>
              <a:spcBef>
                <a:spcPts val="1000"/>
              </a:spcBef>
              <a:buNone/>
            </a:pPr>
            <a:r>
              <a:rPr lang="en-AU" sz="1400" b="1">
                <a:solidFill>
                  <a:srgbClr val="5B5670"/>
                </a:solidFill>
                <a:latin typeface="Arial"/>
                <a:ea typeface="Arial"/>
                <a:cs typeface="Arial"/>
              </a:rPr>
              <a:t>[Link or QR code to add]</a:t>
            </a:r>
          </a:p>
        </p:txBody>
      </p:sp>
      <p:sp>
        <p:nvSpPr>
          <p:cNvPr id="8" name="Rounded Rectangle 7"/>
          <p:cNvSpPr/>
          <p:nvPr/>
        </p:nvSpPr>
        <p:spPr>
          <a:xfrm>
            <a:off x="8082077" y="2377440"/>
            <a:ext cx="3423818" cy="2560320"/>
          </a:xfrm>
          <a:prstGeom prst="roundRect">
            <a:avLst>
              <a:gd name="adj" fmla="val 10000"/>
            </a:avLst>
          </a:prstGeom>
          <a:solidFill>
            <a:srgbClr val="F3F0FA"/>
          </a:solidFill>
          <a:ln>
            <a:noFill/>
          </a:ln>
        </p:spPr>
        <p:txBody>
          <a:bodyPr rtlCol="0" anchor="ctr"/>
          <a:lstStyle/>
          <a:p>
            <a:pPr algn="ctr"/>
            <a:endParaRPr/>
          </a:p>
        </p:txBody>
      </p:sp>
      <p:sp>
        <p:nvSpPr>
          <p:cNvPr id="9" name="TextBox 8"/>
          <p:cNvSpPr txBox="1"/>
          <p:nvPr/>
        </p:nvSpPr>
        <p:spPr>
          <a:xfrm>
            <a:off x="8356397" y="2514600"/>
            <a:ext cx="2875178" cy="2286000"/>
          </a:xfrm>
          <a:prstGeom prst="rect">
            <a:avLst/>
          </a:prstGeom>
          <a:noFill/>
        </p:spPr>
        <p:txBody>
          <a:bodyPr wrap="square" lIns="0" tIns="0" rIns="0" bIns="0" anchor="t">
            <a:noAutofit/>
          </a:bodyPr>
          <a:lstStyle/>
          <a:p>
            <a:pPr marL="0" indent="0" algn="l">
              <a:lnSpc>
                <a:spcPct val="95000"/>
              </a:lnSpc>
              <a:spcBef>
                <a:spcPts val="0"/>
              </a:spcBef>
              <a:buNone/>
            </a:pPr>
            <a:r>
              <a:rPr lang="en-AU" sz="2000" b="0">
                <a:solidFill>
                  <a:srgbClr val="584099"/>
                </a:solidFill>
                <a:latin typeface="Arial Black"/>
                <a:ea typeface="Arial Black"/>
                <a:cs typeface="Arial Black"/>
              </a:rPr>
              <a:t>Positive Partnerships website</a:t>
            </a:r>
          </a:p>
          <a:p>
            <a:pPr marL="0" indent="0" algn="l">
              <a:lnSpc>
                <a:spcPct val="105000"/>
              </a:lnSpc>
              <a:spcBef>
                <a:spcPts val="800"/>
              </a:spcBef>
              <a:buNone/>
            </a:pPr>
            <a:r>
              <a:rPr lang="en-AU" sz="1500" b="0">
                <a:solidFill>
                  <a:srgbClr val="2D2440"/>
                </a:solidFill>
                <a:latin typeface="Arial"/>
                <a:ea typeface="Arial"/>
                <a:cs typeface="Arial"/>
              </a:rPr>
              <a:t>Resources for educators, families and students</a:t>
            </a:r>
          </a:p>
          <a:p>
            <a:pPr marL="0" indent="0" algn="l">
              <a:lnSpc>
                <a:spcPct val="100000"/>
              </a:lnSpc>
              <a:spcBef>
                <a:spcPts val="1000"/>
              </a:spcBef>
              <a:buNone/>
            </a:pPr>
            <a:r>
              <a:rPr lang="en-AU" sz="1400" b="1">
                <a:solidFill>
                  <a:srgbClr val="584099"/>
                </a:solidFill>
                <a:latin typeface="Arial"/>
                <a:ea typeface="Arial"/>
                <a:cs typeface="Arial"/>
              </a:rPr>
              <a:t>positivepartnerships.com.au</a:t>
            </a:r>
          </a:p>
        </p:txBody>
      </p:sp>
      <p:sp>
        <p:nvSpPr>
          <p:cNvPr id="10" name="Rounded Rectangle 9"/>
          <p:cNvSpPr/>
          <p:nvPr/>
        </p:nvSpPr>
        <p:spPr>
          <a:xfrm>
            <a:off x="685800" y="53035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960120" y="53035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This series is a starting point. These supports continue after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Oval 6"/>
          <p:cNvSpPr/>
          <p:nvPr/>
        </p:nvSpPr>
        <p:spPr>
          <a:xfrm>
            <a:off x="-1000816" y="-750095"/>
            <a:ext cx="7627392" cy="7627392"/>
          </a:xfrm>
          <a:prstGeom prst="ellipse">
            <a:avLst/>
          </a:prstGeom>
          <a:solidFill>
            <a:srgbClr val="EDE8F8"/>
          </a:solidFill>
          <a:ln w="1863725">
            <a:solidFill>
              <a:srgbClr val="583F99">
                <a:alpha val="5882"/>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583F99"/>
              </a:solidFill>
              <a:effectLst/>
              <a:uLnTx/>
              <a:uFillTx/>
              <a:latin typeface="Work Sans"/>
              <a:ea typeface="+mn-ea"/>
              <a:cs typeface="+mn-cs"/>
            </a:endParaRPr>
          </a:p>
        </p:txBody>
      </p:sp>
      <p:pic>
        <p:nvPicPr>
          <p:cNvPr id="8" name="Picture 7">
            <a:extLst>
              <a:ext uri="{FF2B5EF4-FFF2-40B4-BE49-F238E27FC236}">
                <a16:creationId xmlns:a16="http://schemas.microsoft.com/office/drawing/2014/main" id="{0E70E9E4-EE86-4609-AEEA-A73A5FE7CA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921" y="385795"/>
            <a:ext cx="1366272" cy="1587531"/>
          </a:xfrm>
          <a:prstGeom prst="rect">
            <a:avLst/>
          </a:prstGeom>
        </p:spPr>
      </p:pic>
      <p:sp>
        <p:nvSpPr>
          <p:cNvPr id="2" name="Title 1">
            <a:extLst>
              <a:ext uri="{FF2B5EF4-FFF2-40B4-BE49-F238E27FC236}">
                <a16:creationId xmlns:a16="http://schemas.microsoft.com/office/drawing/2014/main" id="{71343308-F7D6-8245-B839-010678F1BFD4}"/>
              </a:ext>
            </a:extLst>
          </p:cNvPr>
          <p:cNvSpPr>
            <a:spLocks noGrp="1"/>
          </p:cNvSpPr>
          <p:nvPr>
            <p:ph type="title"/>
          </p:nvPr>
        </p:nvSpPr>
        <p:spPr>
          <a:xfrm>
            <a:off x="647186" y="33652"/>
            <a:ext cx="6482277" cy="5605936"/>
          </a:xfrm>
        </p:spPr>
        <p:txBody>
          <a:bodyPr>
            <a:normAutofit/>
          </a:bodyPr>
          <a:lstStyle/>
          <a:p>
            <a:br>
              <a:rPr lang="en-US">
                <a:solidFill>
                  <a:schemeClr val="tx1"/>
                </a:solidFill>
              </a:rPr>
            </a:br>
            <a:br>
              <a:rPr lang="en-US">
                <a:solidFill>
                  <a:schemeClr val="tx1"/>
                </a:solidFill>
              </a:rPr>
            </a:br>
            <a:endParaRPr lang="en-US">
              <a:solidFill>
                <a:schemeClr val="tx1"/>
              </a:solidFill>
            </a:endParaRPr>
          </a:p>
        </p:txBody>
      </p:sp>
      <p:sp>
        <p:nvSpPr>
          <p:cNvPr id="6" name="Rectangle 5">
            <a:extLst>
              <a:ext uri="{FF2B5EF4-FFF2-40B4-BE49-F238E27FC236}">
                <a16:creationId xmlns:a16="http://schemas.microsoft.com/office/drawing/2014/main" id="{B0D32F4E-C689-4DBC-A1D6-D98409DAF178}"/>
              </a:ext>
            </a:extLst>
          </p:cNvPr>
          <p:cNvSpPr/>
          <p:nvPr/>
        </p:nvSpPr>
        <p:spPr>
          <a:xfrm>
            <a:off x="1338842" y="2002303"/>
            <a:ext cx="2948075"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583F99"/>
                </a:solidFill>
                <a:effectLst/>
                <a:uLnTx/>
                <a:uFillTx/>
                <a:latin typeface="Arial Black" panose="020B0A04020102020204" pitchFamily="34" charset="0"/>
                <a:ea typeface="+mn-ea"/>
                <a:cs typeface="+mn-cs"/>
              </a:rPr>
              <a:t>Feedback</a:t>
            </a:r>
            <a:endParaRPr kumimoji="0" lang="en-AU" sz="3600" b="0" i="0" u="none" strike="noStrike" kern="1200" cap="none" spc="0" normalizeH="0" baseline="0" noProof="0">
              <a:ln>
                <a:noFill/>
              </a:ln>
              <a:solidFill>
                <a:srgbClr val="583F99"/>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78553DFC-E15E-48CF-B60D-0A7F2586852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693492" y="5933665"/>
            <a:ext cx="1909570" cy="474284"/>
          </a:xfrm>
          <a:prstGeom prst="rect">
            <a:avLst/>
          </a:prstGeom>
        </p:spPr>
      </p:pic>
      <p:pic>
        <p:nvPicPr>
          <p:cNvPr id="4" name="Picture 3">
            <a:extLst>
              <a:ext uri="{FF2B5EF4-FFF2-40B4-BE49-F238E27FC236}">
                <a16:creationId xmlns:a16="http://schemas.microsoft.com/office/drawing/2014/main" id="{B228824F-37C0-4BE7-8FAC-CBE317D6AFC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78801" y="2857855"/>
            <a:ext cx="2572512" cy="2572512"/>
          </a:xfrm>
          <a:prstGeom prst="rect">
            <a:avLst/>
          </a:prstGeom>
        </p:spPr>
      </p:pic>
      <p:pic>
        <p:nvPicPr>
          <p:cNvPr id="5" name="Picture 4">
            <a:extLst>
              <a:ext uri="{FF2B5EF4-FFF2-40B4-BE49-F238E27FC236}">
                <a16:creationId xmlns:a16="http://schemas.microsoft.com/office/drawing/2014/main" id="{A7E1E2BE-141D-A965-0C33-4F8C6435FFA2}"/>
              </a:ext>
            </a:extLst>
          </p:cNvPr>
          <p:cNvPicPr>
            <a:picLocks noChangeAspect="1"/>
          </p:cNvPicPr>
          <p:nvPr/>
        </p:nvPicPr>
        <p:blipFill>
          <a:blip r:embed="rId6"/>
          <a:stretch>
            <a:fillRect/>
          </a:stretch>
        </p:blipFill>
        <p:spPr>
          <a:xfrm>
            <a:off x="4918591" y="685513"/>
            <a:ext cx="6909682" cy="1641255"/>
          </a:xfrm>
          <a:prstGeom prst="rect">
            <a:avLst/>
          </a:prstGeom>
          <a:ln w="12700" cap="sq">
            <a:solidFill>
              <a:srgbClr val="000000"/>
            </a:solidFill>
            <a:miter lim="800000"/>
          </a:ln>
          <a:effectLst>
            <a:outerShdw blurRad="57150" dist="50800" dir="2700000" algn="tl" rotWithShape="0">
              <a:srgbClr val="000000">
                <a:alpha val="40000"/>
              </a:srgbClr>
            </a:outerShdw>
          </a:effectLst>
        </p:spPr>
      </p:pic>
      <p:pic>
        <p:nvPicPr>
          <p:cNvPr id="11" name="Picture 10">
            <a:extLst>
              <a:ext uri="{FF2B5EF4-FFF2-40B4-BE49-F238E27FC236}">
                <a16:creationId xmlns:a16="http://schemas.microsoft.com/office/drawing/2014/main" id="{A7E4DD89-7D45-2815-2C0A-3DE1A5D9B913}"/>
              </a:ext>
            </a:extLst>
          </p:cNvPr>
          <p:cNvPicPr>
            <a:picLocks noChangeAspect="1"/>
          </p:cNvPicPr>
          <p:nvPr/>
        </p:nvPicPr>
        <p:blipFill>
          <a:blip r:embed="rId7"/>
          <a:stretch>
            <a:fillRect/>
          </a:stretch>
        </p:blipFill>
        <p:spPr>
          <a:xfrm>
            <a:off x="6572955" y="2573002"/>
            <a:ext cx="3600953" cy="1114581"/>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15" name="TextBox 14">
            <a:extLst>
              <a:ext uri="{FF2B5EF4-FFF2-40B4-BE49-F238E27FC236}">
                <a16:creationId xmlns:a16="http://schemas.microsoft.com/office/drawing/2014/main" id="{B3330373-A7B7-9F5E-C3A3-FEF7615B9FB8}"/>
              </a:ext>
            </a:extLst>
          </p:cNvPr>
          <p:cNvSpPr txBox="1"/>
          <p:nvPr/>
        </p:nvSpPr>
        <p:spPr>
          <a:xfrm>
            <a:off x="1212692" y="5542923"/>
            <a:ext cx="7061886" cy="369332"/>
          </a:xfrm>
          <a:prstGeom prst="rect">
            <a:avLst/>
          </a:prstGeom>
          <a:noFill/>
        </p:spPr>
        <p:txBody>
          <a:bodyPr wrap="square">
            <a:spAutoFit/>
          </a:bodyPr>
          <a:lstStyle/>
          <a:p>
            <a:r>
              <a:rPr lang="en-AU" sz="1800" b="1"/>
              <a:t>http://tiny.cc/PP-PLfeedback</a:t>
            </a:r>
          </a:p>
        </p:txBody>
      </p:sp>
      <p:pic>
        <p:nvPicPr>
          <p:cNvPr id="10" name="Picture 9">
            <a:extLst>
              <a:ext uri="{FF2B5EF4-FFF2-40B4-BE49-F238E27FC236}">
                <a16:creationId xmlns:a16="http://schemas.microsoft.com/office/drawing/2014/main" id="{1C17B9B2-07E6-1C8D-2A07-16A74299114D}"/>
              </a:ext>
            </a:extLst>
          </p:cNvPr>
          <p:cNvPicPr>
            <a:picLocks noChangeAspect="1"/>
          </p:cNvPicPr>
          <p:nvPr/>
        </p:nvPicPr>
        <p:blipFill>
          <a:blip r:embed="rId8"/>
          <a:stretch>
            <a:fillRect/>
          </a:stretch>
        </p:blipFill>
        <p:spPr>
          <a:xfrm>
            <a:off x="5250407" y="3933817"/>
            <a:ext cx="6246048" cy="1124453"/>
          </a:xfrm>
          <a:prstGeom prst="rect">
            <a:avLst/>
          </a:prstGeom>
          <a:ln w="127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hqprint">
            <a:extLst>
              <a:ext uri="{28A0092B-C50C-407E-A947-70E740481C1C}">
                <a14:useLocalDpi xmlns:a14="http://schemas.microsoft.com/office/drawing/2010/main" val="0"/>
              </a:ext>
            </a:extLst>
          </a:blip>
          <a:srcRect t="15250"/>
          <a:stretch/>
        </p:blipFill>
        <p:spPr>
          <a:xfrm flipH="1">
            <a:off x="0" y="-30480"/>
            <a:ext cx="12192000" cy="6888480"/>
          </a:xfrm>
          <a:prstGeom prst="rect">
            <a:avLst/>
          </a:prstGeom>
        </p:spPr>
      </p:pic>
      <p:sp>
        <p:nvSpPr>
          <p:cNvPr id="4" name="Title 3">
            <a:extLst>
              <a:ext uri="{FF2B5EF4-FFF2-40B4-BE49-F238E27FC236}">
                <a16:creationId xmlns:a16="http://schemas.microsoft.com/office/drawing/2014/main" id="{855CFCEF-E826-4CDD-85E1-C244F749F74C}"/>
              </a:ext>
            </a:extLst>
          </p:cNvPr>
          <p:cNvSpPr txBox="1">
            <a:spLocks/>
          </p:cNvSpPr>
          <p:nvPr/>
        </p:nvSpPr>
        <p:spPr>
          <a:xfrm>
            <a:off x="877824" y="640080"/>
            <a:ext cx="4754880" cy="1463040"/>
          </a:xfrm>
          <a:prstGeom prst="rect">
            <a:avLst/>
          </a:prstGeom>
        </p:spPr>
        <p:txBody>
          <a:bodyPr wrap="square" lIns="0" tIns="0" rIns="0" bIns="0" anchor="t">
            <a:noAutofit/>
          </a:bodyPr>
          <a:lstStyle>
            <a:defPPr>
              <a:defRPr lang="en-US"/>
            </a:defPPr>
            <a:lvl1pPr>
              <a:defRPr sz="4400" b="1">
                <a:solidFill>
                  <a:srgbClr val="BBD64A"/>
                </a:solidFill>
                <a:latin typeface="Arial Black" panose="020B0A04020102020204" pitchFamily="34" charset="0"/>
              </a:defRPr>
            </a:lvl1pPr>
          </a:lstStyle>
          <a:p>
            <a:pPr marL="0" indent="0" algn="l">
              <a:lnSpc>
                <a:spcPct val="95000"/>
              </a:lnSpc>
              <a:spcBef>
                <a:spcPts val="0"/>
              </a:spcBef>
              <a:buNone/>
            </a:pPr>
            <a:r>
              <a:rPr lang="en-AU" sz="3400" b="0">
                <a:solidFill>
                  <a:srgbClr val="584099"/>
                </a:solidFill>
                <a:latin typeface="Arial Black"/>
                <a:ea typeface="Arial Black"/>
                <a:cs typeface="Arial Black"/>
              </a:rPr>
              <a:t>Good luck on your journey</a:t>
            </a:r>
          </a:p>
        </p:txBody>
      </p:sp>
      <p:sp>
        <p:nvSpPr>
          <p:cNvPr id="5" name="TextBox 4"/>
          <p:cNvSpPr txBox="1"/>
          <p:nvPr/>
        </p:nvSpPr>
        <p:spPr>
          <a:xfrm>
            <a:off x="877824" y="2286000"/>
            <a:ext cx="4572000" cy="9144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Stay curious.</a:t>
            </a:r>
          </a:p>
          <a:p>
            <a:pPr marL="0" indent="0" algn="l">
              <a:lnSpc>
                <a:spcPct val="100000"/>
              </a:lnSpc>
              <a:spcBef>
                <a:spcPts val="200"/>
              </a:spcBef>
              <a:buNone/>
            </a:pPr>
            <a:r>
              <a:rPr lang="en-AU" sz="2000" b="1">
                <a:solidFill>
                  <a:srgbClr val="3D2A6B"/>
                </a:solidFill>
                <a:latin typeface="Arial"/>
                <a:ea typeface="Arial"/>
                <a:cs typeface="Arial"/>
              </a:rPr>
              <a:t>Keep students at the centre.</a:t>
            </a:r>
          </a:p>
        </p:txBody>
      </p:sp>
      <p:sp>
        <p:nvSpPr>
          <p:cNvPr id="6" name="TextBox 5"/>
          <p:cNvSpPr txBox="1"/>
          <p:nvPr/>
        </p:nvSpPr>
        <p:spPr>
          <a:xfrm>
            <a:off x="877824" y="3291840"/>
            <a:ext cx="4389120" cy="1828800"/>
          </a:xfrm>
          <a:prstGeom prst="rect">
            <a:avLst/>
          </a:prstGeom>
          <a:noFill/>
        </p:spPr>
        <p:txBody>
          <a:bodyPr wrap="square" lIns="0" tIns="0" rIns="0" bIns="0" anchor="t">
            <a:noAutofit/>
          </a:bodyPr>
          <a:lstStyle/>
          <a:p>
            <a:pPr marL="0" indent="0" algn="l">
              <a:lnSpc>
                <a:spcPct val="110000"/>
              </a:lnSpc>
              <a:spcBef>
                <a:spcPts val="0"/>
              </a:spcBef>
              <a:buNone/>
            </a:pPr>
            <a:r>
              <a:rPr lang="en-AU" sz="1500" b="0">
                <a:solidFill>
                  <a:srgbClr val="2D2440"/>
                </a:solidFill>
                <a:latin typeface="Arial"/>
                <a:ea typeface="Arial"/>
                <a:cs typeface="Arial"/>
              </a:rPr>
              <a:t>Take one thoughtful next step, include the people who hold relevant knowledge and review what happens. Small, informed changes can be refined through student voice, observation and partnership.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8F38CC49-5BCA-4AE9-8473-8E73B8C1E934}">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494170-94B9-4839-8B23-312C5CAD4F7F}">
  <ds:schemaRefs>
    <ds:schemaRef ds:uri="http://schemas.microsoft.com/sharepoint/v3/contenttype/forms"/>
  </ds:schemaRefs>
</ds:datastoreItem>
</file>

<file path=customXml/itemProps3.xml><?xml version="1.0" encoding="utf-8"?>
<ds:datastoreItem xmlns:ds="http://schemas.openxmlformats.org/officeDocument/2006/customXml" ds:itemID="{E21C6D3C-3208-4C9A-BB97-4BF1FDBC9CA8}">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TotalTime>
  <Words>4948</Words>
  <Application>Microsoft Macintosh PowerPoint</Application>
  <PresentationFormat>Widescreen</PresentationFormat>
  <Paragraphs>526</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Arial Black</vt:lpstr>
      <vt:lpstr>Calibri</vt:lpstr>
      <vt:lpstr>Office Theme</vt:lpstr>
      <vt:lpstr>PowerPoint Presentation</vt:lpstr>
      <vt:lpstr>Working in partnerships</vt:lpstr>
      <vt:lpstr>PowerPoint Presentation</vt:lpstr>
      <vt:lpstr>What is effective collaboration?</vt:lpstr>
      <vt:lpstr>PowerPoint Presentation</vt:lpstr>
      <vt:lpstr>PowerPoint Presentation</vt:lpstr>
      <vt:lpstr>PowerPoint Presentation</vt:lpstr>
      <vt:lpstr>Partnership activity</vt:lpstr>
      <vt:lpstr>PowerPoint Presentation</vt:lpstr>
      <vt:lpstr>PowerPoint Presentation</vt:lpstr>
      <vt:lpstr>PowerPoint Presentation</vt:lpstr>
      <vt:lpstr>PowerPoint Presentation</vt:lpstr>
      <vt:lpstr>PowerPoint Presentation</vt:lpstr>
      <vt:lpstr>PowerPoint Presentation</vt:lpstr>
      <vt:lpstr>NCCD Meetings Tool Kit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 Cousins</dc:creator>
  <cp:lastModifiedBy>Craig Smith</cp:lastModifiedBy>
  <cp:revision>3</cp:revision>
  <dcterms:created xsi:type="dcterms:W3CDTF">2026-08-24T06:22:15Z</dcterms:created>
  <dcterms:modified xsi:type="dcterms:W3CDTF">2026-09-25T06:44:30Z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