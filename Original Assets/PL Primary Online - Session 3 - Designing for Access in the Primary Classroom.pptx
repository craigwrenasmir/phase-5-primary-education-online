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copied78.xml" ContentType="application/vnd.openxmlformats-officedocument.presentationml.tags+xml"/>
  <Override PartName="/ppt/media/copied8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3F8D6F-1DEE-6615-6CEF-2DFCB510BACA}" name="Nicole Torres" initials="NT" userId="S::ntorres@autismcrc.com.au::0026055d-e81a-4ac9-a7f9-7ac97c409d29" providerId="AD"/>
  <p188:author id="{10272E70-8B89-BFFB-31B3-7BBA44C57398}" name="Jen Cousins" initials="JC" userId="S::jcousins@autismspectrum.org.au::e5107725-ce0a-4006-bfb3-3787c68d621c" providerId="AD"/>
  <p188:author id="{E2B46AE0-0A1C-54D3-E72A-2A9A4004FF91}" name="Lynda Hunt" initials="LH" userId="S::lhunt@autismspectrum.org.au::70d0fb0f-bb74-4a51-a39e-b5bc39f9699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385C41-D70E-EC55-CC3F-15C4A1B221D0}" v="18" dt="2026-08-25T01:10:16.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4492"/>
  </p:normalViewPr>
  <p:slideViewPr>
    <p:cSldViewPr snapToGrid="0">
      <p:cViewPr varScale="1">
        <p:scale>
          <a:sx n="105" d="100"/>
          <a:sy n="105" d="100"/>
        </p:scale>
        <p:origin x="10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6/11/relationships/changesInfo" Target="changesInfos/changesInfo1.xml"/><Relationship Id="rId41" Type="http://schemas.microsoft.com/office/2015/10/relationships/revisionInfo" Target="revisionInfo.xml"/><Relationship Id="rId4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1F385C41-D70E-EC55-CC3F-15C4A1B221D0}"/>
    <pc:docChg chg="addSld delSld modSld sldOrd">
      <pc:chgData name="Jen Cousins" userId="S::jcousins@autismspectrum.org.au::e5107725-ce0a-4006-bfb3-3787c68d621c" providerId="AD" clId="Web-{1F385C41-D70E-EC55-CC3F-15C4A1B221D0}" dt="2026-08-25T01:10:16.508" v="19"/>
      <pc:docMkLst>
        <pc:docMk/>
      </pc:docMkLst>
      <pc:sldChg chg="del modNotes">
        <pc:chgData name="Jen Cousins" userId="S::jcousins@autismspectrum.org.au::e5107725-ce0a-4006-bfb3-3787c68d621c" providerId="AD" clId="Web-{1F385C41-D70E-EC55-CC3F-15C4A1B221D0}" dt="2026-08-25T01:08:56.865" v="8"/>
        <pc:sldMkLst>
          <pc:docMk/>
          <pc:sldMk cId="4255018311" sldId="698"/>
        </pc:sldMkLst>
      </pc:sldChg>
      <pc:sldChg chg="ord">
        <pc:chgData name="Jen Cousins" userId="S::jcousins@autismspectrum.org.au::e5107725-ce0a-4006-bfb3-3787c68d621c" providerId="AD" clId="Web-{1F385C41-D70E-EC55-CC3F-15C4A1B221D0}" dt="2026-08-25T01:10:13.055" v="18"/>
        <pc:sldMkLst>
          <pc:docMk/>
          <pc:sldMk cId="1113519979" sldId="727"/>
        </pc:sldMkLst>
      </pc:sldChg>
      <pc:sldChg chg="addSp delSp modNotes">
        <pc:chgData name="Jen Cousins" userId="S::jcousins@autismspectrum.org.au::e5107725-ce0a-4006-bfb3-3787c68d621c" providerId="AD" clId="Web-{1F385C41-D70E-EC55-CC3F-15C4A1B221D0}" dt="2026-08-25T01:08:47.052" v="7"/>
        <pc:sldMkLst>
          <pc:docMk/>
          <pc:sldMk cId="1172960991" sldId="826"/>
        </pc:sldMkLst>
        <pc:picChg chg="del">
          <ac:chgData name="Jen Cousins" userId="S::jcousins@autismspectrum.org.au::e5107725-ce0a-4006-bfb3-3787c68d621c" providerId="AD" clId="Web-{1F385C41-D70E-EC55-CC3F-15C4A1B221D0}" dt="2026-08-25T01:08:40.786" v="6"/>
          <ac:picMkLst>
            <pc:docMk/>
            <pc:sldMk cId="1172960991" sldId="826"/>
            <ac:picMk id="4" creationId="{AB3E49F2-B026-D882-C3AA-102576D9F00E}"/>
          </ac:picMkLst>
        </pc:picChg>
        <pc:picChg chg="add">
          <ac:chgData name="Jen Cousins" userId="S::jcousins@autismspectrum.org.au::e5107725-ce0a-4006-bfb3-3787c68d621c" providerId="AD" clId="Web-{1F385C41-D70E-EC55-CC3F-15C4A1B221D0}" dt="2026-08-25T01:08:47.052" v="7"/>
          <ac:picMkLst>
            <pc:docMk/>
            <pc:sldMk cId="1172960991" sldId="826"/>
            <ac:picMk id="9" creationId="{7DD6013A-446B-1499-20B5-B9AF58F25322}"/>
          </ac:picMkLst>
        </pc:picChg>
      </pc:sldChg>
      <pc:sldChg chg="mod modShow">
        <pc:chgData name="Jen Cousins" userId="S::jcousins@autismspectrum.org.au::e5107725-ce0a-4006-bfb3-3787c68d621c" providerId="AD" clId="Web-{1F385C41-D70E-EC55-CC3F-15C4A1B221D0}" dt="2026-08-25T01:06:51.532" v="0"/>
        <pc:sldMkLst>
          <pc:docMk/>
          <pc:sldMk cId="2583517750" sldId="848"/>
        </pc:sldMkLst>
      </pc:sldChg>
      <pc:sldChg chg="mod modShow">
        <pc:chgData name="Jen Cousins" userId="S::jcousins@autismspectrum.org.au::e5107725-ce0a-4006-bfb3-3787c68d621c" providerId="AD" clId="Web-{1F385C41-D70E-EC55-CC3F-15C4A1B221D0}" dt="2026-08-25T01:06:54.173" v="1"/>
        <pc:sldMkLst>
          <pc:docMk/>
          <pc:sldMk cId="2870829570" sldId="849"/>
        </pc:sldMkLst>
      </pc:sldChg>
      <pc:sldChg chg="mod modShow">
        <pc:chgData name="Jen Cousins" userId="S::jcousins@autismspectrum.org.au::e5107725-ce0a-4006-bfb3-3787c68d621c" providerId="AD" clId="Web-{1F385C41-D70E-EC55-CC3F-15C4A1B221D0}" dt="2026-08-25T01:06:56.282" v="2"/>
        <pc:sldMkLst>
          <pc:docMk/>
          <pc:sldMk cId="3338348027" sldId="850"/>
        </pc:sldMkLst>
      </pc:sldChg>
      <pc:sldChg chg="modSp new del">
        <pc:chgData name="Jen Cousins" userId="S::jcousins@autismspectrum.org.au::e5107725-ce0a-4006-bfb3-3787c68d621c" providerId="AD" clId="Web-{1F385C41-D70E-EC55-CC3F-15C4A1B221D0}" dt="2026-08-25T01:10:16.508" v="19"/>
        <pc:sldMkLst>
          <pc:docMk/>
          <pc:sldMk cId="1402172547" sldId="856"/>
        </pc:sldMkLst>
        <pc:spChg chg="mod">
          <ac:chgData name="Jen Cousins" userId="S::jcousins@autismspectrum.org.au::e5107725-ce0a-4006-bfb3-3787c68d621c" providerId="AD" clId="Web-{1F385C41-D70E-EC55-CC3F-15C4A1B221D0}" dt="2026-08-25T01:09:56.070" v="17" actId="20577"/>
          <ac:spMkLst>
            <pc:docMk/>
            <pc:sldMk cId="1402172547" sldId="856"/>
            <ac:spMk id="2" creationId="{ACE7100A-AA01-67AA-8501-2DC237FB90E0}"/>
          </ac:spMkLst>
        </pc:spChg>
      </pc:sldChg>
    </pc:docChg>
  </pc:docChgLst>
</pc:chgInfo>
</file>

<file path=ppt/media/copied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47314-2903-4AC0-92C3-51B05CD66CCA}" type="datetimeFigureOut">
              <a:rPr lang="en-AU" smtClean="0"/>
              <a:t>24/9/2026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B633D2-454D-487A-853A-4FC6450AE0FE}" type="slidenum">
              <a:rPr lang="en-AU" smtClean="0"/>
              <a:t>‹#›</a:t>
            </a:fld>
            <a:endParaRPr lang="en-AU"/>
          </a:p>
        </p:txBody>
      </p:sp>
    </p:spTree>
    <p:extLst>
      <p:ext uri="{BB962C8B-B14F-4D97-AF65-F5344CB8AC3E}">
        <p14:creationId xmlns:p14="http://schemas.microsoft.com/office/powerpoint/2010/main" val="2029814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0 - 3  ·  Participant Guide - Session 3 key ideas</a:t>
            </a:r>
          </a:p>
          <a:p/>
          <a:p>
            <a:r>
              <a:t>PURPOSE</a:t>
            </a:r>
          </a:p>
          <a:p>
            <a:r>
              <a:t>Reconnect with the day map and design question from last session, and shift from understanding experience to designing access in a primary classroom.</a:t>
            </a:r>
          </a:p>
          <a:p/>
          <a:p>
            <a:r>
              <a:t>WHAT TO DO</a:t>
            </a:r>
          </a:p>
          <a:p>
            <a:r>
              <a:t>1. Welcome participants back as they join. Remind them that cameras are optional and that chat, reactions, speaking, private notes or passing all count.</a:t>
            </a:r>
          </a:p>
          <a:p>
            <a:r>
              <a:t>2. Ask them to have their Participant Guide open, with the day map and Carry into design notes (Keep, Reduce, Explore) from last session to hand.</a:t>
            </a:r>
          </a:p>
          <a:p>
            <a:r>
              <a:t>3. If someone missed Session 2, they can make a quick sketch of a typical day (arrival to home time) and join a breakout partner's day map for the design work.</a:t>
            </a:r>
          </a:p>
          <a:p>
            <a:r>
              <a:t>4. Invite one or two people to share in the chat, using initials or roles only, anything they noticed since last session about the barrier they chose to reduce.</a:t>
            </a:r>
          </a:p>
          <a:p>
            <a:r>
              <a:t>5. Name the student-to-classroom direction of the session.</a:t>
            </a:r>
          </a:p>
          <a:p>
            <a:r>
              <a:t>6. Explain that the session will produce one small, testable design change that each person works on in their own Participant Guide.</a:t>
            </a:r>
          </a:p>
          <a:p>
            <a:r>
              <a:t>7. Keep the focus on environment, task and routine rather than changing the student.</a:t>
            </a:r>
          </a:p>
          <a:p/>
          <a:p>
            <a:r>
              <a:t>KEY MESSAGES</a:t>
            </a:r>
          </a:p>
          <a:p>
            <a:r>
              <a:t>• What we know about students informs design; it is not a list of deficits.</a:t>
            </a:r>
          </a:p>
          <a:p>
            <a:r>
              <a:t>• A practical change should respond to a barrier or access question.</a:t>
            </a:r>
          </a:p>
          <a:p/>
          <a:p>
            <a:r>
              <a:t>KEEP IN MIND</a:t>
            </a:r>
          </a:p>
          <a:p>
            <a:r>
              <a:t>• Remind people they can step away from the screen at any time.</a:t>
            </a:r>
          </a:p>
          <a:p>
            <a:r>
              <a:t>• Some people will have missed Session 2 and have no day map. A quick sketch of a typical day is enough; pair them with someone who has a map.</a:t>
            </a:r>
          </a:p>
          <a:p>
            <a:r>
              <a:t>• If running behind: keep each option input (slides 6 to 8) to about two minutes, and trim NCCD (slide 15) to the producer pasting the link and you reading the Disability Standards line.</a:t>
            </a:r>
          </a:p>
          <a:p/>
          <a:p>
            <a:r>
              <a:t>THREAD</a:t>
            </a:r>
          </a:p>
          <a:p>
            <a:r>
              <a:t>Picks up the primary day map, costs and lighteners and the Carry into design notes (especially "Reduce") from Online Session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3 - 5</a:t>
            </a:r>
          </a:p>
          <a:p/>
          <a:p>
            <a:r>
              <a:t>PURPOSE</a:t>
            </a:r>
          </a:p>
          <a:p>
            <a:r>
              <a:t>Set the principle that understanding real students comes before any design response.</a:t>
            </a:r>
          </a:p>
          <a:p/>
          <a:p>
            <a:r>
              <a:t>WHAT TO DO</a:t>
            </a:r>
          </a:p>
          <a:p>
            <a:r>
              <a:t>1. Point to the students participants have in mind and the day map from last session.</a:t>
            </a:r>
          </a:p>
          <a:p>
            <a:r>
              <a:t>2. Name that the session designs for one classroom routine, then checks that design against the two or three students each person has in mind.</a:t>
            </a:r>
          </a:p>
          <a:p>
            <a:r>
              <a:t>3. Remind participants to include only what is known, and to hold unknowns as questions.</a:t>
            </a:r>
          </a:p>
          <a:p>
            <a:r>
              <a:t>4. Ask participants to separate an observation from an interpretation, and a question from a conclusion.</a:t>
            </a:r>
          </a:p>
          <a:p/>
          <a:p>
            <a:r>
              <a:t>KEY MESSAGES</a:t>
            </a:r>
          </a:p>
          <a:p>
            <a:r>
              <a:t>• Understand the student before choosing a strategy.</a:t>
            </a:r>
          </a:p>
          <a:p>
            <a:r>
              <a:t>• A design brief connects what matters for students with what can change in the environment, task or routine.</a:t>
            </a:r>
          </a:p>
          <a:p>
            <a:r>
              <a:t>• Unknowns remain questions for consultation.</a:t>
            </a:r>
          </a:p>
          <a:p/>
          <a:p>
            <a:r>
              <a:t>KEEP IN MIND</a:t>
            </a:r>
          </a:p>
          <a:p>
            <a:r>
              <a:t>• Do not use what is known about students to diagnose, rank or reduce them to support needs.</a:t>
            </a:r>
          </a:p>
          <a:p>
            <a:r>
              <a:t>• Initials or roles only in the chat and in breakout rooms.</a:t>
            </a:r>
          </a:p>
          <a:p/>
          <a:p>
            <a:r>
              <a:t>THREAD</a:t>
            </a:r>
          </a:p>
          <a:p>
            <a:r>
              <a:t>Draws on the day map from Online Session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5 - 7</a:t>
            </a:r>
          </a:p>
          <a:p/>
          <a:p>
            <a:r>
              <a:t>PURPOSE</a:t>
            </a:r>
          </a:p>
          <a:p>
            <a:r>
              <a:t>A quick reminder to hold a concise picture of each student in mind while designing.</a:t>
            </a:r>
          </a:p>
          <a:p/>
          <a:p>
            <a:r>
              <a:t>WHAT TO DO</a:t>
            </a:r>
          </a:p>
          <a:p>
            <a:r>
              <a:t>1. Keep this to about one to two minutes.</a:t>
            </a:r>
          </a:p>
          <a:p>
            <a:r>
              <a:t>2. Run through the areas on the slide as prompts, not a form to fill in.</a:t>
            </a:r>
          </a:p>
          <a:p>
            <a:r>
              <a:t>3. Invite participants to jot private notes if it helps; nothing here is shared.</a:t>
            </a:r>
          </a:p>
          <a:p>
            <a:r>
              <a:t>4. Name that participants will come back to these students later in the session, in the private check.</a:t>
            </a:r>
          </a:p>
          <a:p/>
          <a:p>
            <a:r>
              <a:t>KEY MESSAGES</a:t>
            </a:r>
          </a:p>
          <a:p>
            <a:r>
              <a:t>• You are not building a file on one child. Keep real, different students in view as you design.</a:t>
            </a:r>
          </a:p>
          <a:p>
            <a:r>
              <a:t>• Include strengths, interests and joy, communication, sensory experience, thinking, costs, lighteners, identity and belonging only where these are known or framed as questions.</a:t>
            </a:r>
          </a:p>
          <a:p/>
          <a:p>
            <a:r>
              <a:t>KEEP IN MIND</a:t>
            </a:r>
          </a:p>
          <a:p>
            <a:r>
              <a:t>• Do not use this to diagnose, rank or reduce students to support needs.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7 min  ·  minutes 7 - 14  ·  Participant Guide - My brief</a:t>
            </a:r>
          </a:p>
          <a:p/>
          <a:p>
            <a:r>
              <a:t>PURPOSE</a:t>
            </a:r>
          </a:p>
          <a:p>
            <a:r>
              <a:t>Each person chooses one routine they know well and writes an environment-first design brief for it.</a:t>
            </a:r>
          </a:p>
          <a:p/>
          <a:p>
            <a:r>
              <a:t>WHAT TO DO</a:t>
            </a:r>
          </a:p>
          <a:p>
            <a:r>
              <a:t>1. Ask the producer to paste the three stems into the chat.</a:t>
            </a:r>
          </a:p>
          <a:p>
            <a:r>
              <a:t>2. Ask each person to choose one routine they know well: a rotation, a transition or a whole-class routine. It may come from their "Reduce" note last session.</a:t>
            </a:r>
          </a:p>
          <a:p>
            <a:r>
              <a:t>3. Give about five minutes to complete the three stems in the Participant Guide.</a:t>
            </a:r>
          </a:p>
          <a:p>
            <a:r>
              <a:t>4. Check that the brief points to something within educator or school influence.</a:t>
            </a:r>
          </a:p>
          <a:p>
            <a:r>
              <a:t>5. Prompt participants to remove any wording that blames or labels students.</a:t>
            </a:r>
          </a:p>
          <a:p>
            <a:r>
              <a:t>6. Invite one or two people to paste their "We could change..." line into the chat, and read one aloud.</a:t>
            </a:r>
          </a:p>
          <a:p/>
          <a:p>
            <a:r>
              <a:t>KEY MESSAGES</a:t>
            </a:r>
          </a:p>
          <a:p>
            <a:r>
              <a:t>• A design brief connects what matters for students with what can change in the environment, task or routine.</a:t>
            </a:r>
          </a:p>
          <a:p>
            <a:r>
              <a:t>• Unknowns remain questions for consultation.</a:t>
            </a:r>
          </a:p>
          <a:p/>
          <a:p>
            <a:r>
              <a:t>ACTIVITY: Individual design brief in the Participant Guide, with optional chat share  ·  on your own  ·  7 minutes (about 5 minutes writing, 2 minutes chat share)</a:t>
            </a:r>
          </a:p>
          <a:p>
            <a:r>
              <a:t>Prompt: Choose one routine you know well, then write an environment-first brief.</a:t>
            </a:r>
          </a:p>
          <a:p>
            <a:r>
              <a:t>1. Choose one routine you know well: a rotation, a transition or a whole-class routine.</a:t>
            </a:r>
          </a:p>
          <a:p>
            <a:r>
              <a:t>2. Complete: "This routine asks students to..."</a:t>
            </a:r>
          </a:p>
          <a:p>
            <a:r>
              <a:t>3. Complete: "For some students, that means..."</a:t>
            </a:r>
          </a:p>
          <a:p>
            <a:r>
              <a:t>4. Complete: "We could change..."</a:t>
            </a:r>
          </a:p>
          <a:p>
            <a:r>
              <a:t>5. Check the wording: is it specific, workable and free from blame or deficit labels?</a:t>
            </a:r>
          </a:p>
          <a:p>
            <a:r>
              <a:t>Bring the room back:</a:t>
            </a:r>
          </a:p>
          <a:p>
            <a:r>
              <a:t>• Optional: paste your "We could change..." line into the chat.</a:t>
            </a:r>
          </a:p>
          <a:p>
            <a:r>
              <a:t>Close: Keep this one brief active for the rest of the session.</a:t>
            </a:r>
          </a:p>
          <a:p/>
          <a:p>
            <a:r>
              <a:t>KEEP IN MIND</a:t>
            </a:r>
          </a:p>
          <a:p>
            <a:r>
              <a:t>• Watch for observation drifting into interpretation, or questions presented as conclusions.</a:t>
            </a:r>
          </a:p>
          <a:p/>
          <a:p>
            <a:r>
              <a:t>BACKGROUND</a:t>
            </a:r>
          </a:p>
          <a:p>
            <a:r>
              <a:t>If someone has no suitable routine in mind, offer the approved composite primary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14 - 16</a:t>
            </a:r>
          </a:p>
          <a:p/>
          <a:p>
            <a:r>
              <a:t>PURPOSE</a:t>
            </a:r>
          </a:p>
          <a:p>
            <a:r>
              <a:t>Frame the short inputs as a menu that participants listen to with their brief in front of them.</a:t>
            </a:r>
          </a:p>
          <a:p/>
          <a:p>
            <a:r>
              <a:t>WHAT TO DO</a:t>
            </a:r>
          </a:p>
          <a:p>
            <a:r>
              <a:t>1. Ask participants to keep their brief visible, in the Participant Guide or on screen beside Zoom.</a:t>
            </a:r>
          </a:p>
          <a:p>
            <a:r>
              <a:t>2. Ask them to listen for which option might answer "This routine asks students to..."</a:t>
            </a:r>
          </a:p>
          <a:p>
            <a:r>
              <a:t>3. Name the four options: executive functioning supports, predictability, schedules and visual supports. Schedules is option 3 and sits on the Predictability slide (slide 7): a schedule makes sequence, timing and change visible.</a:t>
            </a:r>
          </a:p>
          <a:p>
            <a:r>
              <a:t>4. Keep each of the following inputs to about three minutes.</a:t>
            </a:r>
          </a:p>
          <a:p>
            <a:r>
              <a:t>5. Invite people to note in the chat which option they are leaning towards, if they wish.</a:t>
            </a:r>
          </a:p>
          <a:p/>
          <a:p>
            <a:r>
              <a:t>KEY MESSAGES</a:t>
            </a:r>
          </a:p>
          <a:p>
            <a:r>
              <a:t>• Listen for what might answer your brief.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16 - 19</a:t>
            </a:r>
          </a:p>
          <a:p/>
          <a:p>
            <a:r>
              <a:t>PURPOSE</a:t>
            </a:r>
          </a:p>
          <a:p>
            <a:r>
              <a:t>Option 1 of 4: executive functioning supports matched to a known demand.</a:t>
            </a:r>
          </a:p>
          <a:p/>
          <a:p>
            <a:r>
              <a:t>WHAT TO DO</a:t>
            </a:r>
          </a:p>
          <a:p>
            <a:r>
              <a:t>1. Keep this input to about three minutes.</a:t>
            </a:r>
          </a:p>
          <a:p>
            <a:r>
              <a:t>2. Use support examples only.</a:t>
            </a:r>
          </a:p>
          <a:p>
            <a:r>
              <a:t>3. Link examples to the day map and each person's brief rather than presenting a strategy checklist.</a:t>
            </a:r>
          </a:p>
          <a:p>
            <a:r>
              <a:t>4. Ask which task demands are being supported and how students can show whether the support helps.</a:t>
            </a:r>
          </a:p>
          <a:p>
            <a:r>
              <a:t>5. Optional: invite one example in the chat of a first step that could be made visible.</a:t>
            </a:r>
          </a:p>
          <a:p/>
          <a:p>
            <a:r>
              <a:t>KEY MESSAGES</a:t>
            </a:r>
          </a:p>
          <a:p>
            <a:r>
              <a:t>• Support should answer a known demand or question.</a:t>
            </a:r>
          </a:p>
          <a:p>
            <a:r>
              <a:t>• Students' experience helps determine whether a support is useful.</a:t>
            </a:r>
          </a:p>
          <a:p>
            <a:r>
              <a:t>• A support should reduce unnecessary demand rather than increase compliance pressure.</a:t>
            </a:r>
          </a:p>
          <a:p/>
          <a:p>
            <a:r>
              <a:t>KEEP IN MIND</a:t>
            </a:r>
          </a:p>
          <a:p>
            <a:r>
              <a:t>• Avoid assuming that the same support works across students or contexts.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19 - 22</a:t>
            </a:r>
          </a:p>
          <a:p/>
          <a:p>
            <a:r>
              <a:t>PURPOSE</a:t>
            </a:r>
          </a:p>
          <a:p>
            <a:r>
              <a:t>Options 2 and 3 of 4: predictability as access to information about routine and change, and schedules as one way to make sequence and change visible.</a:t>
            </a:r>
          </a:p>
          <a:p/>
          <a:p>
            <a:r>
              <a:t>WHAT TO DO</a:t>
            </a:r>
          </a:p>
          <a:p>
            <a:r>
              <a:t>1. Keep this input to about three minutes.</a:t>
            </a:r>
          </a:p>
          <a:p>
            <a:r>
              <a:t>2. Frame predictability as access to information, not making every day the same or removing unexpected change.</a:t>
            </a:r>
          </a:p>
          <a:p>
            <a:r>
              <a:t>3. Draw attention to how much information in a primary school day is spoken, implied or held by adults.</a:t>
            </a:r>
          </a:p>
          <a:p>
            <a:r>
              <a:t>4. Connect back to the day map from last session: when something in the day changes, how do students find out?</a:t>
            </a:r>
          </a:p>
          <a:p>
            <a:r>
              <a:t>5. Use the four questions on the slide to examine what information is available to students.</a:t>
            </a:r>
          </a:p>
          <a:p>
            <a:r>
              <a:t>6. Point to the Schedules line (option 3): a schedule makes sequence, timing and change visible. Use the example on the slide: when assembly moves earlier, move its card on the class visual schedule and point it out at the start of the day.</a:t>
            </a:r>
          </a:p>
          <a:p>
            <a:r>
              <a:t>7. If needed, extend the assembly example with the questions below.</a:t>
            </a:r>
          </a:p>
          <a:p/>
          <a:p>
            <a:r>
              <a:t>YOU MIGHT SAY</a:t>
            </a:r>
          </a:p>
          <a:p>
            <a:r>
              <a:t>If I couldn't rely on remembering what someone had told me, how would I know what was happening in this classroom?</a:t>
            </a:r>
          </a:p>
          <a:p>
            <a:r>
              <a:t>Predictability is not the absence of change. It includes having accessible information when change happens.</a:t>
            </a:r>
          </a:p>
          <a:p/>
          <a:p>
            <a:r>
              <a:t>KEY MESSAGES</a:t>
            </a:r>
          </a:p>
          <a:p>
            <a:r>
              <a:t>• Predictability is access to information, not a promise that nothing will change.</a:t>
            </a:r>
          </a:p>
          <a:p>
            <a:r>
              <a:t>• Clear information about change can be just as important as information about routine.</a:t>
            </a:r>
          </a:p>
          <a:p>
            <a:r>
              <a:t>• Schedules make sequence, timing and change visible, including when the plan changes.</a:t>
            </a:r>
          </a:p>
          <a:p>
            <a:r>
              <a:t>• A visual support is an option, not a universal prescription.</a:t>
            </a:r>
          </a:p>
          <a:p>
            <a:r>
              <a:t>• Useful supports are reviewed through experience and feedback.</a:t>
            </a:r>
          </a:p>
          <a:p/>
          <a:p>
            <a:r>
              <a:t>BACKGROUND</a:t>
            </a:r>
          </a:p>
          <a:p>
            <a:r>
              <a:t>Primary example if needed: assembly is moved earlier than usual. How will students know the plan has changed? Is the change on their schedule or support? Can they return to that information? Can they see what happens next? Do they have an accessible way to ask a question or say they need more information or support? Students may otherwise be expected to listen, remember, infer or ask in order to know what is happening.</a:t>
            </a:r>
          </a:p>
          <a:p/>
          <a:p>
            <a:r>
              <a:t>THREAD</a:t>
            </a:r>
          </a:p>
          <a:p>
            <a:r>
              <a:t>Links back to the day map and school-day stack from Online Session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22 - 25  ·  Participant Guide - Quick review of a visual support</a:t>
            </a:r>
          </a:p>
          <a:p/>
          <a:p>
            <a:r>
              <a:t>PURPOSE</a:t>
            </a:r>
          </a:p>
          <a:p>
            <a:r>
              <a:t>Option 4 of 4: visual supports that clarify what students need to find, understand, remember or communicate.</a:t>
            </a:r>
          </a:p>
          <a:p/>
          <a:p>
            <a:r>
              <a:t>WHAT TO DO</a:t>
            </a:r>
          </a:p>
          <a:p>
            <a:r>
              <a:t>1. Keep this input to about three minutes.</a:t>
            </a:r>
          </a:p>
          <a:p>
            <a:r>
              <a:t>2. Start with what information students need, not with a particular visual tool.</a:t>
            </a:r>
          </a:p>
          <a:p>
            <a:r>
              <a:t>3. Note that a support is not automatically accessible because it is visual: check students understand what it represents and can use it.</a:t>
            </a:r>
          </a:p>
          <a:p>
            <a:r>
              <a:t>4. Link back to receptive and expressive communication: a visual support may help a student understand, while AAC gives ways to communicate.</a:t>
            </a:r>
          </a:p>
          <a:p>
            <a:r>
              <a:t>5. For students who use AAC, ask how information is made accessible and how they can respond; keep their communication system available during routines, transitions and changes.</a:t>
            </a:r>
          </a:p>
          <a:p>
            <a:r>
              <a:t>6. Use the four quick-review questions on the slide to review an example briefly.</a:t>
            </a:r>
          </a:p>
          <a:p>
            <a:r>
              <a:t>7. Ask the producer to paste details of the Visual Supports Checklist and the webinar into the chat once confirmed.</a:t>
            </a:r>
          </a:p>
          <a:p/>
          <a:p>
            <a:r>
              <a:t>YOU MIGHT SAY</a:t>
            </a:r>
          </a:p>
          <a:p>
            <a:r>
              <a:t>We're introducing some key principles around visual supports here, but this is a much bigger area than we can cover in this part of the session. You'll have access to a Visual Supports Checklist to help you think through supports in your own setting. There is also an online webinar that explores visual supports in greater depth if you'd like to extend your learning.</a:t>
            </a:r>
          </a:p>
          <a:p>
            <a:r>
              <a:t>What information does the student need here, and how can they respond?</a:t>
            </a:r>
          </a:p>
          <a:p/>
          <a:p>
            <a:r>
              <a:t>KEY MESSAGES</a:t>
            </a:r>
          </a:p>
          <a:p>
            <a:r>
              <a:t>• A visual support is useful only when it improves access for the intended student or group.</a:t>
            </a:r>
          </a:p>
          <a:p>
            <a:r>
              <a:t>• Visual supports should support access, communication and agency, not simply compliance.</a:t>
            </a:r>
          </a:p>
          <a:p>
            <a:r>
              <a:t>• Start with what the student needs to know and how they can respond, rather than which visual you want to use.</a:t>
            </a:r>
          </a:p>
          <a:p/>
          <a:p>
            <a:r>
              <a:t>KEEP IN MIND</a:t>
            </a:r>
          </a:p>
          <a:p>
            <a:r>
              <a:t>• Avoid prescribing one format for all Autistic students.</a:t>
            </a:r>
          </a:p>
          <a:p>
            <a:r>
              <a:t>• Do not assume access to AAC means spoken instructions, schedules or changes are automatically understood.</a:t>
            </a:r>
          </a:p>
          <a:p>
            <a:r>
              <a:t>• Do not read the absence of a spoken response as absence of understanding, preference, opinion or a response.</a:t>
            </a:r>
          </a:p>
          <a:p/>
          <a:p>
            <a:r>
              <a:t>BACKGROUND</a:t>
            </a:r>
          </a:p>
          <a:p>
            <a:r>
              <a:t>Examples of visual supports include objects, photographs, symbols, written words, checklists, maps, choice supports and visual schedules. Visual information can sit alongside spoken communication rather than replacing it. The checklist prompts: Purpose, Meaning, Access, The real day, Communication and agency, Review. Its closing question: Does this support give this student useful information they can understand, access and act on?</a:t>
            </a:r>
          </a:p>
          <a:p/>
          <a:p>
            <a:r>
              <a:t>THREAD</a:t>
            </a:r>
          </a:p>
          <a:p>
            <a:r>
              <a:t>Links back to receptive and expressive communication from Online Session 2.</a:t>
            </a:r>
          </a:p>
          <a:p/>
          <a:p>
            <a:r>
              <a:t>RESOURCES</a:t>
            </a:r>
          </a:p>
          <a:p>
            <a:r>
              <a:t>Visual Supports Checklist - link to confirm</a:t>
            </a:r>
          </a:p>
          <a:p>
            <a:r>
              <a:t>Online webinar on visual supports - link to confirm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25 - 27</a:t>
            </a:r>
          </a:p>
          <a:p/>
          <a:p>
            <a:r>
              <a:t>PURPOSE</a:t>
            </a:r>
          </a:p>
          <a:p>
            <a:r>
              <a:t>Frame a Universal Design for Learning lens before each person's accessibility check.</a:t>
            </a:r>
          </a:p>
          <a:p/>
          <a:p>
            <a:r>
              <a:t>WHAT TO DO</a:t>
            </a:r>
          </a:p>
          <a:p>
            <a:r>
              <a:t>1. Keep this input to about two minutes.</a:t>
            </a:r>
          </a:p>
          <a:p>
            <a:r>
              <a:t>2. Introduce Universal Design for Learning using the three points on the slide.</a:t>
            </a:r>
          </a:p>
          <a:p>
            <a:r>
              <a:t>3. Ask participants to hold their emerging design in mind as you go: which point does it already meet?</a:t>
            </a:r>
          </a:p>
          <a:p>
            <a:r>
              <a:t>4. Name that individual knowledge and universal design can inform each other.</a:t>
            </a:r>
          </a:p>
          <a:p/>
          <a:p>
            <a:r>
              <a:t>KEY MESSAGES</a:t>
            </a:r>
          </a:p>
          <a:p>
            <a:r>
              <a:t>• Universal design and individual knowledge can inform each other.</a:t>
            </a:r>
          </a:p>
          <a:p>
            <a:r>
              <a:t>• The presence of a resource does not guarantee access.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27 - 31  ·  Participant Guide - Accessibility check</a:t>
            </a:r>
          </a:p>
          <a:p/>
          <a:p>
            <a:r>
              <a:t>PURPOSE</a:t>
            </a:r>
          </a:p>
          <a:p>
            <a:r>
              <a:t>Each person tests their draft design against four accessibility questions.</a:t>
            </a:r>
          </a:p>
          <a:p/>
          <a:p>
            <a:r>
              <a:t>WHAT TO DO</a:t>
            </a:r>
          </a:p>
          <a:p>
            <a:r>
              <a:t>1. Ask participants to choose one or two options from the menu, tick them in Options I chose in the Participant Guide, and add them to their brief as a draft design.</a:t>
            </a:r>
          </a:p>
          <a:p>
            <a:r>
              <a:t>2. Ask them to run the four questions over their draft design and tick each in the Participant Guide.</a:t>
            </a:r>
          </a:p>
          <a:p>
            <a:r>
              <a:t>3. Where the answer is "not yet", ask them to adjust the design before moving on.</a:t>
            </a:r>
          </a:p>
          <a:p>
            <a:r>
              <a:t>4. Ask whether participation, help, pause and recovery are available in more than one way.</a:t>
            </a:r>
          </a:p>
          <a:p>
            <a:r>
              <a:t>5. Offer a reaction (for example a thumbs up) when people are ready to move on.</a:t>
            </a:r>
          </a:p>
          <a:p/>
          <a:p>
            <a:r>
              <a:t>KEY MESSAGES</a:t>
            </a:r>
          </a:p>
          <a:p>
            <a:r>
              <a:t>• Accessibility is tested through use and feedback, not assumed from the presence of a resource.</a:t>
            </a:r>
          </a:p>
          <a:p/>
          <a:p>
            <a:r>
              <a:t>ACTIVITY: Individual check in the Participant Guide  ·  on your own  ·  about 4 minutes</a:t>
            </a:r>
          </a:p>
          <a:p>
            <a:r>
              <a:t>Prompt: Run these over your draft design, then test it through use and feedback.</a:t>
            </a:r>
          </a:p>
          <a:p>
            <a:r>
              <a:t>1. Can students find and understand what they need?</a:t>
            </a:r>
          </a:p>
          <a:p>
            <a:r>
              <a:t>2. Can they take part in more than one way?</a:t>
            </a:r>
          </a:p>
          <a:p>
            <a:r>
              <a:t>3. Can they pause, ask for help or recover?</a:t>
            </a:r>
          </a:p>
          <a:p>
            <a:r>
              <a:t>4. Is the support available when demand increases?</a:t>
            </a:r>
          </a:p>
          <a:p>
            <a:r>
              <a:t>5. Where the answer is "not yet", adjust the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12 min  ·  minutes 31 - 43  ·  Participant Guide - My design</a:t>
            </a:r>
          </a:p>
          <a:p/>
          <a:p>
            <a:r>
              <a:t>PURPOSE</a:t>
            </a:r>
          </a:p>
          <a:p>
            <a:r>
              <a:t>Each person develops one practical change to their routine, ready to try and review, then checks it with a breakout partner.</a:t>
            </a:r>
          </a:p>
          <a:p/>
          <a:p>
            <a:r>
              <a:t>WHAT TO DO</a:t>
            </a:r>
          </a:p>
          <a:p>
            <a:r>
              <a:t>1. Ask the producer to paste the five steps and the pair-check question into the chat before breakouts open.</a:t>
            </a:r>
          </a:p>
          <a:p>
            <a:r>
              <a:t>2. Give about seven minutes for each person to work through the five steps in the Participant Guide.</a:t>
            </a:r>
          </a:p>
          <a:p>
            <a:r>
              <a:t>3. Ask them to name the barrier or demand before choosing a strategy.</a:t>
            </a:r>
          </a:p>
          <a:p>
            <a:r>
              <a:t>4. Prompt them to identify what can change in the environment, task, information, timing or routine, and to keep the change small enough to try and observe.</a:t>
            </a:r>
          </a:p>
          <a:p>
            <a:r>
              <a:t>5. Producer opens breakout pairs for about five minutes: each person has two minutes to explain their change and hear one question back. Send a one-minute warning.</a:t>
            </a:r>
          </a:p>
          <a:p>
            <a:r>
              <a:t>6. Remind pairs to use initials or roles only. Breakout rooms are not recorded.</a:t>
            </a:r>
          </a:p>
          <a:p>
            <a:r>
              <a:t>7. Main-room alternative: stay together and invite a three-part chat check (barrier, change, review); read one or two and invite refinements without identifying the context.</a:t>
            </a:r>
          </a:p>
          <a:p/>
          <a:p>
            <a:r>
              <a:t>KEY MESSAGES</a:t>
            </a:r>
          </a:p>
          <a:p>
            <a:r>
              <a:t>• The measure of success should be access, not compliance.</a:t>
            </a:r>
          </a:p>
          <a:p>
            <a:r>
              <a:t>• The change should be specific, workable and reviewable.</a:t>
            </a:r>
          </a:p>
          <a:p/>
          <a:p>
            <a:r>
              <a:t>ACTIVITY: Individual design in the Participant Guide, with a breakout-pair check  ·  on your own, then breakout pairs  ·  12 minutes (about 7 minutes design, 5 minutes pair check)</a:t>
            </a:r>
          </a:p>
          <a:p>
            <a:r>
              <a:t>Prompt: Develop the change in your Participant Guide.</a:t>
            </a:r>
          </a:p>
          <a:p>
            <a:r>
              <a:t>1. State the barrier or unnecessary demand.</a:t>
            </a:r>
          </a:p>
          <a:p>
            <a:r>
              <a:t>2. Change the environment, task or routine.</a:t>
            </a:r>
          </a:p>
          <a:p>
            <a:r>
              <a:t>3. Include students' communication and experience.</a:t>
            </a:r>
          </a:p>
          <a:p>
            <a:r>
              <a:t>4. Decide what you will observe.</a:t>
            </a:r>
          </a:p>
          <a:p>
            <a:r>
              <a:t>5. Set a time to review.</a:t>
            </a:r>
          </a:p>
          <a:p>
            <a:r>
              <a:t>6. In a breakout pair, check the design remains student-centred.</a:t>
            </a:r>
          </a:p>
          <a:p>
            <a:r>
              <a:t>Bring the room back:</a:t>
            </a:r>
          </a:p>
          <a:p>
            <a:r>
              <a:t>• Does the change respond to the barrier you named?</a:t>
            </a:r>
          </a:p>
          <a:p>
            <a:r>
              <a:t>• Is it small enough to try?</a:t>
            </a:r>
          </a:p>
          <a:p>
            <a:r>
              <a:t>Close: Keep a one-sentence description of the change and the access question it addresses.</a:t>
            </a:r>
          </a:p>
          <a:p/>
          <a:p>
            <a:r>
              <a:t>KEEP IN MIND</a:t>
            </a:r>
          </a:p>
          <a:p>
            <a:r>
              <a:t>• Avoid making students' compliance the success measure.</a:t>
            </a:r>
          </a:p>
          <a:p>
            <a:r>
              <a:t>• Some people will prefer not to go to a breakout. Let them stay in the main room with the chat option.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5 min  ·  minutes 43 - 48  ·  Participant Guide - My students check</a:t>
            </a:r>
          </a:p>
          <a:p/>
          <a:p>
            <a:r>
              <a:t>PURPOSE</a:t>
            </a:r>
          </a:p>
          <a:p>
            <a:r>
              <a:t>Each person privately tests their design against each of the students they have in mind.</a:t>
            </a:r>
          </a:p>
          <a:p/>
          <a:p>
            <a:r>
              <a:t>WHAT TO DO</a:t>
            </a:r>
          </a:p>
          <a:p>
            <a:r>
              <a:t>1. Welcome people back from breakouts.</a:t>
            </a:r>
          </a:p>
          <a:p>
            <a:r>
              <a:t>2. Ask each person to use the My students check in their Participant Guide, privately.</a:t>
            </a:r>
          </a:p>
          <a:p>
            <a:r>
              <a:t>3. Ask them to mark each student (Student A, B, C) as Helps, No difference or Needs something more.</a:t>
            </a:r>
          </a:p>
          <a:p>
            <a:r>
              <a:t>4. Name that across the group there are many real students being checked against these designs: this is where the broad, mixed picture of autism shows up.</a:t>
            </a:r>
          </a:p>
          <a:p>
            <a:r>
              <a:t>5. Invite people to share in the chat only what they choose, for example how many "needs something more" marks their design collected, without describing students.</a:t>
            </a:r>
          </a:p>
          <a:p>
            <a:r>
              <a:t>6. Invite one or two examples of "needs something more" to open the continuum discussion.</a:t>
            </a:r>
          </a:p>
          <a:p/>
          <a:p>
            <a:r>
              <a:t>KEY MESSAGES</a:t>
            </a:r>
          </a:p>
          <a:p>
            <a:r>
              <a:t>• Where the design still doesn't work for someone, that is where targeted or individual support begins.</a:t>
            </a:r>
          </a:p>
          <a:p>
            <a:r>
              <a:t>• One design will work differently for different Autistic students.</a:t>
            </a:r>
          </a:p>
          <a:p/>
          <a:p>
            <a:r>
              <a:t>ACTIVITY: Private check in the Participant Guide  ·  on your own  ·  5 minutes</a:t>
            </a:r>
          </a:p>
          <a:p>
            <a:r>
              <a:t>Prompt: Privately, test your design against each of your students.</a:t>
            </a:r>
          </a:p>
          <a:p>
            <a:r>
              <a:t>1. List your students as Student A, B and C.</a:t>
            </a:r>
          </a:p>
          <a:p>
            <a:r>
              <a:t>2. Mark each: Helps, No difference or Needs something more.</a:t>
            </a:r>
          </a:p>
          <a:p>
            <a:r>
              <a:t>3. Share in the chat only what you choose.</a:t>
            </a:r>
          </a:p>
          <a:p>
            <a:r>
              <a:t>Bring the room back:</a:t>
            </a:r>
          </a:p>
          <a:p>
            <a:r>
              <a:t>• How many "needs something more" marks did your design collect?</a:t>
            </a:r>
          </a:p>
          <a:p>
            <a:r>
              <a:t>Close: Where it helps, the universal design is doing its job. Where it makes no difference or a student needs something more, that leads into the continuum of support.</a:t>
            </a:r>
          </a:p>
          <a:p/>
          <a:p>
            <a:r>
              <a:t>KEEP IN MIND</a:t>
            </a:r>
          </a:p>
          <a:p>
            <a:r>
              <a:t>• Keep it private: no names or identifying details, initials or letters only.</a:t>
            </a:r>
          </a:p>
          <a:p/>
          <a:p>
            <a:r>
              <a:t>BACKGROUND</a:t>
            </a:r>
          </a:p>
          <a:p>
            <a:r>
              <a:t>This keeps individual students in view without building a profile of one child.</a:t>
            </a:r>
          </a:p>
          <a:p/>
          <a:p>
            <a:r>
              <a:t>THREAD</a:t>
            </a:r>
          </a:p>
          <a:p>
            <a:r>
              <a:t>Leads straight into the continuum of support.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48 - 52</a:t>
            </a:r>
          </a:p>
          <a:p/>
          <a:p>
            <a:r>
              <a:t>PURPOSE</a:t>
            </a:r>
          </a:p>
          <a:p>
            <a:r>
              <a:t>Show what happens when the check shows "needs something more": a continuum from inclusive environment to individual adjustments.</a:t>
            </a:r>
          </a:p>
          <a:p/>
          <a:p>
            <a:r>
              <a:t>WHAT TO DO</a:t>
            </a:r>
          </a:p>
          <a:p>
            <a:r>
              <a:t>1. Open from the "needs something more" examples just shared in the chat.</a:t>
            </a:r>
          </a:p>
          <a:p>
            <a:r>
              <a:t>2. Walk the four layers: inclusive environment, universal supports, targeted supports, individual adjustments.</a:t>
            </a:r>
          </a:p>
          <a:p>
            <a:r>
              <a:t>3. Use one example per layer from the background below.</a:t>
            </a:r>
          </a:p>
          <a:p>
            <a:r>
              <a:t>4. Ask what is available to everyone, what is targeted and what is individually adjusted.</a:t>
            </a:r>
          </a:p>
          <a:p>
            <a:r>
              <a:t>5. Connect adjustments to evidence from the day map, consultation and the design process.</a:t>
            </a:r>
          </a:p>
          <a:p/>
          <a:p>
            <a:r>
              <a:t>KEY MESSAGES</a:t>
            </a:r>
          </a:p>
          <a:p>
            <a:r>
              <a:t>• Support is a continuum rather than a single intervention.</a:t>
            </a:r>
          </a:p>
          <a:p>
            <a:r>
              <a:t>• Academic adjustments respond to access and participation needs.</a:t>
            </a:r>
          </a:p>
          <a:p>
            <a:r>
              <a:t>• Each response should connect to access and participation needs and be reviewed through use and feedback.</a:t>
            </a:r>
          </a:p>
          <a:p/>
          <a:p>
            <a:r>
              <a:t>KEEP IN MIND</a:t>
            </a:r>
          </a:p>
          <a:p>
            <a:r>
              <a:t>• Do not imply that diagnosis alone determines an adjustment.</a:t>
            </a:r>
          </a:p>
          <a:p/>
          <a:p>
            <a:r>
              <a:t>BACKGROUND</a:t>
            </a:r>
          </a:p>
          <a:p>
            <a:r>
              <a:t>Inclusive environment: predictable routines, visual schedules, clear expectations, and a classroom culture where different ways of participating are accepted and valued. Universal supports: instructions in verbal, written and visual forms, flexible ways to demonstrate learning, movement breaks, sensory tools available to any student. Targeted supports: a small group receives pre-teaching of key vocabulary, a structured organisation checklist or additional executive functioning supports during independent work. Individual adjustments: a personalised adjustment plan, for example a quieter workspace during assessments, additional processing time, a visual task breakdown and alternative ways to demonstrate learning.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52 - 54</a:t>
            </a:r>
          </a:p>
          <a:p/>
          <a:p>
            <a:r>
              <a:t>PURPOSE</a:t>
            </a:r>
          </a:p>
          <a:p>
            <a:r>
              <a:t>Place reasonable adjustments and NCCD levels of adjustment within the layers of inclusive design.</a:t>
            </a:r>
          </a:p>
          <a:p/>
          <a:p>
            <a:r>
              <a:t>WHAT TO DO</a:t>
            </a:r>
          </a:p>
          <a:p>
            <a:r>
              <a:t>1. Walk the funnel from environmental design and UDL through quality differentiated teaching practice (an NCCD level of adjustment) to supplementary, substantial and extensive adjustments (the other three NCCD levels of adjustment).</a:t>
            </a:r>
          </a:p>
          <a:p>
            <a:r>
              <a:t>2. Give the definition of reasonable adjustments below.</a:t>
            </a:r>
          </a:p>
          <a:p>
            <a:r>
              <a:t>3. Distinguish reasonable adjustments (the support actions) from the NCCD (the process for collecting information about them).</a:t>
            </a:r>
          </a:p>
          <a:p/>
          <a:p>
            <a:r>
              <a:t>YOU MIGHT SAY</a:t>
            </a:r>
          </a:p>
          <a:p>
            <a:r>
              <a:t>Reasonable adjustments are changes or supports that help students access and participate in education in a way that works for them.</a:t>
            </a:r>
          </a:p>
          <a:p/>
          <a:p>
            <a:r>
              <a:t>KEY MESSAGES</a:t>
            </a:r>
          </a:p>
          <a:p>
            <a:r>
              <a:t>• Adjustments are individualised, strengths based, remove barriers, practical and effective, based on informed decision making, and empowering and enabling.</a:t>
            </a:r>
          </a:p>
          <a:p>
            <a:r>
              <a:t>• Supports and adjustments build student capability, confidence, self-advocacy and independence, not dependence on adults.</a:t>
            </a:r>
          </a:p>
          <a:p/>
          <a:p>
            <a:r>
              <a:t>KEEP IN MIND</a:t>
            </a:r>
          </a:p>
          <a:p>
            <a:r>
              <a:t>• Do not give legal advice or present the session as a substitute for school or system processes.</a:t>
            </a:r>
          </a:p>
          <a:p/>
          <a:p>
            <a:r>
              <a:t>BACKGROUND</a:t>
            </a:r>
          </a:p>
          <a:p>
            <a:r>
              <a:t>Adjustments align to the curriculum. Schools consider the needs of the student as well as the impact on staff, other students and available resources. A student is included in the NCCD when they have a disability as defined under the Disability Discrimination Act (DDA), the school has provided reasonable adjustments to address their educational needs, and evidence exists that the adjustments have been provided and monitored. The NCCD helps schools demonstrate compliance with the DSE, monitor the effectiveness of adjustments, ensure students receive appropriate support, and inform planning and resource allocation.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54 - 56</a:t>
            </a:r>
          </a:p>
          <a:p/>
          <a:p>
            <a:r>
              <a:t>PURPOSE</a:t>
            </a:r>
          </a:p>
          <a:p>
            <a:r>
              <a:t>Direct participants to current official NCCD information and their local processes.</a:t>
            </a:r>
          </a:p>
          <a:p/>
          <a:p>
            <a:r>
              <a:t>WHAT TO DO</a:t>
            </a:r>
          </a:p>
          <a:p>
            <a:r>
              <a:t>1. Ask the producer to paste current official NCCD information into the chat.</a:t>
            </a:r>
          </a:p>
          <a:p>
            <a:r>
              <a:t>2. Connect the NCCD discussion with reasonable adjustments and evidence.</a:t>
            </a:r>
          </a:p>
          <a:p>
            <a:r>
              <a:t>3. Read the line on the slide: under the Disability Standards for Education 2005, schools must consult the student, or an associate such as a parent or carer, about adjustments.</a:t>
            </a:r>
          </a:p>
          <a:p>
            <a:r>
              <a:t>4. Invite participants to follow the consultation, documentation and review processes used in their school or system.</a:t>
            </a:r>
          </a:p>
          <a:p>
            <a:r>
              <a:t>5. Encourage them to make responsibilities clear to the student, family and staff involved.</a:t>
            </a:r>
          </a:p>
          <a:p>
            <a:r>
              <a:t>6. Direct local procedural questions to the appropriate school or system contact.</a:t>
            </a:r>
          </a:p>
          <a:p/>
          <a:p>
            <a:r>
              <a:t>KEY MESSAGES</a:t>
            </a:r>
          </a:p>
          <a:p>
            <a:r>
              <a:t>• Use current official NCCD information.</a:t>
            </a:r>
          </a:p>
          <a:p>
            <a:r>
              <a:t>• Follow school and system requirements for local processes.</a:t>
            </a:r>
          </a:p>
          <a:p>
            <a:r>
              <a:t>• Under the Disability Standards for Education 2005, schools must consult the student, or an associate such as a parent or carer, about adjustments.</a:t>
            </a:r>
          </a:p>
          <a:p/>
          <a:p>
            <a:r>
              <a:t>KEEP IN MIND</a:t>
            </a:r>
          </a:p>
          <a:p>
            <a:r>
              <a:t>• Do not give legal advice or present the session as a substitute for school or system processes.</a:t>
            </a:r>
          </a:p>
          <a:p>
            <a:r>
              <a:t>• Do not imply that diagnosis alone determines an adjustment.</a:t>
            </a:r>
          </a:p>
          <a:p/>
          <a:p>
            <a:r>
              <a:t>THREAD</a:t>
            </a:r>
          </a:p>
          <a:p>
            <a:r>
              <a:t>Consultation is developed further in Online Session 4. The NCCD Meetings Tool Kit is listed in the Participant Guide under Connections that continue.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56 - 60  ·  Participant Guide - Commit</a:t>
            </a:r>
          </a:p>
          <a:p/>
          <a:p>
            <a:r>
              <a:t>PURPOSE</a:t>
            </a:r>
          </a:p>
          <a:p>
            <a:r>
              <a:t>Refine the design, identify a realistic next step and preview the final session.</a:t>
            </a:r>
          </a:p>
          <a:p/>
          <a:p>
            <a:r>
              <a:t>WHAT TO DO</a:t>
            </a:r>
          </a:p>
          <a:p>
            <a:r>
              <a:t>1. Ask the producer to paste the four questions into the chat.</a:t>
            </a:r>
          </a:p>
          <a:p>
            <a:r>
              <a:t>2. Ask participants to write their answers in the Commit section of the Participant Guide: what I will try, what I will notice and who I will involve.</a:t>
            </a:r>
          </a:p>
          <a:p>
            <a:r>
              <a:t>3. Invite optional sharing in the chat (roles only), and read one or two aloud.</a:t>
            </a:r>
          </a:p>
          <a:p>
            <a:r>
              <a:t>4. Encourage consultation with students, families and relevant school colleagues rather than presenting the design as finished.</a:t>
            </a:r>
          </a:p>
          <a:p>
            <a:r>
              <a:t>5. Keep commitments within each person's role; if a trial is not appropriate, a question for consultation is enough.</a:t>
            </a:r>
          </a:p>
          <a:p>
            <a:r>
              <a:t>6. Preview Online Session 4 on partnership with families, and ask people to bring their design.</a:t>
            </a:r>
          </a:p>
          <a:p/>
          <a:p>
            <a:r>
              <a:t>KEY MESSAGES</a:t>
            </a:r>
          </a:p>
          <a:p>
            <a:r>
              <a:t>• A design change is something to try, review and refine.</a:t>
            </a:r>
          </a:p>
          <a:p>
            <a:r>
              <a:t>• Student and family knowledge can refine what educators notice and try.</a:t>
            </a:r>
          </a:p>
          <a:p/>
          <a:p>
            <a:r>
              <a:t>ACTIVITY: Personal commitment in the Participant Guide, with optional chat share  ·  on your own  ·  about 4 minutes</a:t>
            </a:r>
          </a:p>
          <a:p>
            <a:r>
              <a:t>Prompt: What will you try? What will you notice? Who needs to be involved? How will students and families help refine it?</a:t>
            </a:r>
          </a:p>
          <a:p>
            <a:r>
              <a:t>1. Write one thing you will try.</a:t>
            </a:r>
          </a:p>
          <a:p>
            <a:r>
              <a:t>2. Write what you will notice.</a:t>
            </a:r>
          </a:p>
          <a:p>
            <a:r>
              <a:t>3. Write who you will involve.</a:t>
            </a:r>
          </a:p>
          <a:p>
            <a:r>
              <a:t>Close: Treat the change as something to try, review and refine.</a:t>
            </a:r>
          </a:p>
          <a:p/>
          <a:p>
            <a:r>
              <a:t>KEEP IN MIND</a:t>
            </a:r>
          </a:p>
          <a:p>
            <a:r>
              <a:t>• Keep any public example anonymised.</a:t>
            </a:r>
          </a:p>
          <a:p/>
          <a:p>
            <a:r>
              <a:t>THREAD</a:t>
            </a:r>
          </a:p>
          <a:p>
            <a:r>
              <a:t>Leads into Online Session 4 on home-school relationships and positive partnership.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12300-CF36-BDC9-9A4C-79D244FC61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3A6A7F5-395B-49E7-05C4-E234293E98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5F9D9EC-27C6-A01A-8B73-4F6FF5E53A17}"/>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E0EE7002-5EBE-D7E6-B06B-86300E46C47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F861868-E847-42CC-8667-58C21920472B}"/>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2702551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1710-7996-6D5E-3A9C-01D2B352FBE4}"/>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F51074F-7D2F-EA68-F5A7-F46CA3ABD4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33753D1-CE36-EA49-D497-86513B418059}"/>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1BAF7423-B65E-B105-EA6E-B0B39815583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FE90154-4824-5EA0-5FE2-08C26EFD12E5}"/>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3019254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5641B-1FAD-4B9E-210E-700645501F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3F0CA48-85E9-8A09-8E1D-33C08F8540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C9D035-23AC-B3DF-020B-71AB59976DA5}"/>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1F3C65BB-CBCE-D7C6-9912-3139CEB3D74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FA844F9-6FB5-72F2-6211-4D42E17BB1E0}"/>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2695550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444D4-253F-F6F8-FFA0-6C1E2CEC092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AF03CCD-BF87-B59B-7C69-6CB411ABE1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10C1998-EC6B-D8BC-E75C-885C125397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C62EFCC4-D2B1-3445-D244-E3260B859EA2}"/>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6" name="Footer Placeholder 5">
            <a:extLst>
              <a:ext uri="{FF2B5EF4-FFF2-40B4-BE49-F238E27FC236}">
                <a16:creationId xmlns:a16="http://schemas.microsoft.com/office/drawing/2014/main" id="{257C10BF-A2B4-6BE4-3A94-B92C8D500C0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5289B60-2C00-D265-394E-DC86340A697E}"/>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1123579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8404-EA81-8F51-A3E8-CBCF5F880B1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46969B7-C500-8BED-6065-7A07ABA65E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FF4378-8797-6CE3-B011-48CEF1064E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150C59F-4B23-538D-A88E-D298281A33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35E056-4A4A-4493-68DE-D3EDC2AF7B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413A1C6C-3CCC-4CE2-F0CC-8164BFC60849}"/>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8" name="Footer Placeholder 7">
            <a:extLst>
              <a:ext uri="{FF2B5EF4-FFF2-40B4-BE49-F238E27FC236}">
                <a16:creationId xmlns:a16="http://schemas.microsoft.com/office/drawing/2014/main" id="{4B513BAD-6B1D-E0AF-6DBA-F985DDE1FDA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DCBD4F1-C648-E999-E74F-1E91BFFB15AC}"/>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1025112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E2CAB-CF66-1389-4F1D-CF03A048A67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7E538C4-3A36-3142-06A6-40CD9D39C393}"/>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4" name="Footer Placeholder 3">
            <a:extLst>
              <a:ext uri="{FF2B5EF4-FFF2-40B4-BE49-F238E27FC236}">
                <a16:creationId xmlns:a16="http://schemas.microsoft.com/office/drawing/2014/main" id="{2582E653-1F80-BDCC-607D-BD74B561B169}"/>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26C8EF1-BB76-6509-DAB2-E2A058FCD84E}"/>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207900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81B9FF-3810-EA0A-AF34-49AA4C0E77B7}"/>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3" name="Footer Placeholder 2">
            <a:extLst>
              <a:ext uri="{FF2B5EF4-FFF2-40B4-BE49-F238E27FC236}">
                <a16:creationId xmlns:a16="http://schemas.microsoft.com/office/drawing/2014/main" id="{9495D7A8-AFE7-9B06-ED42-954723983312}"/>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EE7A1DD-309D-F03C-DB60-0D70E1F85A40}"/>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3483067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E7A67-4F0E-053C-5659-AA33396A8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9B861C28-0038-A88A-FF97-BBA026C6D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E1F0EF8-BBE7-0770-5BE6-24B4DD013E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DA676-C9D1-D617-C7E4-AB65A5BC1AE1}"/>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6" name="Footer Placeholder 5">
            <a:extLst>
              <a:ext uri="{FF2B5EF4-FFF2-40B4-BE49-F238E27FC236}">
                <a16:creationId xmlns:a16="http://schemas.microsoft.com/office/drawing/2014/main" id="{FD5BDD2C-C6FD-04F9-6CA4-5EF47840BC8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538AFE4-BFC6-D308-EC0C-5623F5621B53}"/>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1154626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14E6-6B3C-B38B-9F02-2A795DFFF5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14C37199-B334-1275-2B18-55078D382C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889C94B-9B0D-74B4-D818-16B500018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BD44CD-0A42-57F3-E61E-A795D73C4712}"/>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6" name="Footer Placeholder 5">
            <a:extLst>
              <a:ext uri="{FF2B5EF4-FFF2-40B4-BE49-F238E27FC236}">
                <a16:creationId xmlns:a16="http://schemas.microsoft.com/office/drawing/2014/main" id="{4D2FB7DC-D0AC-E32A-BE92-8619CA6E64E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FDA3CB4-F535-4CFB-52AD-F7648459064D}"/>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96251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5954C-7503-E7C4-F1CA-6D1AA76787E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20F9E6D-52EB-BCC0-0AAC-9C551622A2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8A3597C-B9E0-FE2E-7E03-8C0B1D0D30F8}"/>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223B488B-7D43-A101-449E-C5CDE4EEDB6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F4BFE4-9062-0A5B-CEDB-FD9D7BA630A4}"/>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501915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39024B-A5CC-4269-C140-3534C28F61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4A205FB-7952-50BF-3356-29F34EF2A5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E7C31A4-9D19-A58C-BAE2-EC72A2BD978F}"/>
              </a:ext>
            </a:extLst>
          </p:cNvPr>
          <p:cNvSpPr>
            <a:spLocks noGrp="1"/>
          </p:cNvSpPr>
          <p:nvPr>
            <p:ph type="dt" sz="half" idx="10"/>
          </p:nvPr>
        </p:nvSpPr>
        <p:spPr/>
        <p:txBody>
          <a:body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36A03743-B328-9E8C-E4AE-BA05EF1DEF9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5D7E854-E002-EDC3-BC71-A4A321921BFF}"/>
              </a:ext>
            </a:extLst>
          </p:cNvPr>
          <p:cNvSpPr>
            <a:spLocks noGrp="1"/>
          </p:cNvSpPr>
          <p:nvPr>
            <p:ph type="sldNum" sz="quarter" idx="12"/>
          </p:nvPr>
        </p:nvSpPr>
        <p:spPr/>
        <p:txBody>
          <a:bodyPr/>
          <a:lstStyle/>
          <a:p>
            <a:fld id="{6CFB74C0-9FAD-425A-9F66-3BC5FBE50088}" type="slidenum">
              <a:rPr lang="en-AU" smtClean="0"/>
              <a:t>‹#›</a:t>
            </a:fld>
            <a:endParaRPr lang="en-AU"/>
          </a:p>
        </p:txBody>
      </p:sp>
    </p:spTree>
    <p:extLst>
      <p:ext uri="{BB962C8B-B14F-4D97-AF65-F5344CB8AC3E}">
        <p14:creationId xmlns:p14="http://schemas.microsoft.com/office/powerpoint/2010/main" val="1664862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03493067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22D75E-2EEB-554B-A6B3-3050C98E2AD7}"/>
              </a:ext>
            </a:extLst>
          </p:cNvPr>
          <p:cNvSpPr>
            <a:spLocks noGrp="1"/>
          </p:cNvSpPr>
          <p:nvPr>
            <p:ph type="body" sz="quarter" idx="10" hasCustomPrompt="1"/>
          </p:nvPr>
        </p:nvSpPr>
        <p:spPr>
          <a:xfrm>
            <a:off x="684141" y="2854155"/>
            <a:ext cx="10515600" cy="2688167"/>
          </a:xfrm>
          <a:prstGeom prst="rect">
            <a:avLst/>
          </a:prstGeom>
        </p:spPr>
        <p:txBody>
          <a:bodyPr/>
          <a:lstStyle>
            <a:lvl1pPr marL="0" indent="0">
              <a:buNone/>
              <a:defRPr sz="1600"/>
            </a:lvl1pPr>
          </a:lstStyle>
          <a:p>
            <a:pPr lvl="0"/>
            <a:r>
              <a:rPr lang="en-US"/>
              <a:t>Funded by Australian…</a:t>
            </a:r>
          </a:p>
        </p:txBody>
      </p:sp>
      <p:sp>
        <p:nvSpPr>
          <p:cNvPr id="5" name="Title Placeholder 2">
            <a:extLst>
              <a:ext uri="{FF2B5EF4-FFF2-40B4-BE49-F238E27FC236}">
                <a16:creationId xmlns:a16="http://schemas.microsoft.com/office/drawing/2014/main" id="{D49D5EA5-2AE2-D349-9C9F-27D38A7A5EBA}"/>
              </a:ext>
            </a:extLst>
          </p:cNvPr>
          <p:cNvSpPr>
            <a:spLocks noGrp="1"/>
          </p:cNvSpPr>
          <p:nvPr>
            <p:ph type="title"/>
          </p:nvPr>
        </p:nvSpPr>
        <p:spPr>
          <a:xfrm>
            <a:off x="684141" y="1527906"/>
            <a:ext cx="10515600" cy="1325033"/>
          </a:xfrm>
          <a:prstGeom prst="rect">
            <a:avLst/>
          </a:prstGeom>
        </p:spPr>
        <p:txBody>
          <a:bodyPr vert="horz" lIns="91440" tIns="45720" rIns="91440" bIns="45720" rtlCol="0" anchor="ctr">
            <a:noAutofit/>
          </a:bodyPr>
          <a:lstStyle/>
          <a:p>
            <a:r>
              <a:rPr lang="en-US"/>
              <a:t>Positive Partnerships initiative</a:t>
            </a:r>
          </a:p>
        </p:txBody>
      </p:sp>
    </p:spTree>
    <p:extLst>
      <p:ext uri="{BB962C8B-B14F-4D97-AF65-F5344CB8AC3E}">
        <p14:creationId xmlns:p14="http://schemas.microsoft.com/office/powerpoint/2010/main" val="29349659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E917F6-1116-48B6-E4CC-C77F5C12C3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25F56C7-F2FB-E8A4-765D-D733BB0E0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608CFEA-B5D0-80B0-3572-48A03888D0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C91D01-6394-4FEE-8640-C4B512347A45}" type="datetimeFigureOut">
              <a:rPr lang="en-AU" smtClean="0"/>
              <a:t>24/9/2026</a:t>
            </a:fld>
            <a:endParaRPr lang="en-AU"/>
          </a:p>
        </p:txBody>
      </p:sp>
      <p:sp>
        <p:nvSpPr>
          <p:cNvPr id="5" name="Footer Placeholder 4">
            <a:extLst>
              <a:ext uri="{FF2B5EF4-FFF2-40B4-BE49-F238E27FC236}">
                <a16:creationId xmlns:a16="http://schemas.microsoft.com/office/drawing/2014/main" id="{13AFE187-BA8F-FC6C-4765-F79E6E8462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8D31D278-034D-0F82-1E58-5F20ECA2F2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FB74C0-9FAD-425A-9F66-3BC5FBE50088}" type="slidenum">
              <a:rPr lang="en-AU" smtClean="0"/>
              <a:t>‹#›</a:t>
            </a:fld>
            <a:endParaRPr lang="en-AU"/>
          </a:p>
        </p:txBody>
      </p:sp>
    </p:spTree>
    <p:extLst>
      <p:ext uri="{BB962C8B-B14F-4D97-AF65-F5344CB8AC3E}">
        <p14:creationId xmlns:p14="http://schemas.microsoft.com/office/powerpoint/2010/main" val="1430592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ags" Target="../media/copied78.xml"/><Relationship Id="rId3" Type="http://schemas.openxmlformats.org/officeDocument/2006/relationships/image" Target="../media/copied79.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copied80.sv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C80B7488-CF7D-1E95-7566-F618ABE722A1}"/>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3" name="Picture 2">
            <a:extLst>
              <a:ext uri="{FF2B5EF4-FFF2-40B4-BE49-F238E27FC236}">
                <a16:creationId xmlns:a16="http://schemas.microsoft.com/office/drawing/2014/main" id="{288399BE-2AF4-CA8D-CACA-2A953D8D7634}"/>
              </a:ext>
            </a:extLst>
          </p:cNvPr>
          <p:cNvPicPr>
            <a:picLocks noChangeAspect="1"/>
          </p:cNvPicPr>
          <p:nvPr/>
        </p:nvPicPr>
        <p:blipFill>
          <a:blip r:embed="rId3">
            <a:extLst>
              <a:ext uri="{28A0092B-C50C-407E-A947-70E740481C1C}">
                <a14:useLocalDpi xmlns:a14="http://schemas.microsoft.com/office/drawing/2010/main" val="0"/>
              </a:ext>
            </a:extLst>
          </a:blip>
          <a:srcRect l="17000" r="17222"/>
          <a:stretch>
            <a:fillRect/>
          </a:stretch>
        </p:blipFill>
        <p:spPr>
          <a:xfrm flipH="1">
            <a:off x="0" y="0"/>
            <a:ext cx="6766560" cy="6858000"/>
          </a:xfrm>
          <a:prstGeom prst="rect">
            <a:avLst/>
          </a:prstGeom>
        </p:spPr>
      </p:pic>
      <p:sp>
        <p:nvSpPr>
          <p:cNvPr id="12" name="Title 3">
            <a:extLst>
              <a:ext uri="{FF2B5EF4-FFF2-40B4-BE49-F238E27FC236}">
                <a16:creationId xmlns:a16="http://schemas.microsoft.com/office/drawing/2014/main" id="{87656593-1279-3BEC-C50C-7E5ED02114BC}"/>
              </a:ext>
            </a:extLst>
          </p:cNvPr>
          <p:cNvSpPr txBox="1">
            <a:spLocks/>
          </p:cNvSpPr>
          <p:nvPr/>
        </p:nvSpPr>
        <p:spPr>
          <a:xfrm>
            <a:off x="7269480" y="1097280"/>
            <a:ext cx="4297680" cy="3278777"/>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Primary Education Online · Session 3</a:t>
            </a:r>
          </a:p>
          <a:p>
            <a:pPr marL="0" indent="0" algn="l">
              <a:lnSpc>
                <a:spcPct val="95000"/>
              </a:lnSpc>
              <a:spcBef>
                <a:spcPts val="1000"/>
              </a:spcBef>
              <a:buNone/>
            </a:pPr>
            <a:r>
              <a:rPr lang="en-AU" sz="4000" b="0" dirty="0">
                <a:solidFill>
                  <a:srgbClr val="584099"/>
                </a:solidFill>
                <a:latin typeface="Arial Black"/>
                <a:ea typeface="Arial Black"/>
                <a:cs typeface="Arial Black"/>
              </a:rPr>
              <a:t>Designing for Access in the Primary Classroom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914400"/>
            <a:ext cx="10789920" cy="914400"/>
          </a:xfrm>
          <a:prstGeom prst="rect">
            <a:avLst/>
          </a:prstGeom>
          <a:noFill/>
        </p:spPr>
        <p:txBody>
          <a:bodyPr wrap="square" lIns="0" tIns="0" rIns="0" bIns="0" anchor="t">
            <a:noAutofit/>
          </a:bodyPr>
          <a:lstStyle/>
          <a:p>
            <a:pPr marL="0" indent="0" algn="l">
              <a:lnSpc>
                <a:spcPct val="95000"/>
              </a:lnSpc>
              <a:spcBef>
                <a:spcPts val="0"/>
              </a:spcBef>
              <a:buNone/>
            </a:pPr>
            <a:r>
              <a:rPr lang="en-AU" sz="4400" b="0">
                <a:solidFill>
                  <a:srgbClr val="FFFFFF"/>
                </a:solidFill>
                <a:latin typeface="Arial Black"/>
                <a:ea typeface="Arial Black"/>
                <a:cs typeface="Arial Black"/>
              </a:rPr>
              <a:t>Students come first</a:t>
            </a:r>
          </a:p>
        </p:txBody>
      </p:sp>
      <p:sp>
        <p:nvSpPr>
          <p:cNvPr id="5" name="TextBox 4"/>
          <p:cNvSpPr txBox="1"/>
          <p:nvPr/>
        </p:nvSpPr>
        <p:spPr>
          <a:xfrm>
            <a:off x="685800" y="2286000"/>
            <a:ext cx="8686800" cy="1463040"/>
          </a:xfrm>
          <a:prstGeom prst="rect">
            <a:avLst/>
          </a:prstGeom>
          <a:noFill/>
        </p:spPr>
        <p:txBody>
          <a:bodyPr wrap="square" lIns="0" tIns="0" rIns="0" bIns="0" anchor="t">
            <a:noAutofit/>
          </a:bodyPr>
          <a:lstStyle/>
          <a:p>
            <a:pPr marL="0" indent="0" algn="l">
              <a:lnSpc>
                <a:spcPct val="105000"/>
              </a:lnSpc>
              <a:spcBef>
                <a:spcPts val="0"/>
              </a:spcBef>
              <a:buNone/>
            </a:pPr>
            <a:r>
              <a:rPr lang="en-AU" sz="3000" b="0">
                <a:solidFill>
                  <a:srgbClr val="FFFFFF"/>
                </a:solidFill>
                <a:latin typeface="Arial"/>
                <a:ea typeface="Arial"/>
                <a:cs typeface="Arial"/>
              </a:rPr>
              <a:t>Move from understanding to design without turning students into a list of problems.</a:t>
            </a:r>
          </a:p>
        </p:txBody>
      </p:sp>
      <p:sp>
        <p:nvSpPr>
          <p:cNvPr id="6" name="TextBox 5"/>
          <p:cNvSpPr txBox="1"/>
          <p:nvPr/>
        </p:nvSpPr>
        <p:spPr>
          <a:xfrm>
            <a:off x="685800" y="4023360"/>
            <a:ext cx="7772400" cy="1463040"/>
          </a:xfrm>
          <a:prstGeom prst="rect">
            <a:avLst/>
          </a:prstGeom>
          <a:noFill/>
        </p:spPr>
        <p:txBody>
          <a:bodyPr wrap="square" lIns="0" tIns="0" rIns="0" bIns="0" anchor="t">
            <a:noAutofit/>
          </a:bodyPr>
          <a:lstStyle/>
          <a:p>
            <a:pPr marL="0" indent="0" algn="l">
              <a:lnSpc>
                <a:spcPct val="110000"/>
              </a:lnSpc>
              <a:spcBef>
                <a:spcPts val="0"/>
              </a:spcBef>
              <a:buNone/>
            </a:pPr>
            <a:r>
              <a:rPr lang="en-AU" sz="2000" b="0" dirty="0">
                <a:solidFill>
                  <a:srgbClr val="E6E0F5"/>
                </a:solidFill>
                <a:latin typeface="Arial"/>
                <a:ea typeface="Arial"/>
                <a:cs typeface="Arial"/>
              </a:rPr>
              <a:t>Start with the real students you have in mind, a specific access question and evidence from the classroom-day map. The design response comes after understanding.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Keep your students in view</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dirty="0">
                <a:solidFill>
                  <a:srgbClr val="3D2A6B"/>
                </a:solidFill>
                <a:latin typeface="Arial"/>
                <a:ea typeface="Arial"/>
                <a:cs typeface="Arial"/>
              </a:rPr>
              <a:t>Hold a concise picture of each of the students you have in mind, including:</a:t>
            </a:r>
          </a:p>
        </p:txBody>
      </p:sp>
      <p:sp>
        <p:nvSpPr>
          <p:cNvPr id="4" name="Rounded Rectangle 3"/>
          <p:cNvSpPr/>
          <p:nvPr/>
        </p:nvSpPr>
        <p:spPr>
          <a:xfrm>
            <a:off x="685800" y="2057400"/>
            <a:ext cx="3454298" cy="14173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5740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Strengths, interests and joy</a:t>
            </a:r>
          </a:p>
        </p:txBody>
      </p:sp>
      <p:sp>
        <p:nvSpPr>
          <p:cNvPr id="6" name="Rounded Rectangle 5"/>
          <p:cNvSpPr/>
          <p:nvPr/>
        </p:nvSpPr>
        <p:spPr>
          <a:xfrm>
            <a:off x="4368698" y="2057400"/>
            <a:ext cx="3454298" cy="14173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5740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Communication, sensory experience and thinking</a:t>
            </a:r>
          </a:p>
        </p:txBody>
      </p:sp>
      <p:sp>
        <p:nvSpPr>
          <p:cNvPr id="8" name="Rounded Rectangle 7"/>
          <p:cNvSpPr/>
          <p:nvPr/>
        </p:nvSpPr>
        <p:spPr>
          <a:xfrm>
            <a:off x="8051597" y="2057400"/>
            <a:ext cx="3454298" cy="14173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5740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What costs and what lightens</a:t>
            </a:r>
          </a:p>
        </p:txBody>
      </p:sp>
      <p:sp>
        <p:nvSpPr>
          <p:cNvPr id="10" name="Rounded Rectangle 9"/>
          <p:cNvSpPr/>
          <p:nvPr/>
        </p:nvSpPr>
        <p:spPr>
          <a:xfrm>
            <a:off x="685800" y="3703320"/>
            <a:ext cx="3454298" cy="14173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70332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Identity and belonging</a:t>
            </a:r>
          </a:p>
        </p:txBody>
      </p:sp>
      <p:sp>
        <p:nvSpPr>
          <p:cNvPr id="12" name="Rounded Rectangle 11"/>
          <p:cNvSpPr/>
          <p:nvPr/>
        </p:nvSpPr>
        <p:spPr>
          <a:xfrm>
            <a:off x="4368698" y="3703320"/>
            <a:ext cx="3454298" cy="14173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70332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What students, families and the team already know</a:t>
            </a:r>
          </a:p>
        </p:txBody>
      </p:sp>
      <p:sp>
        <p:nvSpPr>
          <p:cNvPr id="14" name="Rounded Rectangle 13"/>
          <p:cNvSpPr/>
          <p:nvPr/>
        </p:nvSpPr>
        <p:spPr>
          <a:xfrm>
            <a:off x="8051597" y="3703320"/>
            <a:ext cx="3454298" cy="14173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703320"/>
            <a:ext cx="2905658" cy="141732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Questions that remain open</a:t>
            </a:r>
          </a:p>
        </p:txBody>
      </p:sp>
      <p:sp>
        <p:nvSpPr>
          <p:cNvPr id="16" name="Rounded Rectangle 15"/>
          <p:cNvSpPr/>
          <p:nvPr/>
        </p:nvSpPr>
        <p:spPr>
          <a:xfrm>
            <a:off x="685800" y="544068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7" name="TextBox 16"/>
          <p:cNvSpPr txBox="1"/>
          <p:nvPr/>
        </p:nvSpPr>
        <p:spPr>
          <a:xfrm>
            <a:off x="960120" y="544068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700" b="1">
                <a:solidFill>
                  <a:srgbClr val="584099"/>
                </a:solidFill>
                <a:latin typeface="Arial"/>
                <a:ea typeface="Arial"/>
                <a:cs typeface="Arial"/>
              </a:rPr>
              <a:t>You are not building a file on one child. Keep real, different students in view as you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Write your brief</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Choose one routine you know well, then write an environment-first brief.</a:t>
            </a:r>
          </a:p>
        </p:txBody>
      </p:sp>
      <p:sp>
        <p:nvSpPr>
          <p:cNvPr id="4" name="Rounded Rectangle 3"/>
          <p:cNvSpPr/>
          <p:nvPr/>
        </p:nvSpPr>
        <p:spPr>
          <a:xfrm>
            <a:off x="685800" y="2011680"/>
            <a:ext cx="10820095" cy="868680"/>
          </a:xfrm>
          <a:prstGeom prst="roundRect">
            <a:avLst>
              <a:gd name="adj" fmla="val 25000"/>
            </a:avLst>
          </a:prstGeom>
          <a:solidFill>
            <a:srgbClr val="F3F0FA"/>
          </a:solidFill>
          <a:ln>
            <a:noFill/>
          </a:ln>
        </p:spPr>
        <p:txBody>
          <a:bodyPr rtlCol="0" anchor="ctr"/>
          <a:lstStyle/>
          <a:p>
            <a:pPr algn="ctr"/>
            <a:endParaRPr/>
          </a:p>
        </p:txBody>
      </p:sp>
      <p:sp>
        <p:nvSpPr>
          <p:cNvPr id="5" name="TextBox 4"/>
          <p:cNvSpPr txBox="1"/>
          <p:nvPr/>
        </p:nvSpPr>
        <p:spPr>
          <a:xfrm>
            <a:off x="1051560" y="2011680"/>
            <a:ext cx="10058400" cy="8686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This routine asks students to…</a:t>
            </a:r>
          </a:p>
        </p:txBody>
      </p:sp>
      <p:sp>
        <p:nvSpPr>
          <p:cNvPr id="6" name="Rounded Rectangle 5"/>
          <p:cNvSpPr/>
          <p:nvPr/>
        </p:nvSpPr>
        <p:spPr>
          <a:xfrm>
            <a:off x="685800" y="3081528"/>
            <a:ext cx="10820095" cy="868680"/>
          </a:xfrm>
          <a:prstGeom prst="roundRect">
            <a:avLst>
              <a:gd name="adj" fmla="val 25000"/>
            </a:avLst>
          </a:prstGeom>
          <a:solidFill>
            <a:srgbClr val="F3F0FA"/>
          </a:solidFill>
          <a:ln>
            <a:noFill/>
          </a:ln>
        </p:spPr>
        <p:txBody>
          <a:bodyPr rtlCol="0" anchor="ctr"/>
          <a:lstStyle/>
          <a:p>
            <a:pPr algn="ctr"/>
            <a:endParaRPr/>
          </a:p>
        </p:txBody>
      </p:sp>
      <p:sp>
        <p:nvSpPr>
          <p:cNvPr id="7" name="TextBox 6"/>
          <p:cNvSpPr txBox="1"/>
          <p:nvPr/>
        </p:nvSpPr>
        <p:spPr>
          <a:xfrm>
            <a:off x="1051560" y="3081528"/>
            <a:ext cx="10058400" cy="8686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For some students, that means…</a:t>
            </a:r>
          </a:p>
        </p:txBody>
      </p:sp>
      <p:sp>
        <p:nvSpPr>
          <p:cNvPr id="8" name="Rounded Rectangle 7"/>
          <p:cNvSpPr/>
          <p:nvPr/>
        </p:nvSpPr>
        <p:spPr>
          <a:xfrm>
            <a:off x="685800" y="4151376"/>
            <a:ext cx="10820095" cy="868680"/>
          </a:xfrm>
          <a:prstGeom prst="roundRect">
            <a:avLst>
              <a:gd name="adj" fmla="val 25000"/>
            </a:avLst>
          </a:prstGeom>
          <a:solidFill>
            <a:srgbClr val="F3F0FA"/>
          </a:solidFill>
          <a:ln>
            <a:noFill/>
          </a:ln>
        </p:spPr>
        <p:txBody>
          <a:bodyPr rtlCol="0" anchor="ctr"/>
          <a:lstStyle/>
          <a:p>
            <a:pPr algn="ctr"/>
            <a:endParaRPr/>
          </a:p>
        </p:txBody>
      </p:sp>
      <p:sp>
        <p:nvSpPr>
          <p:cNvPr id="9" name="TextBox 8"/>
          <p:cNvSpPr txBox="1"/>
          <p:nvPr/>
        </p:nvSpPr>
        <p:spPr>
          <a:xfrm>
            <a:off x="1051560" y="4151376"/>
            <a:ext cx="10058400" cy="8686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We could change…</a:t>
            </a:r>
          </a:p>
        </p:txBody>
      </p:sp>
      <p:sp>
        <p:nvSpPr>
          <p:cNvPr id="10" name="Rounded Rectangle 9"/>
          <p:cNvSpPr/>
          <p:nvPr/>
        </p:nvSpPr>
        <p:spPr>
          <a:xfrm>
            <a:off x="685800" y="5449824"/>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960120" y="5449824"/>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Check the wording: is it specific, workable and free from blame or deficit labels?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Options menu</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200" b="1">
                <a:solidFill>
                  <a:srgbClr val="3D2A6B"/>
                </a:solidFill>
                <a:latin typeface="Arial"/>
                <a:ea typeface="Arial"/>
                <a:cs typeface="Arial"/>
              </a:rPr>
              <a:t>Four short inputs. Listen for what might answer your brief.</a:t>
            </a:r>
          </a:p>
        </p:txBody>
      </p:sp>
      <p:sp>
        <p:nvSpPr>
          <p:cNvPr id="5" name="Rounded Rectangle 4"/>
          <p:cNvSpPr/>
          <p:nvPr/>
        </p:nvSpPr>
        <p:spPr>
          <a:xfrm>
            <a:off x="685800" y="2103120"/>
            <a:ext cx="5272888" cy="1554480"/>
          </a:xfrm>
          <a:prstGeom prst="roundRect">
            <a:avLst>
              <a:gd name="adj" fmla="val 12000"/>
            </a:avLst>
          </a:prstGeom>
          <a:solidFill>
            <a:srgbClr val="F3F0FA"/>
          </a:solidFill>
          <a:ln>
            <a:noFill/>
          </a:ln>
        </p:spPr>
        <p:txBody>
          <a:bodyPr rtlCol="0" anchor="ctr"/>
          <a:lstStyle/>
          <a:p>
            <a:pPr algn="ctr"/>
          </a:p>
        </p:txBody>
      </p:sp>
      <p:sp>
        <p:nvSpPr>
          <p:cNvPr id="6" name="Oval 5"/>
          <p:cNvSpPr/>
          <p:nvPr/>
        </p:nvSpPr>
        <p:spPr>
          <a:xfrm>
            <a:off x="1005840" y="2606040"/>
            <a:ext cx="548640" cy="548640"/>
          </a:xfrm>
          <a:prstGeom prst="ellipse">
            <a:avLst/>
          </a:prstGeom>
          <a:solidFill>
            <a:srgbClr val="FFFFFF"/>
          </a:solidFill>
          <a:ln w="25400">
            <a:solidFill>
              <a:srgbClr val="584099"/>
            </a:solidFill>
          </a:ln>
        </p:spPr>
        <p:txBody>
          <a:bodyPr rtlCol="0" anchor="ctr"/>
          <a:lstStyle/>
          <a:p>
            <a:pPr algn="ctr"/>
          </a:p>
        </p:txBody>
      </p:sp>
      <p:sp>
        <p:nvSpPr>
          <p:cNvPr id="7" name="TextBox 6"/>
          <p:cNvSpPr txBox="1"/>
          <p:nvPr/>
        </p:nvSpPr>
        <p:spPr>
          <a:xfrm>
            <a:off x="1005840" y="2606040"/>
            <a:ext cx="548640" cy="548640"/>
          </a:xfrm>
          <a:prstGeom prst="rect">
            <a:avLst/>
          </a:prstGeom>
          <a:noFill/>
        </p:spPr>
        <p:txBody>
          <a:bodyPr wrap="square" lIns="0" rIns="0" tIns="0" bIns="0" anchor="ctr">
            <a:noAutofit/>
          </a:bodyPr>
          <a:lstStyle/>
          <a:p>
            <a:pPr algn="ctr" marL="0" indent="0">
              <a:lnSpc>
                <a:spcPct val="100000"/>
              </a:lnSpc>
              <a:spcBef>
                <a:spcPts val="0"/>
              </a:spcBef>
              <a:buNone/>
            </a:pPr>
            <a:r>
              <a:rPr lang="en-AU" sz="1800" b="0">
                <a:solidFill>
                  <a:srgbClr val="584099"/>
                </a:solidFill>
                <a:latin typeface="Arial Black"/>
                <a:ea typeface="Arial Black"/>
                <a:cs typeface="Arial Black"/>
              </a:rPr>
              <a:t>1</a:t>
            </a:r>
          </a:p>
        </p:txBody>
      </p:sp>
      <p:sp>
        <p:nvSpPr>
          <p:cNvPr id="8" name="TextBox 7"/>
          <p:cNvSpPr txBox="1"/>
          <p:nvPr/>
        </p:nvSpPr>
        <p:spPr>
          <a:xfrm>
            <a:off x="1783080" y="2103120"/>
            <a:ext cx="3901288" cy="1554480"/>
          </a:xfrm>
          <a:prstGeom prst="rect">
            <a:avLst/>
          </a:prstGeom>
          <a:noFill/>
        </p:spPr>
        <p:txBody>
          <a:bodyPr wrap="square" lIns="0" rIns="0" tIns="0" bIns="0" anchor="ctr">
            <a:noAutofit/>
          </a:bodyPr>
          <a:lstStyle/>
          <a:p>
            <a:pPr algn="l" marL="0" indent="0">
              <a:lnSpc>
                <a:spcPct val="100000"/>
              </a:lnSpc>
              <a:spcBef>
                <a:spcPts val="0"/>
              </a:spcBef>
              <a:buNone/>
            </a:pPr>
            <a:r>
              <a:rPr lang="en-AU" sz="2100" b="1">
                <a:solidFill>
                  <a:srgbClr val="3D2A6B"/>
                </a:solidFill>
                <a:latin typeface="Arial"/>
                <a:ea typeface="Arial"/>
                <a:cs typeface="Arial"/>
              </a:rPr>
              <a:t>Executive functioning supports</a:t>
            </a:r>
          </a:p>
          <a:p>
            <a:pPr algn="l" marL="0" indent="0">
              <a:lnSpc>
                <a:spcPct val="100000"/>
              </a:lnSpc>
              <a:spcBef>
                <a:spcPts val="400"/>
              </a:spcBef>
              <a:buNone/>
            </a:pPr>
            <a:r>
              <a:rPr lang="en-AU" sz="1600" b="0">
                <a:solidFill>
                  <a:srgbClr val="2D2440"/>
                </a:solidFill>
                <a:latin typeface="Arial"/>
                <a:ea typeface="Arial"/>
                <a:cs typeface="Arial"/>
              </a:rPr>
              <a:t>Match support to a known demand</a:t>
            </a:r>
          </a:p>
        </p:txBody>
      </p:sp>
      <p:sp>
        <p:nvSpPr>
          <p:cNvPr id="9" name="Rounded Rectangle 8"/>
          <p:cNvSpPr/>
          <p:nvPr/>
        </p:nvSpPr>
        <p:spPr>
          <a:xfrm>
            <a:off x="6233008" y="2103120"/>
            <a:ext cx="5272888" cy="1554480"/>
          </a:xfrm>
          <a:prstGeom prst="roundRect">
            <a:avLst>
              <a:gd name="adj" fmla="val 12000"/>
            </a:avLst>
          </a:prstGeom>
          <a:solidFill>
            <a:srgbClr val="F3F0FA"/>
          </a:solidFill>
          <a:ln>
            <a:noFill/>
          </a:ln>
        </p:spPr>
        <p:txBody>
          <a:bodyPr rtlCol="0" anchor="ctr"/>
          <a:lstStyle/>
          <a:p>
            <a:pPr algn="ctr"/>
          </a:p>
        </p:txBody>
      </p:sp>
      <p:sp>
        <p:nvSpPr>
          <p:cNvPr id="10" name="Oval 9"/>
          <p:cNvSpPr/>
          <p:nvPr/>
        </p:nvSpPr>
        <p:spPr>
          <a:xfrm>
            <a:off x="6553048" y="2606040"/>
            <a:ext cx="548640" cy="548640"/>
          </a:xfrm>
          <a:prstGeom prst="ellipse">
            <a:avLst/>
          </a:prstGeom>
          <a:solidFill>
            <a:srgbClr val="FFFFFF"/>
          </a:solidFill>
          <a:ln w="25400">
            <a:solidFill>
              <a:srgbClr val="584099"/>
            </a:solidFill>
          </a:ln>
        </p:spPr>
        <p:txBody>
          <a:bodyPr rtlCol="0" anchor="ctr"/>
          <a:lstStyle/>
          <a:p>
            <a:pPr algn="ctr"/>
          </a:p>
        </p:txBody>
      </p:sp>
      <p:sp>
        <p:nvSpPr>
          <p:cNvPr id="11" name="TextBox 10"/>
          <p:cNvSpPr txBox="1"/>
          <p:nvPr/>
        </p:nvSpPr>
        <p:spPr>
          <a:xfrm>
            <a:off x="6553048" y="2606040"/>
            <a:ext cx="548640" cy="548640"/>
          </a:xfrm>
          <a:prstGeom prst="rect">
            <a:avLst/>
          </a:prstGeom>
          <a:noFill/>
        </p:spPr>
        <p:txBody>
          <a:bodyPr wrap="square" lIns="0" rIns="0" tIns="0" bIns="0" anchor="ctr">
            <a:noAutofit/>
          </a:bodyPr>
          <a:lstStyle/>
          <a:p>
            <a:pPr algn="ctr" marL="0" indent="0">
              <a:lnSpc>
                <a:spcPct val="100000"/>
              </a:lnSpc>
              <a:spcBef>
                <a:spcPts val="0"/>
              </a:spcBef>
              <a:buNone/>
            </a:pPr>
            <a:r>
              <a:rPr lang="en-AU" sz="1800" b="0">
                <a:solidFill>
                  <a:srgbClr val="584099"/>
                </a:solidFill>
                <a:latin typeface="Arial Black"/>
                <a:ea typeface="Arial Black"/>
                <a:cs typeface="Arial Black"/>
              </a:rPr>
              <a:t>2</a:t>
            </a:r>
          </a:p>
        </p:txBody>
      </p:sp>
      <p:sp>
        <p:nvSpPr>
          <p:cNvPr id="12" name="TextBox 11"/>
          <p:cNvSpPr txBox="1"/>
          <p:nvPr/>
        </p:nvSpPr>
        <p:spPr>
          <a:xfrm>
            <a:off x="7330288" y="2103120"/>
            <a:ext cx="3901288" cy="1554480"/>
          </a:xfrm>
          <a:prstGeom prst="rect">
            <a:avLst/>
          </a:prstGeom>
          <a:noFill/>
        </p:spPr>
        <p:txBody>
          <a:bodyPr wrap="square" lIns="0" rIns="0" tIns="0" bIns="0" anchor="ctr">
            <a:noAutofit/>
          </a:bodyPr>
          <a:lstStyle/>
          <a:p>
            <a:pPr algn="l" marL="0" indent="0">
              <a:lnSpc>
                <a:spcPct val="100000"/>
              </a:lnSpc>
              <a:spcBef>
                <a:spcPts val="0"/>
              </a:spcBef>
              <a:buNone/>
            </a:pPr>
            <a:r>
              <a:rPr lang="en-AU" sz="2100" b="1">
                <a:solidFill>
                  <a:srgbClr val="3D2A6B"/>
                </a:solidFill>
                <a:latin typeface="Arial"/>
                <a:ea typeface="Arial"/>
                <a:cs typeface="Arial"/>
              </a:rPr>
              <a:t>Predictability</a:t>
            </a:r>
          </a:p>
          <a:p>
            <a:pPr algn="l" marL="0" indent="0">
              <a:lnSpc>
                <a:spcPct val="100000"/>
              </a:lnSpc>
              <a:spcBef>
                <a:spcPts val="400"/>
              </a:spcBef>
              <a:buNone/>
            </a:pPr>
            <a:r>
              <a:rPr lang="en-AU" sz="1600" b="0">
                <a:solidFill>
                  <a:srgbClr val="2D2440"/>
                </a:solidFill>
                <a:latin typeface="Arial"/>
                <a:ea typeface="Arial"/>
                <a:cs typeface="Arial"/>
              </a:rPr>
              <a:t>Clear information about routine and change</a:t>
            </a:r>
          </a:p>
        </p:txBody>
      </p:sp>
      <p:sp>
        <p:nvSpPr>
          <p:cNvPr id="13" name="Rounded Rectangle 12"/>
          <p:cNvSpPr/>
          <p:nvPr/>
        </p:nvSpPr>
        <p:spPr>
          <a:xfrm>
            <a:off x="685800" y="3886200"/>
            <a:ext cx="5272888" cy="1554480"/>
          </a:xfrm>
          <a:prstGeom prst="roundRect">
            <a:avLst>
              <a:gd name="adj" fmla="val 12000"/>
            </a:avLst>
          </a:prstGeom>
          <a:solidFill>
            <a:srgbClr val="F3F0FA"/>
          </a:solidFill>
          <a:ln>
            <a:noFill/>
          </a:ln>
        </p:spPr>
        <p:txBody>
          <a:bodyPr rtlCol="0" anchor="ctr"/>
          <a:lstStyle/>
          <a:p>
            <a:pPr algn="ctr"/>
          </a:p>
        </p:txBody>
      </p:sp>
      <p:sp>
        <p:nvSpPr>
          <p:cNvPr id="14" name="Oval 13"/>
          <p:cNvSpPr/>
          <p:nvPr/>
        </p:nvSpPr>
        <p:spPr>
          <a:xfrm>
            <a:off x="1005840" y="4389120"/>
            <a:ext cx="548640" cy="548640"/>
          </a:xfrm>
          <a:prstGeom prst="ellipse">
            <a:avLst/>
          </a:prstGeom>
          <a:solidFill>
            <a:srgbClr val="FFFFFF"/>
          </a:solidFill>
          <a:ln w="25400">
            <a:solidFill>
              <a:srgbClr val="584099"/>
            </a:solidFill>
          </a:ln>
        </p:spPr>
        <p:txBody>
          <a:bodyPr rtlCol="0" anchor="ctr"/>
          <a:lstStyle/>
          <a:p>
            <a:pPr algn="ctr"/>
          </a:p>
        </p:txBody>
      </p:sp>
      <p:sp>
        <p:nvSpPr>
          <p:cNvPr id="15" name="TextBox 14"/>
          <p:cNvSpPr txBox="1"/>
          <p:nvPr/>
        </p:nvSpPr>
        <p:spPr>
          <a:xfrm>
            <a:off x="1005840" y="4389120"/>
            <a:ext cx="548640" cy="548640"/>
          </a:xfrm>
          <a:prstGeom prst="rect">
            <a:avLst/>
          </a:prstGeom>
          <a:noFill/>
        </p:spPr>
        <p:txBody>
          <a:bodyPr wrap="square" lIns="0" rIns="0" tIns="0" bIns="0" anchor="ctr">
            <a:noAutofit/>
          </a:bodyPr>
          <a:lstStyle/>
          <a:p>
            <a:pPr algn="ctr" marL="0" indent="0">
              <a:lnSpc>
                <a:spcPct val="100000"/>
              </a:lnSpc>
              <a:spcBef>
                <a:spcPts val="0"/>
              </a:spcBef>
              <a:buNone/>
            </a:pPr>
            <a:r>
              <a:rPr lang="en-AU" sz="1800" b="0">
                <a:solidFill>
                  <a:srgbClr val="584099"/>
                </a:solidFill>
                <a:latin typeface="Arial Black"/>
                <a:ea typeface="Arial Black"/>
                <a:cs typeface="Arial Black"/>
              </a:rPr>
              <a:t>3</a:t>
            </a:r>
          </a:p>
        </p:txBody>
      </p:sp>
      <p:sp>
        <p:nvSpPr>
          <p:cNvPr id="16" name="TextBox 15"/>
          <p:cNvSpPr txBox="1"/>
          <p:nvPr/>
        </p:nvSpPr>
        <p:spPr>
          <a:xfrm>
            <a:off x="1783080" y="3886200"/>
            <a:ext cx="3901288" cy="1554480"/>
          </a:xfrm>
          <a:prstGeom prst="rect">
            <a:avLst/>
          </a:prstGeom>
          <a:noFill/>
        </p:spPr>
        <p:txBody>
          <a:bodyPr wrap="square" lIns="0" rIns="0" tIns="0" bIns="0" anchor="ctr">
            <a:noAutofit/>
          </a:bodyPr>
          <a:lstStyle/>
          <a:p>
            <a:pPr algn="l" marL="0" indent="0">
              <a:lnSpc>
                <a:spcPct val="100000"/>
              </a:lnSpc>
              <a:spcBef>
                <a:spcPts val="0"/>
              </a:spcBef>
              <a:buNone/>
            </a:pPr>
            <a:r>
              <a:rPr lang="en-AU" sz="2100" b="1">
                <a:solidFill>
                  <a:srgbClr val="3D2A6B"/>
                </a:solidFill>
                <a:latin typeface="Arial"/>
                <a:ea typeface="Arial"/>
                <a:cs typeface="Arial"/>
              </a:rPr>
              <a:t>Schedules</a:t>
            </a:r>
          </a:p>
          <a:p>
            <a:pPr algn="l" marL="0" indent="0">
              <a:lnSpc>
                <a:spcPct val="100000"/>
              </a:lnSpc>
              <a:spcBef>
                <a:spcPts val="400"/>
              </a:spcBef>
              <a:buNone/>
            </a:pPr>
            <a:r>
              <a:rPr lang="en-AU" sz="1600" b="0">
                <a:solidFill>
                  <a:srgbClr val="2D2440"/>
                </a:solidFill>
                <a:latin typeface="Arial"/>
                <a:ea typeface="Arial"/>
                <a:cs typeface="Arial"/>
              </a:rPr>
              <a:t>Make sequence, timing and change visible</a:t>
            </a:r>
          </a:p>
        </p:txBody>
      </p:sp>
      <p:sp>
        <p:nvSpPr>
          <p:cNvPr id="17" name="Rounded Rectangle 16"/>
          <p:cNvSpPr/>
          <p:nvPr/>
        </p:nvSpPr>
        <p:spPr>
          <a:xfrm>
            <a:off x="6233008" y="3886200"/>
            <a:ext cx="5272888" cy="1554480"/>
          </a:xfrm>
          <a:prstGeom prst="roundRect">
            <a:avLst>
              <a:gd name="adj" fmla="val 12000"/>
            </a:avLst>
          </a:prstGeom>
          <a:solidFill>
            <a:srgbClr val="F3F0FA"/>
          </a:solidFill>
          <a:ln>
            <a:noFill/>
          </a:ln>
        </p:spPr>
        <p:txBody>
          <a:bodyPr rtlCol="0" anchor="ctr"/>
          <a:lstStyle/>
          <a:p>
            <a:pPr algn="ctr"/>
          </a:p>
        </p:txBody>
      </p:sp>
      <p:sp>
        <p:nvSpPr>
          <p:cNvPr id="18" name="Oval 17"/>
          <p:cNvSpPr/>
          <p:nvPr/>
        </p:nvSpPr>
        <p:spPr>
          <a:xfrm>
            <a:off x="6553048" y="4389120"/>
            <a:ext cx="548640" cy="548640"/>
          </a:xfrm>
          <a:prstGeom prst="ellipse">
            <a:avLst/>
          </a:prstGeom>
          <a:solidFill>
            <a:srgbClr val="FFFFFF"/>
          </a:solidFill>
          <a:ln w="25400">
            <a:solidFill>
              <a:srgbClr val="584099"/>
            </a:solidFill>
          </a:ln>
        </p:spPr>
        <p:txBody>
          <a:bodyPr rtlCol="0" anchor="ctr"/>
          <a:lstStyle/>
          <a:p>
            <a:pPr algn="ctr"/>
          </a:p>
        </p:txBody>
      </p:sp>
      <p:sp>
        <p:nvSpPr>
          <p:cNvPr id="19" name="TextBox 18"/>
          <p:cNvSpPr txBox="1"/>
          <p:nvPr/>
        </p:nvSpPr>
        <p:spPr>
          <a:xfrm>
            <a:off x="6553048" y="4389120"/>
            <a:ext cx="548640" cy="548640"/>
          </a:xfrm>
          <a:prstGeom prst="rect">
            <a:avLst/>
          </a:prstGeom>
          <a:noFill/>
        </p:spPr>
        <p:txBody>
          <a:bodyPr wrap="square" lIns="0" rIns="0" tIns="0" bIns="0" anchor="ctr">
            <a:noAutofit/>
          </a:bodyPr>
          <a:lstStyle/>
          <a:p>
            <a:pPr algn="ctr" marL="0" indent="0">
              <a:lnSpc>
                <a:spcPct val="100000"/>
              </a:lnSpc>
              <a:spcBef>
                <a:spcPts val="0"/>
              </a:spcBef>
              <a:buNone/>
            </a:pPr>
            <a:r>
              <a:rPr lang="en-AU" sz="1800" b="0">
                <a:solidFill>
                  <a:srgbClr val="584099"/>
                </a:solidFill>
                <a:latin typeface="Arial Black"/>
                <a:ea typeface="Arial Black"/>
                <a:cs typeface="Arial Black"/>
              </a:rPr>
              <a:t>4</a:t>
            </a:r>
          </a:p>
        </p:txBody>
      </p:sp>
      <p:sp>
        <p:nvSpPr>
          <p:cNvPr id="20" name="TextBox 19"/>
          <p:cNvSpPr txBox="1"/>
          <p:nvPr/>
        </p:nvSpPr>
        <p:spPr>
          <a:xfrm>
            <a:off x="7330288" y="3886200"/>
            <a:ext cx="3901288" cy="1554480"/>
          </a:xfrm>
          <a:prstGeom prst="rect">
            <a:avLst/>
          </a:prstGeom>
          <a:noFill/>
        </p:spPr>
        <p:txBody>
          <a:bodyPr wrap="square" lIns="0" rIns="0" tIns="0" bIns="0" anchor="ctr">
            <a:noAutofit/>
          </a:bodyPr>
          <a:lstStyle/>
          <a:p>
            <a:pPr algn="l" marL="0" indent="0">
              <a:lnSpc>
                <a:spcPct val="100000"/>
              </a:lnSpc>
              <a:spcBef>
                <a:spcPts val="0"/>
              </a:spcBef>
              <a:buNone/>
            </a:pPr>
            <a:r>
              <a:rPr lang="en-AU" sz="2100" b="1">
                <a:solidFill>
                  <a:srgbClr val="3D2A6B"/>
                </a:solidFill>
                <a:latin typeface="Arial"/>
                <a:ea typeface="Arial"/>
                <a:cs typeface="Arial"/>
              </a:rPr>
              <a:t>Visual supports</a:t>
            </a:r>
          </a:p>
          <a:p>
            <a:pPr algn="l" marL="0" indent="0">
              <a:lnSpc>
                <a:spcPct val="100000"/>
              </a:lnSpc>
              <a:spcBef>
                <a:spcPts val="400"/>
              </a:spcBef>
              <a:buNone/>
            </a:pPr>
            <a:r>
              <a:rPr lang="en-AU" sz="1600" b="0">
                <a:solidFill>
                  <a:srgbClr val="2D2440"/>
                </a:solidFill>
                <a:latin typeface="Arial"/>
                <a:ea typeface="Arial"/>
                <a:cs typeface="Arial"/>
              </a:rPr>
              <a:t>Clarify what students need to find, understand, remember or communicate</a:t>
            </a:r>
          </a:p>
        </p:txBody>
      </p:sp>
      <p:sp>
        <p:nvSpPr>
          <p:cNvPr id="21" name="Rounded Rectangle 20"/>
          <p:cNvSpPr/>
          <p:nvPr/>
        </p:nvSpPr>
        <p:spPr>
          <a:xfrm>
            <a:off x="685800" y="576072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22" name="TextBox 21"/>
          <p:cNvSpPr txBox="1"/>
          <p:nvPr/>
        </p:nvSpPr>
        <p:spPr>
          <a:xfrm>
            <a:off x="960120" y="576072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600" b="1">
                <a:solidFill>
                  <a:srgbClr val="584099"/>
                </a:solidFill>
                <a:latin typeface="Arial"/>
                <a:ea typeface="Arial"/>
                <a:cs typeface="Arial"/>
              </a:rPr>
              <a:t>After the inputs, choose one or two options.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200" b="0">
                <a:solidFill>
                  <a:srgbClr val="584099"/>
                </a:solidFill>
                <a:latin typeface="Arial Black"/>
                <a:ea typeface="Arial Black"/>
                <a:cs typeface="Arial Black"/>
              </a:rPr>
              <a:t>Executive functioning supports across the day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Match support to a known demand:</a:t>
            </a:r>
          </a:p>
        </p:txBody>
      </p:sp>
      <p:sp>
        <p:nvSpPr>
          <p:cNvPr id="4" name="Rounded Rectangle 3"/>
          <p:cNvSpPr/>
          <p:nvPr/>
        </p:nvSpPr>
        <p:spPr>
          <a:xfrm>
            <a:off x="685800" y="2011680"/>
            <a:ext cx="5295748" cy="132588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Make the first step visible</a:t>
            </a:r>
          </a:p>
        </p:txBody>
      </p:sp>
      <p:sp>
        <p:nvSpPr>
          <p:cNvPr id="6" name="Rounded Rectangle 5"/>
          <p:cNvSpPr/>
          <p:nvPr/>
        </p:nvSpPr>
        <p:spPr>
          <a:xfrm>
            <a:off x="6210148" y="2011680"/>
            <a:ext cx="5295748" cy="132588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6484468" y="201168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Support holding or sequencing information</a:t>
            </a:r>
          </a:p>
        </p:txBody>
      </p:sp>
      <p:sp>
        <p:nvSpPr>
          <p:cNvPr id="8" name="Rounded Rectangle 7"/>
          <p:cNvSpPr/>
          <p:nvPr/>
        </p:nvSpPr>
        <p:spPr>
          <a:xfrm>
            <a:off x="685800" y="3566160"/>
            <a:ext cx="5295748" cy="132588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960120" y="356616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Make time and materials easier to organise</a:t>
            </a:r>
          </a:p>
        </p:txBody>
      </p:sp>
      <p:sp>
        <p:nvSpPr>
          <p:cNvPr id="10" name="Rounded Rectangle 9"/>
          <p:cNvSpPr/>
          <p:nvPr/>
        </p:nvSpPr>
        <p:spPr>
          <a:xfrm>
            <a:off x="6210148" y="3566160"/>
            <a:ext cx="5295748" cy="132588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6484468" y="3566160"/>
            <a:ext cx="4747108" cy="1325880"/>
          </a:xfrm>
          <a:prstGeom prst="rect">
            <a:avLst/>
          </a:prstGeom>
          <a:noFill/>
        </p:spPr>
        <p:txBody>
          <a:bodyPr wrap="square" lIns="0" tIns="0" rIns="0" bIns="0" anchor="ctr">
            <a:noAutofit/>
          </a:bodyPr>
          <a:lstStyle/>
          <a:p>
            <a:pPr marL="0" indent="0" algn="l">
              <a:lnSpc>
                <a:spcPct val="100000"/>
              </a:lnSpc>
              <a:spcBef>
                <a:spcPts val="0"/>
              </a:spcBef>
              <a:buNone/>
            </a:pPr>
            <a:r>
              <a:rPr lang="en-AU" sz="2200" b="1">
                <a:solidFill>
                  <a:srgbClr val="3D2A6B"/>
                </a:solidFill>
                <a:latin typeface="Arial"/>
                <a:ea typeface="Arial"/>
                <a:cs typeface="Arial"/>
              </a:rPr>
              <a:t>Prepare for shifts between tasks</a:t>
            </a:r>
          </a:p>
        </p:txBody>
      </p:sp>
      <p:sp>
        <p:nvSpPr>
          <p:cNvPr id="12" name="Rounded Rectangle 11"/>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3" name="TextBox 12"/>
          <p:cNvSpPr txBox="1"/>
          <p:nvPr/>
        </p:nvSpPr>
        <p:spPr>
          <a:xfrm>
            <a:off x="960120" y="525780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Check usefulness with students rather than assuming the support 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Predictability in primary education</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Predictability includes clear information about routine and change.</a:t>
            </a:r>
          </a:p>
        </p:txBody>
      </p:sp>
      <p:sp>
        <p:nvSpPr>
          <p:cNvPr id="4" name="TextBox 3"/>
          <p:cNvSpPr txBox="1"/>
          <p:nvPr/>
        </p:nvSpPr>
        <p:spPr>
          <a:xfrm>
            <a:off x="685800" y="1965960"/>
            <a:ext cx="10789920" cy="457200"/>
          </a:xfrm>
          <a:prstGeom prst="rect">
            <a:avLst/>
          </a:prstGeom>
          <a:noFill/>
        </p:spPr>
        <p:txBody>
          <a:bodyPr wrap="square" lIns="0" tIns="0" rIns="0" bIns="0" anchor="t">
            <a:noAutofit/>
          </a:bodyPr>
          <a:lstStyle/>
          <a:p>
            <a:pPr marL="0" indent="0" algn="l">
              <a:lnSpc>
                <a:spcPct val="100000"/>
              </a:lnSpc>
              <a:spcBef>
                <a:spcPts val="0"/>
              </a:spcBef>
              <a:buNone/>
            </a:pPr>
            <a:r>
              <a:rPr lang="en-AU" sz="1900" b="0">
                <a:solidFill>
                  <a:srgbClr val="2D2440"/>
                </a:solidFill>
                <a:latin typeface="Arial"/>
                <a:ea typeface="Arial"/>
                <a:cs typeface="Arial"/>
              </a:rPr>
              <a:t>Help students answer:</a:t>
            </a:r>
          </a:p>
        </p:txBody>
      </p:sp>
      <p:sp>
        <p:nvSpPr>
          <p:cNvPr id="5" name="Rounded Rectangle 4"/>
          <p:cNvSpPr/>
          <p:nvPr/>
        </p:nvSpPr>
        <p:spPr>
          <a:xfrm>
            <a:off x="685800" y="2560320"/>
            <a:ext cx="2533574" cy="2148840"/>
          </a:xfrm>
          <a:prstGeom prst="roundRect">
            <a:avLst>
              <a:gd name="adj" fmla="val 12000"/>
            </a:avLst>
          </a:prstGeom>
          <a:solidFill>
            <a:srgbClr val="F3F0FA"/>
          </a:solidFill>
          <a:ln>
            <a:noFill/>
          </a:ln>
        </p:spPr>
        <p:txBody>
          <a:bodyPr rtlCol="0" anchor="ctr"/>
          <a:lstStyle/>
          <a:p>
            <a:pPr algn="ctr"/>
            <a:endParaRPr/>
          </a:p>
        </p:txBody>
      </p:sp>
      <p:sp>
        <p:nvSpPr>
          <p:cNvPr id="6" name="Oval 5"/>
          <p:cNvSpPr/>
          <p:nvPr/>
        </p:nvSpPr>
        <p:spPr>
          <a:xfrm>
            <a:off x="960120" y="2788920"/>
            <a:ext cx="548640" cy="548640"/>
          </a:xfrm>
          <a:prstGeom prst="ellipse">
            <a:avLst/>
          </a:prstGeom>
          <a:solidFill>
            <a:srgbClr val="FFFFFF"/>
          </a:solidFill>
          <a:ln w="25400">
            <a:solidFill>
              <a:srgbClr val="584099"/>
            </a:solidFill>
          </a:ln>
        </p:spPr>
        <p:txBody>
          <a:bodyPr rtlCol="0" anchor="ctr"/>
          <a:lstStyle/>
          <a:p>
            <a:pPr algn="ctr"/>
            <a:endParaRPr/>
          </a:p>
        </p:txBody>
      </p:sp>
      <p:sp>
        <p:nvSpPr>
          <p:cNvPr id="7" name="TextBox 6"/>
          <p:cNvSpPr txBox="1"/>
          <p:nvPr/>
        </p:nvSpPr>
        <p:spPr>
          <a:xfrm>
            <a:off x="960120" y="2788920"/>
            <a:ext cx="54864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2000" b="0">
                <a:solidFill>
                  <a:srgbClr val="584099"/>
                </a:solidFill>
                <a:latin typeface="Arial Black"/>
                <a:ea typeface="Arial Black"/>
                <a:cs typeface="Arial Black"/>
              </a:rPr>
              <a:t>?</a:t>
            </a:r>
          </a:p>
        </p:txBody>
      </p:sp>
      <p:sp>
        <p:nvSpPr>
          <p:cNvPr id="8" name="TextBox 7"/>
          <p:cNvSpPr txBox="1"/>
          <p:nvPr/>
        </p:nvSpPr>
        <p:spPr>
          <a:xfrm>
            <a:off x="960120" y="3520440"/>
            <a:ext cx="1984934" cy="109728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What is happening?</a:t>
            </a:r>
          </a:p>
        </p:txBody>
      </p:sp>
      <p:sp>
        <p:nvSpPr>
          <p:cNvPr id="9" name="Rounded Rectangle 8"/>
          <p:cNvSpPr/>
          <p:nvPr/>
        </p:nvSpPr>
        <p:spPr>
          <a:xfrm>
            <a:off x="3447974" y="2560320"/>
            <a:ext cx="2533574" cy="2148840"/>
          </a:xfrm>
          <a:prstGeom prst="roundRect">
            <a:avLst>
              <a:gd name="adj" fmla="val 12000"/>
            </a:avLst>
          </a:prstGeom>
          <a:solidFill>
            <a:srgbClr val="F3F0FA"/>
          </a:solidFill>
          <a:ln>
            <a:noFill/>
          </a:ln>
        </p:spPr>
        <p:txBody>
          <a:bodyPr rtlCol="0" anchor="ctr"/>
          <a:lstStyle/>
          <a:p>
            <a:pPr algn="ctr"/>
            <a:endParaRPr/>
          </a:p>
        </p:txBody>
      </p:sp>
      <p:sp>
        <p:nvSpPr>
          <p:cNvPr id="10" name="Oval 9"/>
          <p:cNvSpPr/>
          <p:nvPr/>
        </p:nvSpPr>
        <p:spPr>
          <a:xfrm>
            <a:off x="3722294" y="2788920"/>
            <a:ext cx="548640" cy="548640"/>
          </a:xfrm>
          <a:prstGeom prst="ellipse">
            <a:avLst/>
          </a:prstGeom>
          <a:solidFill>
            <a:srgbClr val="FFFFFF"/>
          </a:solidFill>
          <a:ln w="25400">
            <a:solidFill>
              <a:srgbClr val="584099"/>
            </a:solidFill>
          </a:ln>
        </p:spPr>
        <p:txBody>
          <a:bodyPr rtlCol="0" anchor="ctr"/>
          <a:lstStyle/>
          <a:p>
            <a:pPr algn="ctr"/>
            <a:endParaRPr/>
          </a:p>
        </p:txBody>
      </p:sp>
      <p:sp>
        <p:nvSpPr>
          <p:cNvPr id="11" name="TextBox 10"/>
          <p:cNvSpPr txBox="1"/>
          <p:nvPr/>
        </p:nvSpPr>
        <p:spPr>
          <a:xfrm>
            <a:off x="3722294" y="2788920"/>
            <a:ext cx="54864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2000" b="0">
                <a:solidFill>
                  <a:srgbClr val="584099"/>
                </a:solidFill>
                <a:latin typeface="Arial Black"/>
                <a:ea typeface="Arial Black"/>
                <a:cs typeface="Arial Black"/>
              </a:rPr>
              <a:t>?</a:t>
            </a:r>
          </a:p>
        </p:txBody>
      </p:sp>
      <p:sp>
        <p:nvSpPr>
          <p:cNvPr id="12" name="TextBox 11"/>
          <p:cNvSpPr txBox="1"/>
          <p:nvPr/>
        </p:nvSpPr>
        <p:spPr>
          <a:xfrm>
            <a:off x="3722294" y="3520440"/>
            <a:ext cx="1984934" cy="109728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What is changing?</a:t>
            </a:r>
          </a:p>
        </p:txBody>
      </p:sp>
      <p:sp>
        <p:nvSpPr>
          <p:cNvPr id="13" name="Rounded Rectangle 12"/>
          <p:cNvSpPr/>
          <p:nvPr/>
        </p:nvSpPr>
        <p:spPr>
          <a:xfrm>
            <a:off x="6210148" y="2560320"/>
            <a:ext cx="2533574" cy="2148840"/>
          </a:xfrm>
          <a:prstGeom prst="roundRect">
            <a:avLst>
              <a:gd name="adj" fmla="val 12000"/>
            </a:avLst>
          </a:prstGeom>
          <a:solidFill>
            <a:srgbClr val="F3F0FA"/>
          </a:solidFill>
          <a:ln>
            <a:noFill/>
          </a:ln>
        </p:spPr>
        <p:txBody>
          <a:bodyPr rtlCol="0" anchor="ctr"/>
          <a:lstStyle/>
          <a:p>
            <a:pPr algn="ctr"/>
            <a:endParaRPr/>
          </a:p>
        </p:txBody>
      </p:sp>
      <p:sp>
        <p:nvSpPr>
          <p:cNvPr id="14" name="Oval 13"/>
          <p:cNvSpPr/>
          <p:nvPr/>
        </p:nvSpPr>
        <p:spPr>
          <a:xfrm>
            <a:off x="6484468" y="2788920"/>
            <a:ext cx="548640" cy="548640"/>
          </a:xfrm>
          <a:prstGeom prst="ellipse">
            <a:avLst/>
          </a:prstGeom>
          <a:solidFill>
            <a:srgbClr val="FFFFFF"/>
          </a:solidFill>
          <a:ln w="25400">
            <a:solidFill>
              <a:srgbClr val="584099"/>
            </a:solidFill>
          </a:ln>
        </p:spPr>
        <p:txBody>
          <a:bodyPr rtlCol="0" anchor="ctr"/>
          <a:lstStyle/>
          <a:p>
            <a:pPr algn="ctr"/>
            <a:endParaRPr/>
          </a:p>
        </p:txBody>
      </p:sp>
      <p:sp>
        <p:nvSpPr>
          <p:cNvPr id="15" name="TextBox 14"/>
          <p:cNvSpPr txBox="1"/>
          <p:nvPr/>
        </p:nvSpPr>
        <p:spPr>
          <a:xfrm>
            <a:off x="6484468" y="2788920"/>
            <a:ext cx="54864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2000" b="0">
                <a:solidFill>
                  <a:srgbClr val="584099"/>
                </a:solidFill>
                <a:latin typeface="Arial Black"/>
                <a:ea typeface="Arial Black"/>
                <a:cs typeface="Arial Black"/>
              </a:rPr>
              <a:t>?</a:t>
            </a:r>
          </a:p>
        </p:txBody>
      </p:sp>
      <p:sp>
        <p:nvSpPr>
          <p:cNvPr id="16" name="TextBox 15"/>
          <p:cNvSpPr txBox="1"/>
          <p:nvPr/>
        </p:nvSpPr>
        <p:spPr>
          <a:xfrm>
            <a:off x="6484468" y="3520440"/>
            <a:ext cx="1984934" cy="109728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What comes next?</a:t>
            </a:r>
          </a:p>
        </p:txBody>
      </p:sp>
      <p:sp>
        <p:nvSpPr>
          <p:cNvPr id="17" name="Rounded Rectangle 16"/>
          <p:cNvSpPr/>
          <p:nvPr/>
        </p:nvSpPr>
        <p:spPr>
          <a:xfrm>
            <a:off x="8972321" y="2560320"/>
            <a:ext cx="2533574" cy="2148840"/>
          </a:xfrm>
          <a:prstGeom prst="roundRect">
            <a:avLst>
              <a:gd name="adj" fmla="val 12000"/>
            </a:avLst>
          </a:prstGeom>
          <a:solidFill>
            <a:srgbClr val="F3F0FA"/>
          </a:solidFill>
          <a:ln>
            <a:noFill/>
          </a:ln>
        </p:spPr>
        <p:txBody>
          <a:bodyPr rtlCol="0" anchor="ctr"/>
          <a:lstStyle/>
          <a:p>
            <a:pPr algn="ctr"/>
            <a:endParaRPr/>
          </a:p>
        </p:txBody>
      </p:sp>
      <p:sp>
        <p:nvSpPr>
          <p:cNvPr id="18" name="Oval 17"/>
          <p:cNvSpPr/>
          <p:nvPr/>
        </p:nvSpPr>
        <p:spPr>
          <a:xfrm>
            <a:off x="9246641" y="2788920"/>
            <a:ext cx="548640" cy="548640"/>
          </a:xfrm>
          <a:prstGeom prst="ellipse">
            <a:avLst/>
          </a:prstGeom>
          <a:solidFill>
            <a:srgbClr val="FFFFFF"/>
          </a:solidFill>
          <a:ln w="25400">
            <a:solidFill>
              <a:srgbClr val="584099"/>
            </a:solidFill>
          </a:ln>
        </p:spPr>
        <p:txBody>
          <a:bodyPr rtlCol="0" anchor="ctr"/>
          <a:lstStyle/>
          <a:p>
            <a:pPr algn="ctr"/>
            <a:endParaRPr/>
          </a:p>
        </p:txBody>
      </p:sp>
      <p:sp>
        <p:nvSpPr>
          <p:cNvPr id="19" name="TextBox 18"/>
          <p:cNvSpPr txBox="1"/>
          <p:nvPr/>
        </p:nvSpPr>
        <p:spPr>
          <a:xfrm>
            <a:off x="9246641" y="2788920"/>
            <a:ext cx="54864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2000" b="0">
                <a:solidFill>
                  <a:srgbClr val="584099"/>
                </a:solidFill>
                <a:latin typeface="Arial Black"/>
                <a:ea typeface="Arial Black"/>
                <a:cs typeface="Arial Black"/>
              </a:rPr>
              <a:t>?</a:t>
            </a:r>
          </a:p>
        </p:txBody>
      </p:sp>
      <p:sp>
        <p:nvSpPr>
          <p:cNvPr id="20" name="TextBox 19"/>
          <p:cNvSpPr txBox="1"/>
          <p:nvPr/>
        </p:nvSpPr>
        <p:spPr>
          <a:xfrm>
            <a:off x="9246641" y="3520440"/>
            <a:ext cx="1984934" cy="109728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What can I do if the plan changes?</a:t>
            </a:r>
          </a:p>
        </p:txBody>
      </p:sp>
      <p:sp>
        <p:nvSpPr>
          <p:cNvPr id="21" name="Rounded Rectangle 20"/>
          <p:cNvSpPr/>
          <p:nvPr/>
        </p:nvSpPr>
        <p:spPr>
          <a:xfrm>
            <a:off x="685800" y="48463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22" name="TextBox 21"/>
          <p:cNvSpPr txBox="1"/>
          <p:nvPr/>
        </p:nvSpPr>
        <p:spPr>
          <a:xfrm>
            <a:off x="960120" y="48463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Give information early enough to be useful.</a:t>
            </a:r>
          </a:p>
        </p:txBody>
      </p:sp>
      <p:sp>
        <p:nvSpPr>
          <p:cNvPr id="23" name="Schedules 23"/>
          <p:cNvSpPr txBox="1"/>
          <p:nvPr/>
        </p:nvSpPr>
        <p:spPr>
          <a:xfrm>
            <a:off x="685800" y="5577840"/>
            <a:ext cx="10820095" cy="86868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Schedules: </a:t>
            </a:r>
            <a:r>
              <a:rPr lang="en-AU" sz="2000" b="0">
                <a:solidFill>
                  <a:srgbClr val="2D2440"/>
                </a:solidFill>
                <a:latin typeface="Arial"/>
                <a:ea typeface="Arial"/>
                <a:cs typeface="Arial"/>
              </a:rPr>
              <a:t>make sequence, timing and change visible. For example, when assembly moves earlier, move its card on the class visual schedule and point it out at the start of the 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Visual supports</a:t>
            </a:r>
          </a:p>
        </p:txBody>
      </p:sp>
      <p:sp>
        <p:nvSpPr>
          <p:cNvPr id="5" name="Rounded Rectangle 4"/>
          <p:cNvSpPr/>
          <p:nvPr/>
        </p:nvSpPr>
        <p:spPr>
          <a:xfrm>
            <a:off x="7589520" y="3108960"/>
            <a:ext cx="3916375" cy="3200400"/>
          </a:xfrm>
          <a:prstGeom prst="roundRect">
            <a:avLst>
              <a:gd name="adj" fmla="val 12000"/>
            </a:avLst>
          </a:prstGeom>
          <a:solidFill>
            <a:srgbClr val="FFFFFF"/>
          </a:solidFill>
          <a:ln w="19050">
            <a:solidFill>
              <a:srgbClr val="584099"/>
            </a:solidFill>
          </a:ln>
        </p:spPr>
        <p:txBody>
          <a:bodyPr rtlCol="0" anchor="ctr"/>
          <a:lstStyle/>
          <a:p>
            <a:pPr algn="ctr"/>
            <a:endParaRPr/>
          </a:p>
        </p:txBody>
      </p:sp>
      <p:sp>
        <p:nvSpPr>
          <p:cNvPr id="6" name="TextBox 5"/>
          <p:cNvSpPr txBox="1"/>
          <p:nvPr/>
        </p:nvSpPr>
        <p:spPr>
          <a:xfrm>
            <a:off x="7863840" y="3108960"/>
            <a:ext cx="3367735" cy="3200400"/>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584099"/>
                </a:solidFill>
                <a:latin typeface="Arial Black"/>
                <a:ea typeface="Arial Black"/>
                <a:cs typeface="Arial Black"/>
              </a:rPr>
              <a:t>Visual Supports Checklist</a:t>
            </a:r>
          </a:p>
          <a:p>
            <a:pPr marL="0" indent="0" algn="l">
              <a:lnSpc>
                <a:spcPct val="105000"/>
              </a:lnSpc>
              <a:spcBef>
                <a:spcPts val="600"/>
              </a:spcBef>
              <a:buNone/>
            </a:pPr>
            <a:r>
              <a:rPr lang="en-AU" sz="1800" b="0">
                <a:solidFill>
                  <a:srgbClr val="2D2440"/>
                </a:solidFill>
                <a:latin typeface="Arial"/>
                <a:ea typeface="Arial"/>
                <a:cs typeface="Arial"/>
              </a:rPr>
              <a:t>Online webinar available to explore visual supports in greater depth.</a:t>
            </a:r>
          </a:p>
        </p:txBody>
      </p:sp>
      <p:sp>
        <p:nvSpPr>
          <p:cNvPr id="7" name="TextBox 6"/>
          <p:cNvSpPr txBox="1"/>
          <p:nvPr/>
        </p:nvSpPr>
        <p:spPr>
          <a:xfrm>
            <a:off x="685800" y="1463040"/>
            <a:ext cx="10820095" cy="146304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A visual support should clarify something the student needs to find, understand, remember or communicate.</a:t>
            </a:r>
          </a:p>
          <a:p>
            <a:pPr marL="0" indent="0" algn="l">
              <a:lnSpc>
                <a:spcPct val="110000"/>
              </a:lnSpc>
              <a:spcBef>
                <a:spcPts val="800"/>
              </a:spcBef>
              <a:buNone/>
            </a:pPr>
            <a:r>
              <a:rPr lang="en-AU" sz="1800" b="0">
                <a:solidFill>
                  <a:srgbClr val="2D2440"/>
                </a:solidFill>
                <a:latin typeface="Arial"/>
                <a:ea typeface="Arial"/>
                <a:cs typeface="Arial"/>
              </a:rPr>
              <a:t>Keep it available at the point of use, avoid unnecessary detail, explain how it works and check its meaning and usefulness with the student.</a:t>
            </a:r>
          </a:p>
        </p:txBody>
      </p:sp>
      <p:sp>
        <p:nvSpPr>
          <p:cNvPr id="8" name="Rounded Rectangle 7"/>
          <p:cNvSpPr/>
          <p:nvPr/>
        </p:nvSpPr>
        <p:spPr>
          <a:xfrm>
            <a:off x="685800" y="3108960"/>
            <a:ext cx="6675120" cy="3200400"/>
          </a:xfrm>
          <a:prstGeom prst="roundRect">
            <a:avLst>
              <a:gd name="adj" fmla="val 8000"/>
            </a:avLst>
          </a:prstGeom>
          <a:solidFill>
            <a:srgbClr val="F3F0FA"/>
          </a:solidFill>
          <a:ln>
            <a:noFill/>
          </a:ln>
        </p:spPr>
        <p:txBody>
          <a:bodyPr rtlCol="0" anchor="ctr"/>
          <a:lstStyle/>
          <a:p>
            <a:pPr algn="ctr"/>
            <a:endParaRPr/>
          </a:p>
        </p:txBody>
      </p:sp>
      <p:sp>
        <p:nvSpPr>
          <p:cNvPr id="9" name="TextBox 8"/>
          <p:cNvSpPr txBox="1"/>
          <p:nvPr/>
        </p:nvSpPr>
        <p:spPr>
          <a:xfrm>
            <a:off x="1005840" y="3108960"/>
            <a:ext cx="6035040" cy="3200400"/>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584099"/>
                </a:solidFill>
                <a:latin typeface="Arial Black"/>
                <a:ea typeface="Arial Black"/>
                <a:cs typeface="Arial Black"/>
              </a:rPr>
              <a:t>Quick review of a visual support</a:t>
            </a:r>
          </a:p>
          <a:p>
            <a:pPr marL="347472" indent="-347472" algn="l">
              <a:lnSpc>
                <a:spcPct val="100000"/>
              </a:lnSpc>
              <a:spcBef>
                <a:spcPts val="800"/>
              </a:spcBef>
              <a:buClr>
                <a:srgbClr val="584099"/>
              </a:buClr>
              <a:buFont typeface="Arial"/>
              <a:buChar char="•"/>
            </a:pPr>
            <a:r>
              <a:rPr lang="en-AU" sz="1800" b="1">
                <a:solidFill>
                  <a:srgbClr val="3D2A6B"/>
                </a:solidFill>
                <a:latin typeface="Arial"/>
                <a:ea typeface="Arial"/>
                <a:cs typeface="Arial"/>
              </a:rPr>
              <a:t>Can the student understand it?</a:t>
            </a:r>
          </a:p>
          <a:p>
            <a:pPr marL="347472" indent="-347472" algn="l">
              <a:lnSpc>
                <a:spcPct val="100000"/>
              </a:lnSpc>
              <a:spcBef>
                <a:spcPts val="400"/>
              </a:spcBef>
              <a:buClr>
                <a:srgbClr val="584099"/>
              </a:buClr>
              <a:buFont typeface="Arial"/>
              <a:buChar char="•"/>
            </a:pPr>
            <a:r>
              <a:rPr lang="en-AU" sz="1800" b="1">
                <a:solidFill>
                  <a:srgbClr val="3D2A6B"/>
                </a:solidFill>
                <a:latin typeface="Arial"/>
                <a:ea typeface="Arial"/>
                <a:cs typeface="Arial"/>
              </a:rPr>
              <a:t>Can they access it when they need it?</a:t>
            </a:r>
          </a:p>
          <a:p>
            <a:pPr marL="347472" indent="-347472" algn="l">
              <a:lnSpc>
                <a:spcPct val="100000"/>
              </a:lnSpc>
              <a:spcBef>
                <a:spcPts val="400"/>
              </a:spcBef>
              <a:buClr>
                <a:srgbClr val="584099"/>
              </a:buClr>
              <a:buFont typeface="Arial"/>
              <a:buChar char="•"/>
            </a:pPr>
            <a:r>
              <a:rPr lang="en-AU" sz="1800" b="1">
                <a:solidFill>
                  <a:srgbClr val="3D2A6B"/>
                </a:solidFill>
                <a:latin typeface="Arial"/>
                <a:ea typeface="Arial"/>
                <a:cs typeface="Arial"/>
              </a:rPr>
              <a:t>Does it reflect what is actually happening, including change?</a:t>
            </a:r>
          </a:p>
          <a:p>
            <a:pPr marL="347472" indent="-347472" algn="l">
              <a:lnSpc>
                <a:spcPct val="100000"/>
              </a:lnSpc>
              <a:spcBef>
                <a:spcPts val="400"/>
              </a:spcBef>
              <a:buClr>
                <a:srgbClr val="584099"/>
              </a:buClr>
              <a:buFont typeface="Arial"/>
              <a:buChar char="•"/>
            </a:pPr>
            <a:r>
              <a:rPr lang="en-AU" sz="1800" b="1">
                <a:solidFill>
                  <a:srgbClr val="3D2A6B"/>
                </a:solidFill>
                <a:latin typeface="Arial"/>
                <a:ea typeface="Arial"/>
                <a:cs typeface="Arial"/>
              </a:rPr>
              <a:t>Does it provide useful information or a way to respond?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C1826-8129-03E6-F590-473183620AB0}"/>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Universal Design for Learning</a:t>
            </a:r>
          </a:p>
        </p:txBody>
      </p:sp>
      <p:sp>
        <p:nvSpPr>
          <p:cNvPr id="3" name="Intro 3"/>
          <p:cNvSpPr txBox="1"/>
          <p:nvPr/>
        </p:nvSpPr>
        <p:spPr>
          <a:xfrm>
            <a:off x="685800" y="1463040"/>
            <a:ext cx="10789920" cy="822960"/>
          </a:xfrm>
          <a:prstGeom prst="rect">
            <a:avLst/>
          </a:prstGeom>
          <a:noFill/>
        </p:spPr>
        <p:txBody>
          <a:bodyPr wrap="square" lIns="0" tIns="0" rIns="0" bIns="0" anchor="t">
            <a:noAutofit/>
          </a:bodyPr>
          <a:lstStyle/>
          <a:p>
            <a:pPr marL="0" indent="0" algn="l">
              <a:lnSpc>
                <a:spcPct val="100000"/>
              </a:lnSpc>
              <a:spcBef>
                <a:spcPts val="0"/>
              </a:spcBef>
              <a:buNone/>
            </a:pPr>
            <a:r>
              <a:rPr lang="en-AU" sz="2400" b="1">
                <a:solidFill>
                  <a:srgbClr val="3D2A6B"/>
                </a:solidFill>
                <a:latin typeface="Arial"/>
                <a:ea typeface="Arial"/>
                <a:cs typeface="Arial"/>
              </a:rPr>
              <a:t>Apply a Universal Design for Learning lens to the emerging design:</a:t>
            </a:r>
          </a:p>
        </p:txBody>
      </p:sp>
      <p:sp>
        <p:nvSpPr>
          <p:cNvPr id="4" name="Card"/>
          <p:cNvSpPr/>
          <p:nvPr/>
        </p:nvSpPr>
        <p:spPr>
          <a:xfrm>
            <a:off x="685800" y="2468880"/>
            <a:ext cx="3454298" cy="2194560"/>
          </a:xfrm>
          <a:prstGeom prst="roundRect">
            <a:avLst>
              <a:gd name="adj" fmla="val 12000"/>
            </a:avLst>
          </a:prstGeom>
          <a:solidFill>
            <a:srgbClr val="F3F0FA"/>
          </a:solidFill>
          <a:ln>
            <a:noFill/>
          </a:ln>
        </p:spPr>
        <p:txBody>
          <a:bodyPr rtlCol="0" anchor="ctr"/>
          <a:lstStyle/>
          <a:p>
            <a:pPr algn="ctr"/>
            <a:endParaRPr/>
          </a:p>
        </p:txBody>
      </p:sp>
      <p:sp>
        <p:nvSpPr>
          <p:cNvPr id="5" name="Card text 5"/>
          <p:cNvSpPr txBox="1"/>
          <p:nvPr/>
        </p:nvSpPr>
        <p:spPr>
          <a:xfrm>
            <a:off x="960120" y="2468880"/>
            <a:ext cx="2905658" cy="2194560"/>
          </a:xfrm>
          <a:prstGeom prst="rect">
            <a:avLst/>
          </a:prstGeom>
          <a:noFill/>
        </p:spPr>
        <p:txBody>
          <a:bodyPr wrap="square" lIns="0" tIns="0" rIns="0" bIns="0" anchor="ctr">
            <a:noAutofit/>
          </a:bodyPr>
          <a:lstStyle/>
          <a:p>
            <a:pPr marL="0" indent="0" algn="ctr">
              <a:lnSpc>
                <a:spcPct val="100000"/>
              </a:lnSpc>
              <a:spcBef>
                <a:spcPts val="0"/>
              </a:spcBef>
              <a:buNone/>
            </a:pPr>
            <a:r>
              <a:rPr lang="en-AU" sz="2200" b="1">
                <a:solidFill>
                  <a:srgbClr val="3D2A6B"/>
                </a:solidFill>
                <a:latin typeface="Arial"/>
                <a:ea typeface="Arial"/>
                <a:cs typeface="Arial"/>
              </a:rPr>
              <a:t>Make important information clear and available</a:t>
            </a:r>
          </a:p>
        </p:txBody>
      </p:sp>
      <p:sp>
        <p:nvSpPr>
          <p:cNvPr id="6" name="Card"/>
          <p:cNvSpPr/>
          <p:nvPr/>
        </p:nvSpPr>
        <p:spPr>
          <a:xfrm>
            <a:off x="4368698" y="2468880"/>
            <a:ext cx="3454298" cy="2194560"/>
          </a:xfrm>
          <a:prstGeom prst="roundRect">
            <a:avLst>
              <a:gd name="adj" fmla="val 12000"/>
            </a:avLst>
          </a:prstGeom>
          <a:solidFill>
            <a:srgbClr val="F3F0FA"/>
          </a:solidFill>
          <a:ln>
            <a:noFill/>
          </a:ln>
        </p:spPr>
        <p:txBody>
          <a:bodyPr rtlCol="0" anchor="ctr"/>
          <a:lstStyle/>
          <a:p>
            <a:pPr algn="ctr"/>
            <a:endParaRPr/>
          </a:p>
        </p:txBody>
      </p:sp>
      <p:sp>
        <p:nvSpPr>
          <p:cNvPr id="7" name="Card text 7"/>
          <p:cNvSpPr txBox="1"/>
          <p:nvPr/>
        </p:nvSpPr>
        <p:spPr>
          <a:xfrm>
            <a:off x="4643018" y="2468880"/>
            <a:ext cx="2905658" cy="2194560"/>
          </a:xfrm>
          <a:prstGeom prst="rect">
            <a:avLst/>
          </a:prstGeom>
          <a:noFill/>
        </p:spPr>
        <p:txBody>
          <a:bodyPr wrap="square" lIns="0" tIns="0" rIns="0" bIns="0" anchor="ctr">
            <a:noAutofit/>
          </a:bodyPr>
          <a:lstStyle/>
          <a:p>
            <a:pPr marL="0" indent="0" algn="ctr">
              <a:lnSpc>
                <a:spcPct val="100000"/>
              </a:lnSpc>
              <a:spcBef>
                <a:spcPts val="0"/>
              </a:spcBef>
              <a:buNone/>
            </a:pPr>
            <a:r>
              <a:rPr lang="en-AU" sz="2200" b="1">
                <a:solidFill>
                  <a:srgbClr val="3D2A6B"/>
                </a:solidFill>
                <a:latin typeface="Arial"/>
                <a:ea typeface="Arial"/>
                <a:cs typeface="Arial"/>
              </a:rPr>
              <a:t>Offer workable ways to participate and respond</a:t>
            </a:r>
          </a:p>
        </p:txBody>
      </p:sp>
      <p:sp>
        <p:nvSpPr>
          <p:cNvPr id="8" name="Card"/>
          <p:cNvSpPr/>
          <p:nvPr/>
        </p:nvSpPr>
        <p:spPr>
          <a:xfrm>
            <a:off x="8051597" y="2468880"/>
            <a:ext cx="3454298" cy="2194560"/>
          </a:xfrm>
          <a:prstGeom prst="roundRect">
            <a:avLst>
              <a:gd name="adj" fmla="val 12000"/>
            </a:avLst>
          </a:prstGeom>
          <a:solidFill>
            <a:srgbClr val="F3F0FA"/>
          </a:solidFill>
          <a:ln>
            <a:noFill/>
          </a:ln>
        </p:spPr>
        <p:txBody>
          <a:bodyPr rtlCol="0" anchor="ctr"/>
          <a:lstStyle/>
          <a:p>
            <a:pPr algn="ctr"/>
            <a:endParaRPr/>
          </a:p>
        </p:txBody>
      </p:sp>
      <p:sp>
        <p:nvSpPr>
          <p:cNvPr id="9" name="Card text 9"/>
          <p:cNvSpPr txBox="1"/>
          <p:nvPr/>
        </p:nvSpPr>
        <p:spPr>
          <a:xfrm>
            <a:off x="8325917" y="2468880"/>
            <a:ext cx="2905658" cy="2194560"/>
          </a:xfrm>
          <a:prstGeom prst="rect">
            <a:avLst/>
          </a:prstGeom>
          <a:noFill/>
        </p:spPr>
        <p:txBody>
          <a:bodyPr wrap="square" lIns="0" tIns="0" rIns="0" bIns="0" anchor="ctr">
            <a:noAutofit/>
          </a:bodyPr>
          <a:lstStyle/>
          <a:p>
            <a:pPr marL="0" indent="0" algn="ctr">
              <a:lnSpc>
                <a:spcPct val="100000"/>
              </a:lnSpc>
              <a:spcBef>
                <a:spcPts val="0"/>
              </a:spcBef>
              <a:buNone/>
            </a:pPr>
            <a:r>
              <a:rPr lang="en-AU" sz="2200" b="1">
                <a:solidFill>
                  <a:srgbClr val="3D2A6B"/>
                </a:solidFill>
                <a:latin typeface="Arial"/>
                <a:ea typeface="Arial"/>
                <a:cs typeface="Arial"/>
              </a:rPr>
              <a:t>Support engagement without removing meaningful challenge</a:t>
            </a:r>
          </a:p>
        </p:txBody>
      </p:sp>
      <p:sp>
        <p:nvSpPr>
          <p:cNvPr id="10" name="Band"/>
          <p:cNvSpPr/>
          <p:nvPr/>
        </p:nvSpPr>
        <p:spPr>
          <a:xfrm>
            <a:off x="685800" y="502920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1" name="Band text"/>
          <p:cNvSpPr txBox="1"/>
          <p:nvPr/>
        </p:nvSpPr>
        <p:spPr>
          <a:xfrm>
            <a:off x="960120" y="502920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2000" b="1">
                <a:solidFill>
                  <a:srgbClr val="584099"/>
                </a:solidFill>
                <a:latin typeface="Arial"/>
                <a:ea typeface="Arial"/>
                <a:cs typeface="Arial"/>
              </a:rPr>
              <a:t>Individual knowledge and universal design can inform each other.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Accessibility check</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Run these over your draft design, then test it through use and feedback.</a:t>
            </a:r>
          </a:p>
        </p:txBody>
      </p:sp>
      <p:sp>
        <p:nvSpPr>
          <p:cNvPr id="4" name="Rounded Rectangle 3"/>
          <p:cNvSpPr/>
          <p:nvPr/>
        </p:nvSpPr>
        <p:spPr>
          <a:xfrm>
            <a:off x="685800" y="2011680"/>
            <a:ext cx="10820095" cy="822960"/>
          </a:xfrm>
          <a:prstGeom prst="roundRect">
            <a:avLst>
              <a:gd name="adj" fmla="val 25000"/>
            </a:avLst>
          </a:prstGeom>
          <a:solidFill>
            <a:srgbClr val="F3F0FA"/>
          </a:solidFill>
          <a:ln>
            <a:noFill/>
          </a:ln>
        </p:spPr>
        <p:txBody>
          <a:bodyPr rtlCol="0" anchor="ctr"/>
          <a:lstStyle/>
          <a:p>
            <a:pPr algn="ctr"/>
            <a:endParaRPr/>
          </a:p>
        </p:txBody>
      </p:sp>
      <p:sp>
        <p:nvSpPr>
          <p:cNvPr id="5" name="Oval 4"/>
          <p:cNvSpPr/>
          <p:nvPr/>
        </p:nvSpPr>
        <p:spPr>
          <a:xfrm>
            <a:off x="914400" y="219456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6" name="TextBox 5"/>
          <p:cNvSpPr txBox="1"/>
          <p:nvPr/>
        </p:nvSpPr>
        <p:spPr>
          <a:xfrm>
            <a:off x="1600200" y="2011680"/>
            <a:ext cx="9601200" cy="82296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Can students find and understand what they need?</a:t>
            </a:r>
          </a:p>
        </p:txBody>
      </p:sp>
      <p:sp>
        <p:nvSpPr>
          <p:cNvPr id="7" name="Rounded Rectangle 6"/>
          <p:cNvSpPr/>
          <p:nvPr/>
        </p:nvSpPr>
        <p:spPr>
          <a:xfrm>
            <a:off x="685800" y="3017520"/>
            <a:ext cx="10820095" cy="822960"/>
          </a:xfrm>
          <a:prstGeom prst="roundRect">
            <a:avLst>
              <a:gd name="adj" fmla="val 25000"/>
            </a:avLst>
          </a:prstGeom>
          <a:solidFill>
            <a:srgbClr val="F3F0FA"/>
          </a:solidFill>
          <a:ln>
            <a:noFill/>
          </a:ln>
        </p:spPr>
        <p:txBody>
          <a:bodyPr rtlCol="0" anchor="ctr"/>
          <a:lstStyle/>
          <a:p>
            <a:pPr algn="ctr"/>
            <a:endParaRPr/>
          </a:p>
        </p:txBody>
      </p:sp>
      <p:sp>
        <p:nvSpPr>
          <p:cNvPr id="8" name="Oval 7"/>
          <p:cNvSpPr/>
          <p:nvPr/>
        </p:nvSpPr>
        <p:spPr>
          <a:xfrm>
            <a:off x="914400" y="320040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9" name="TextBox 8"/>
          <p:cNvSpPr txBox="1"/>
          <p:nvPr/>
        </p:nvSpPr>
        <p:spPr>
          <a:xfrm>
            <a:off x="1600200" y="3017520"/>
            <a:ext cx="9601200" cy="82296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Can they take part in more than one way?</a:t>
            </a:r>
          </a:p>
        </p:txBody>
      </p:sp>
      <p:sp>
        <p:nvSpPr>
          <p:cNvPr id="10" name="Rounded Rectangle 9"/>
          <p:cNvSpPr/>
          <p:nvPr/>
        </p:nvSpPr>
        <p:spPr>
          <a:xfrm>
            <a:off x="685800" y="4023360"/>
            <a:ext cx="10820095" cy="822960"/>
          </a:xfrm>
          <a:prstGeom prst="roundRect">
            <a:avLst>
              <a:gd name="adj" fmla="val 25000"/>
            </a:avLst>
          </a:prstGeom>
          <a:solidFill>
            <a:srgbClr val="F3F0FA"/>
          </a:solidFill>
          <a:ln>
            <a:noFill/>
          </a:ln>
        </p:spPr>
        <p:txBody>
          <a:bodyPr rtlCol="0" anchor="ctr"/>
          <a:lstStyle/>
          <a:p>
            <a:pPr algn="ctr"/>
            <a:endParaRPr/>
          </a:p>
        </p:txBody>
      </p:sp>
      <p:sp>
        <p:nvSpPr>
          <p:cNvPr id="11" name="Oval 10"/>
          <p:cNvSpPr/>
          <p:nvPr/>
        </p:nvSpPr>
        <p:spPr>
          <a:xfrm>
            <a:off x="914400" y="420624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2" name="TextBox 11"/>
          <p:cNvSpPr txBox="1"/>
          <p:nvPr/>
        </p:nvSpPr>
        <p:spPr>
          <a:xfrm>
            <a:off x="1600200" y="4023360"/>
            <a:ext cx="9601200" cy="82296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Can they pause, ask for help or recover?</a:t>
            </a:r>
          </a:p>
        </p:txBody>
      </p:sp>
      <p:sp>
        <p:nvSpPr>
          <p:cNvPr id="13" name="Rounded Rectangle 12"/>
          <p:cNvSpPr/>
          <p:nvPr/>
        </p:nvSpPr>
        <p:spPr>
          <a:xfrm>
            <a:off x="685800" y="5029200"/>
            <a:ext cx="10820095" cy="822960"/>
          </a:xfrm>
          <a:prstGeom prst="roundRect">
            <a:avLst>
              <a:gd name="adj" fmla="val 25000"/>
            </a:avLst>
          </a:prstGeom>
          <a:solidFill>
            <a:srgbClr val="F3F0FA"/>
          </a:solidFill>
          <a:ln>
            <a:noFill/>
          </a:ln>
        </p:spPr>
        <p:txBody>
          <a:bodyPr rtlCol="0" anchor="ctr"/>
          <a:lstStyle/>
          <a:p>
            <a:pPr algn="ctr"/>
            <a:endParaRPr/>
          </a:p>
        </p:txBody>
      </p:sp>
      <p:sp>
        <p:nvSpPr>
          <p:cNvPr id="14" name="Oval 13"/>
          <p:cNvSpPr/>
          <p:nvPr/>
        </p:nvSpPr>
        <p:spPr>
          <a:xfrm>
            <a:off x="914400" y="521208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5" name="TextBox 14"/>
          <p:cNvSpPr txBox="1"/>
          <p:nvPr/>
        </p:nvSpPr>
        <p:spPr>
          <a:xfrm>
            <a:off x="1600200" y="5029200"/>
            <a:ext cx="9601200" cy="822960"/>
          </a:xfrm>
          <a:prstGeom prst="rect">
            <a:avLst/>
          </a:prstGeom>
          <a:noFill/>
        </p:spPr>
        <p:txBody>
          <a:bodyPr wrap="square" lIns="0" tIns="0" rIns="0" bIns="0" anchor="ctr">
            <a:noAutofit/>
          </a:bodyPr>
          <a:lstStyle/>
          <a:p>
            <a:pPr marL="0" indent="0" algn="l">
              <a:lnSpc>
                <a:spcPct val="100000"/>
              </a:lnSpc>
              <a:spcBef>
                <a:spcPts val="0"/>
              </a:spcBef>
              <a:buNone/>
            </a:pPr>
            <a:r>
              <a:rPr lang="en-AU" sz="2100" b="1">
                <a:solidFill>
                  <a:srgbClr val="3D2A6B"/>
                </a:solidFill>
                <a:latin typeface="Arial"/>
                <a:ea typeface="Arial"/>
                <a:cs typeface="Arial"/>
              </a:rPr>
              <a:t>Is the support available when demand increases?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Finish your design</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Develop the change in your Participant Guide.</a:t>
            </a:r>
          </a:p>
        </p:txBody>
      </p:sp>
      <p:sp>
        <p:nvSpPr>
          <p:cNvPr id="4" name="Rounded Rectangle 3"/>
          <p:cNvSpPr/>
          <p:nvPr/>
        </p:nvSpPr>
        <p:spPr>
          <a:xfrm>
            <a:off x="685800" y="1920240"/>
            <a:ext cx="10820095" cy="640080"/>
          </a:xfrm>
          <a:prstGeom prst="roundRect">
            <a:avLst>
              <a:gd name="adj" fmla="val 30000"/>
            </a:avLst>
          </a:prstGeom>
          <a:solidFill>
            <a:srgbClr val="F3F0FA"/>
          </a:solidFill>
          <a:ln>
            <a:noFill/>
          </a:ln>
        </p:spPr>
        <p:txBody>
          <a:bodyPr rtlCol="0" anchor="ctr"/>
          <a:lstStyle/>
          <a:p>
            <a:pPr algn="ctr"/>
            <a:endParaRPr/>
          </a:p>
        </p:txBody>
      </p:sp>
      <p:sp>
        <p:nvSpPr>
          <p:cNvPr id="5" name="Oval 4"/>
          <p:cNvSpPr/>
          <p:nvPr/>
        </p:nvSpPr>
        <p:spPr>
          <a:xfrm>
            <a:off x="850392" y="2011680"/>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6" name="TextBox 5"/>
          <p:cNvSpPr txBox="1"/>
          <p:nvPr/>
        </p:nvSpPr>
        <p:spPr>
          <a:xfrm>
            <a:off x="850392" y="20116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1</a:t>
            </a:r>
          </a:p>
        </p:txBody>
      </p:sp>
      <p:sp>
        <p:nvSpPr>
          <p:cNvPr id="7" name="TextBox 6"/>
          <p:cNvSpPr txBox="1"/>
          <p:nvPr/>
        </p:nvSpPr>
        <p:spPr>
          <a:xfrm>
            <a:off x="1554480" y="1920240"/>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State the barrier or unnecessary demand.</a:t>
            </a:r>
          </a:p>
        </p:txBody>
      </p:sp>
      <p:sp>
        <p:nvSpPr>
          <p:cNvPr id="8" name="Rounded Rectangle 7"/>
          <p:cNvSpPr/>
          <p:nvPr/>
        </p:nvSpPr>
        <p:spPr>
          <a:xfrm>
            <a:off x="685800" y="2679192"/>
            <a:ext cx="10820095" cy="640080"/>
          </a:xfrm>
          <a:prstGeom prst="roundRect">
            <a:avLst>
              <a:gd name="adj" fmla="val 30000"/>
            </a:avLst>
          </a:prstGeom>
          <a:solidFill>
            <a:srgbClr val="F3F0FA"/>
          </a:solidFill>
          <a:ln>
            <a:noFill/>
          </a:ln>
        </p:spPr>
        <p:txBody>
          <a:bodyPr rtlCol="0" anchor="ctr"/>
          <a:lstStyle/>
          <a:p>
            <a:pPr algn="ctr"/>
            <a:endParaRPr/>
          </a:p>
        </p:txBody>
      </p:sp>
      <p:sp>
        <p:nvSpPr>
          <p:cNvPr id="9" name="Oval 8"/>
          <p:cNvSpPr/>
          <p:nvPr/>
        </p:nvSpPr>
        <p:spPr>
          <a:xfrm>
            <a:off x="850392" y="2770632"/>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0" name="TextBox 9"/>
          <p:cNvSpPr txBox="1"/>
          <p:nvPr/>
        </p:nvSpPr>
        <p:spPr>
          <a:xfrm>
            <a:off x="850392" y="2770632"/>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2</a:t>
            </a:r>
          </a:p>
        </p:txBody>
      </p:sp>
      <p:sp>
        <p:nvSpPr>
          <p:cNvPr id="11" name="TextBox 10"/>
          <p:cNvSpPr txBox="1"/>
          <p:nvPr/>
        </p:nvSpPr>
        <p:spPr>
          <a:xfrm>
            <a:off x="1554480" y="2679192"/>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Change the environment, task or routine.</a:t>
            </a:r>
          </a:p>
        </p:txBody>
      </p:sp>
      <p:sp>
        <p:nvSpPr>
          <p:cNvPr id="12" name="Rounded Rectangle 11"/>
          <p:cNvSpPr/>
          <p:nvPr/>
        </p:nvSpPr>
        <p:spPr>
          <a:xfrm>
            <a:off x="685800" y="3438144"/>
            <a:ext cx="10820095" cy="640080"/>
          </a:xfrm>
          <a:prstGeom prst="roundRect">
            <a:avLst>
              <a:gd name="adj" fmla="val 30000"/>
            </a:avLst>
          </a:prstGeom>
          <a:solidFill>
            <a:srgbClr val="F3F0FA"/>
          </a:solidFill>
          <a:ln>
            <a:noFill/>
          </a:ln>
        </p:spPr>
        <p:txBody>
          <a:bodyPr rtlCol="0" anchor="ctr"/>
          <a:lstStyle/>
          <a:p>
            <a:pPr algn="ctr"/>
            <a:endParaRPr/>
          </a:p>
        </p:txBody>
      </p:sp>
      <p:sp>
        <p:nvSpPr>
          <p:cNvPr id="13" name="Oval 12"/>
          <p:cNvSpPr/>
          <p:nvPr/>
        </p:nvSpPr>
        <p:spPr>
          <a:xfrm>
            <a:off x="850392" y="3529584"/>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4" name="TextBox 13"/>
          <p:cNvSpPr txBox="1"/>
          <p:nvPr/>
        </p:nvSpPr>
        <p:spPr>
          <a:xfrm>
            <a:off x="850392" y="3529584"/>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3</a:t>
            </a:r>
          </a:p>
        </p:txBody>
      </p:sp>
      <p:sp>
        <p:nvSpPr>
          <p:cNvPr id="15" name="TextBox 14"/>
          <p:cNvSpPr txBox="1"/>
          <p:nvPr/>
        </p:nvSpPr>
        <p:spPr>
          <a:xfrm>
            <a:off x="1554480" y="3438144"/>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Include students' communication and experience.</a:t>
            </a:r>
          </a:p>
        </p:txBody>
      </p:sp>
      <p:sp>
        <p:nvSpPr>
          <p:cNvPr id="16" name="Rounded Rectangle 15"/>
          <p:cNvSpPr/>
          <p:nvPr/>
        </p:nvSpPr>
        <p:spPr>
          <a:xfrm>
            <a:off x="685800" y="4197096"/>
            <a:ext cx="10820095" cy="640080"/>
          </a:xfrm>
          <a:prstGeom prst="roundRect">
            <a:avLst>
              <a:gd name="adj" fmla="val 30000"/>
            </a:avLst>
          </a:prstGeom>
          <a:solidFill>
            <a:srgbClr val="F3F0FA"/>
          </a:solidFill>
          <a:ln>
            <a:noFill/>
          </a:ln>
        </p:spPr>
        <p:txBody>
          <a:bodyPr rtlCol="0" anchor="ctr"/>
          <a:lstStyle/>
          <a:p>
            <a:pPr algn="ctr"/>
            <a:endParaRPr/>
          </a:p>
        </p:txBody>
      </p:sp>
      <p:sp>
        <p:nvSpPr>
          <p:cNvPr id="17" name="Oval 16"/>
          <p:cNvSpPr/>
          <p:nvPr/>
        </p:nvSpPr>
        <p:spPr>
          <a:xfrm>
            <a:off x="850392" y="4288536"/>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18" name="TextBox 17"/>
          <p:cNvSpPr txBox="1"/>
          <p:nvPr/>
        </p:nvSpPr>
        <p:spPr>
          <a:xfrm>
            <a:off x="850392" y="4288536"/>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4</a:t>
            </a:r>
          </a:p>
        </p:txBody>
      </p:sp>
      <p:sp>
        <p:nvSpPr>
          <p:cNvPr id="19" name="TextBox 18"/>
          <p:cNvSpPr txBox="1"/>
          <p:nvPr/>
        </p:nvSpPr>
        <p:spPr>
          <a:xfrm>
            <a:off x="1554480" y="4197096"/>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Decide what you will observe.</a:t>
            </a:r>
          </a:p>
        </p:txBody>
      </p:sp>
      <p:sp>
        <p:nvSpPr>
          <p:cNvPr id="20" name="Rounded Rectangle 19"/>
          <p:cNvSpPr/>
          <p:nvPr/>
        </p:nvSpPr>
        <p:spPr>
          <a:xfrm>
            <a:off x="685800" y="4956048"/>
            <a:ext cx="10820095" cy="640080"/>
          </a:xfrm>
          <a:prstGeom prst="roundRect">
            <a:avLst>
              <a:gd name="adj" fmla="val 30000"/>
            </a:avLst>
          </a:prstGeom>
          <a:solidFill>
            <a:srgbClr val="F3F0FA"/>
          </a:solidFill>
          <a:ln>
            <a:noFill/>
          </a:ln>
        </p:spPr>
        <p:txBody>
          <a:bodyPr rtlCol="0" anchor="ctr"/>
          <a:lstStyle/>
          <a:p>
            <a:pPr algn="ctr"/>
            <a:endParaRPr/>
          </a:p>
        </p:txBody>
      </p:sp>
      <p:sp>
        <p:nvSpPr>
          <p:cNvPr id="21" name="Oval 20"/>
          <p:cNvSpPr/>
          <p:nvPr/>
        </p:nvSpPr>
        <p:spPr>
          <a:xfrm>
            <a:off x="850392" y="5047488"/>
            <a:ext cx="457200" cy="457200"/>
          </a:xfrm>
          <a:prstGeom prst="ellipse">
            <a:avLst/>
          </a:prstGeom>
          <a:solidFill>
            <a:srgbClr val="FFFFFF"/>
          </a:solidFill>
          <a:ln w="25400">
            <a:solidFill>
              <a:srgbClr val="584099"/>
            </a:solidFill>
          </a:ln>
        </p:spPr>
        <p:txBody>
          <a:bodyPr rtlCol="0" anchor="ctr"/>
          <a:lstStyle/>
          <a:p>
            <a:pPr algn="ctr"/>
            <a:endParaRPr/>
          </a:p>
        </p:txBody>
      </p:sp>
      <p:sp>
        <p:nvSpPr>
          <p:cNvPr id="22" name="TextBox 21"/>
          <p:cNvSpPr txBox="1"/>
          <p:nvPr/>
        </p:nvSpPr>
        <p:spPr>
          <a:xfrm>
            <a:off x="850392" y="5047488"/>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600" b="0">
                <a:solidFill>
                  <a:srgbClr val="584099"/>
                </a:solidFill>
                <a:latin typeface="Arial Black"/>
                <a:ea typeface="Arial Black"/>
                <a:cs typeface="Arial Black"/>
              </a:rPr>
              <a:t>5</a:t>
            </a:r>
          </a:p>
        </p:txBody>
      </p:sp>
      <p:sp>
        <p:nvSpPr>
          <p:cNvPr id="23" name="TextBox 22"/>
          <p:cNvSpPr txBox="1"/>
          <p:nvPr/>
        </p:nvSpPr>
        <p:spPr>
          <a:xfrm>
            <a:off x="1554480" y="4956048"/>
            <a:ext cx="9692640" cy="64008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Set a time to review.</a:t>
            </a:r>
          </a:p>
        </p:txBody>
      </p:sp>
      <p:sp>
        <p:nvSpPr>
          <p:cNvPr id="24" name="Rounded Rectangle 23"/>
          <p:cNvSpPr/>
          <p:nvPr/>
        </p:nvSpPr>
        <p:spPr>
          <a:xfrm>
            <a:off x="685800" y="5824728"/>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25" name="TextBox 24"/>
          <p:cNvSpPr txBox="1"/>
          <p:nvPr/>
        </p:nvSpPr>
        <p:spPr>
          <a:xfrm>
            <a:off x="960120" y="5824728"/>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In a breakout pair, check the design remains student-centred.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Check the design against your students</a:t>
            </a:r>
          </a:p>
        </p:txBody>
      </p:sp>
      <p:sp>
        <p:nvSpPr>
          <p:cNvPr id="3" name="TextBox 2"/>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Privately, test your design against each of your students.</a:t>
            </a:r>
          </a:p>
        </p:txBody>
      </p:sp>
      <p:sp>
        <p:nvSpPr>
          <p:cNvPr id="4" name="Rounded Rectangle 3"/>
          <p:cNvSpPr/>
          <p:nvPr/>
        </p:nvSpPr>
        <p:spPr>
          <a:xfrm>
            <a:off x="3246120" y="2057400"/>
            <a:ext cx="2631338" cy="640080"/>
          </a:xfrm>
          <a:prstGeom prst="roundRect">
            <a:avLst>
              <a:gd name="adj" fmla="val 30000"/>
            </a:avLst>
          </a:prstGeom>
          <a:solidFill>
            <a:srgbClr val="F3F0FA"/>
          </a:solidFill>
          <a:ln>
            <a:noFill/>
          </a:ln>
        </p:spPr>
        <p:txBody>
          <a:bodyPr rtlCol="0" anchor="ctr"/>
          <a:lstStyle/>
          <a:p>
            <a:pPr algn="ctr"/>
          </a:p>
        </p:txBody>
      </p:sp>
      <p:sp>
        <p:nvSpPr>
          <p:cNvPr id="5" name="TextBox 4"/>
          <p:cNvSpPr txBox="1"/>
          <p:nvPr/>
        </p:nvSpPr>
        <p:spPr>
          <a:xfrm>
            <a:off x="3520440" y="2057400"/>
            <a:ext cx="2082698" cy="640080"/>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Helps</a:t>
            </a:r>
          </a:p>
        </p:txBody>
      </p:sp>
      <p:sp>
        <p:nvSpPr>
          <p:cNvPr id="6" name="Rounded Rectangle 5"/>
          <p:cNvSpPr/>
          <p:nvPr/>
        </p:nvSpPr>
        <p:spPr>
          <a:xfrm>
            <a:off x="6060338" y="2057400"/>
            <a:ext cx="2631338" cy="640080"/>
          </a:xfrm>
          <a:prstGeom prst="roundRect">
            <a:avLst>
              <a:gd name="adj" fmla="val 30000"/>
            </a:avLst>
          </a:prstGeom>
          <a:solidFill>
            <a:srgbClr val="F3F0FA"/>
          </a:solidFill>
          <a:ln>
            <a:noFill/>
          </a:ln>
        </p:spPr>
        <p:txBody>
          <a:bodyPr rtlCol="0" anchor="ctr"/>
          <a:lstStyle/>
          <a:p>
            <a:pPr algn="ctr"/>
          </a:p>
        </p:txBody>
      </p:sp>
      <p:sp>
        <p:nvSpPr>
          <p:cNvPr id="7" name="TextBox 6"/>
          <p:cNvSpPr txBox="1"/>
          <p:nvPr/>
        </p:nvSpPr>
        <p:spPr>
          <a:xfrm>
            <a:off x="6334658" y="2057400"/>
            <a:ext cx="2082698" cy="640080"/>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No difference</a:t>
            </a:r>
          </a:p>
        </p:txBody>
      </p:sp>
      <p:sp>
        <p:nvSpPr>
          <p:cNvPr id="8" name="Rounded Rectangle 7"/>
          <p:cNvSpPr/>
          <p:nvPr/>
        </p:nvSpPr>
        <p:spPr>
          <a:xfrm>
            <a:off x="8874557" y="2057400"/>
            <a:ext cx="2631338" cy="640080"/>
          </a:xfrm>
          <a:prstGeom prst="roundRect">
            <a:avLst>
              <a:gd name="adj" fmla="val 30000"/>
            </a:avLst>
          </a:prstGeom>
          <a:solidFill>
            <a:srgbClr val="584099"/>
          </a:solidFill>
          <a:ln>
            <a:noFill/>
          </a:ln>
        </p:spPr>
        <p:txBody>
          <a:bodyPr rtlCol="0" anchor="ctr"/>
          <a:lstStyle/>
          <a:p>
            <a:pPr algn="ctr"/>
          </a:p>
        </p:txBody>
      </p:sp>
      <p:sp>
        <p:nvSpPr>
          <p:cNvPr id="9" name="TextBox 8"/>
          <p:cNvSpPr txBox="1"/>
          <p:nvPr/>
        </p:nvSpPr>
        <p:spPr>
          <a:xfrm>
            <a:off x="9148877" y="2057400"/>
            <a:ext cx="2082698" cy="640080"/>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FFFFFF"/>
                </a:solidFill>
                <a:latin typeface="Arial"/>
                <a:ea typeface="Arial"/>
                <a:cs typeface="Arial"/>
              </a:rPr>
              <a:t>Needs something more</a:t>
            </a:r>
          </a:p>
        </p:txBody>
      </p:sp>
      <p:sp>
        <p:nvSpPr>
          <p:cNvPr id="10" name="Rounded Rectangle 9"/>
          <p:cNvSpPr/>
          <p:nvPr/>
        </p:nvSpPr>
        <p:spPr>
          <a:xfrm>
            <a:off x="685800" y="2880360"/>
            <a:ext cx="2377440" cy="868680"/>
          </a:xfrm>
          <a:prstGeom prst="roundRect">
            <a:avLst>
              <a:gd name="adj" fmla="val 20000"/>
            </a:avLst>
          </a:prstGeom>
          <a:solidFill>
            <a:srgbClr val="F3F0FA"/>
          </a:solidFill>
          <a:ln>
            <a:noFill/>
          </a:ln>
        </p:spPr>
        <p:txBody>
          <a:bodyPr rtlCol="0" anchor="ctr"/>
          <a:lstStyle/>
          <a:p>
            <a:pPr algn="ctr"/>
          </a:p>
        </p:txBody>
      </p:sp>
      <p:sp>
        <p:nvSpPr>
          <p:cNvPr id="11" name="TextBox 10"/>
          <p:cNvSpPr txBox="1"/>
          <p:nvPr/>
        </p:nvSpPr>
        <p:spPr>
          <a:xfrm>
            <a:off x="960120" y="2880360"/>
            <a:ext cx="1828800" cy="868680"/>
          </a:xfrm>
          <a:prstGeom prst="rect">
            <a:avLst/>
          </a:prstGeom>
          <a:noFill/>
        </p:spPr>
        <p:txBody>
          <a:bodyPr wrap="square" lIns="0" rIns="0" tIns="0" bIns="0" anchor="ctr">
            <a:noAutofit/>
          </a:bodyPr>
          <a:lstStyle/>
          <a:p>
            <a:pPr algn="l" marL="0" indent="0">
              <a:lnSpc>
                <a:spcPct val="100000"/>
              </a:lnSpc>
              <a:spcBef>
                <a:spcPts val="0"/>
              </a:spcBef>
              <a:buNone/>
            </a:pPr>
            <a:r>
              <a:rPr lang="en-AU" sz="1800" b="1">
                <a:solidFill>
                  <a:srgbClr val="3D2A6B"/>
                </a:solidFill>
                <a:latin typeface="Arial"/>
                <a:ea typeface="Arial"/>
                <a:cs typeface="Arial"/>
              </a:rPr>
              <a:t>Student A</a:t>
            </a:r>
          </a:p>
        </p:txBody>
      </p:sp>
      <p:sp>
        <p:nvSpPr>
          <p:cNvPr id="12" name="Rounded Rectangle 11"/>
          <p:cNvSpPr/>
          <p:nvPr/>
        </p:nvSpPr>
        <p:spPr>
          <a:xfrm>
            <a:off x="3246120" y="288036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3" name="Rounded Rectangle 12"/>
          <p:cNvSpPr/>
          <p:nvPr/>
        </p:nvSpPr>
        <p:spPr>
          <a:xfrm>
            <a:off x="6060338" y="288036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4" name="Rounded Rectangle 13"/>
          <p:cNvSpPr/>
          <p:nvPr/>
        </p:nvSpPr>
        <p:spPr>
          <a:xfrm>
            <a:off x="8874557" y="288036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5" name="Rounded Rectangle 14"/>
          <p:cNvSpPr/>
          <p:nvPr/>
        </p:nvSpPr>
        <p:spPr>
          <a:xfrm>
            <a:off x="685800" y="3886200"/>
            <a:ext cx="2377440" cy="868680"/>
          </a:xfrm>
          <a:prstGeom prst="roundRect">
            <a:avLst>
              <a:gd name="adj" fmla="val 20000"/>
            </a:avLst>
          </a:prstGeom>
          <a:solidFill>
            <a:srgbClr val="F3F0FA"/>
          </a:solidFill>
          <a:ln>
            <a:noFill/>
          </a:ln>
        </p:spPr>
        <p:txBody>
          <a:bodyPr rtlCol="0" anchor="ctr"/>
          <a:lstStyle/>
          <a:p>
            <a:pPr algn="ctr"/>
          </a:p>
        </p:txBody>
      </p:sp>
      <p:sp>
        <p:nvSpPr>
          <p:cNvPr id="16" name="TextBox 15"/>
          <p:cNvSpPr txBox="1"/>
          <p:nvPr/>
        </p:nvSpPr>
        <p:spPr>
          <a:xfrm>
            <a:off x="960120" y="3886200"/>
            <a:ext cx="1828800" cy="868680"/>
          </a:xfrm>
          <a:prstGeom prst="rect">
            <a:avLst/>
          </a:prstGeom>
          <a:noFill/>
        </p:spPr>
        <p:txBody>
          <a:bodyPr wrap="square" lIns="0" rIns="0" tIns="0" bIns="0" anchor="ctr">
            <a:noAutofit/>
          </a:bodyPr>
          <a:lstStyle/>
          <a:p>
            <a:pPr algn="l" marL="0" indent="0">
              <a:lnSpc>
                <a:spcPct val="100000"/>
              </a:lnSpc>
              <a:spcBef>
                <a:spcPts val="0"/>
              </a:spcBef>
              <a:buNone/>
            </a:pPr>
            <a:r>
              <a:rPr lang="en-AU" sz="1800" b="1">
                <a:solidFill>
                  <a:srgbClr val="3D2A6B"/>
                </a:solidFill>
                <a:latin typeface="Arial"/>
                <a:ea typeface="Arial"/>
                <a:cs typeface="Arial"/>
              </a:rPr>
              <a:t>Student B</a:t>
            </a:r>
          </a:p>
        </p:txBody>
      </p:sp>
      <p:sp>
        <p:nvSpPr>
          <p:cNvPr id="17" name="Rounded Rectangle 16"/>
          <p:cNvSpPr/>
          <p:nvPr/>
        </p:nvSpPr>
        <p:spPr>
          <a:xfrm>
            <a:off x="3246120" y="388620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8" name="Rounded Rectangle 17"/>
          <p:cNvSpPr/>
          <p:nvPr/>
        </p:nvSpPr>
        <p:spPr>
          <a:xfrm>
            <a:off x="6060338" y="388620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19" name="Rounded Rectangle 18"/>
          <p:cNvSpPr/>
          <p:nvPr/>
        </p:nvSpPr>
        <p:spPr>
          <a:xfrm>
            <a:off x="8874557" y="388620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20" name="Rounded Rectangle 19"/>
          <p:cNvSpPr/>
          <p:nvPr/>
        </p:nvSpPr>
        <p:spPr>
          <a:xfrm>
            <a:off x="685800" y="4892040"/>
            <a:ext cx="2377440" cy="868680"/>
          </a:xfrm>
          <a:prstGeom prst="roundRect">
            <a:avLst>
              <a:gd name="adj" fmla="val 20000"/>
            </a:avLst>
          </a:prstGeom>
          <a:solidFill>
            <a:srgbClr val="F3F0FA"/>
          </a:solidFill>
          <a:ln>
            <a:noFill/>
          </a:ln>
        </p:spPr>
        <p:txBody>
          <a:bodyPr rtlCol="0" anchor="ctr"/>
          <a:lstStyle/>
          <a:p>
            <a:pPr algn="ctr"/>
          </a:p>
        </p:txBody>
      </p:sp>
      <p:sp>
        <p:nvSpPr>
          <p:cNvPr id="21" name="TextBox 20"/>
          <p:cNvSpPr txBox="1"/>
          <p:nvPr/>
        </p:nvSpPr>
        <p:spPr>
          <a:xfrm>
            <a:off x="960120" y="4892040"/>
            <a:ext cx="1828800" cy="868680"/>
          </a:xfrm>
          <a:prstGeom prst="rect">
            <a:avLst/>
          </a:prstGeom>
          <a:noFill/>
        </p:spPr>
        <p:txBody>
          <a:bodyPr wrap="square" lIns="0" rIns="0" tIns="0" bIns="0" anchor="ctr">
            <a:noAutofit/>
          </a:bodyPr>
          <a:lstStyle/>
          <a:p>
            <a:pPr algn="l" marL="0" indent="0">
              <a:lnSpc>
                <a:spcPct val="100000"/>
              </a:lnSpc>
              <a:spcBef>
                <a:spcPts val="0"/>
              </a:spcBef>
              <a:buNone/>
            </a:pPr>
            <a:r>
              <a:rPr lang="en-AU" sz="1800" b="1">
                <a:solidFill>
                  <a:srgbClr val="3D2A6B"/>
                </a:solidFill>
                <a:latin typeface="Arial"/>
                <a:ea typeface="Arial"/>
                <a:cs typeface="Arial"/>
              </a:rPr>
              <a:t>Student C</a:t>
            </a:r>
          </a:p>
        </p:txBody>
      </p:sp>
      <p:sp>
        <p:nvSpPr>
          <p:cNvPr id="22" name="Rounded Rectangle 21"/>
          <p:cNvSpPr/>
          <p:nvPr/>
        </p:nvSpPr>
        <p:spPr>
          <a:xfrm>
            <a:off x="3246120" y="489204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23" name="Rounded Rectangle 22"/>
          <p:cNvSpPr/>
          <p:nvPr/>
        </p:nvSpPr>
        <p:spPr>
          <a:xfrm>
            <a:off x="6060338" y="489204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24" name="Rounded Rectangle 23"/>
          <p:cNvSpPr/>
          <p:nvPr/>
        </p:nvSpPr>
        <p:spPr>
          <a:xfrm>
            <a:off x="8874557" y="4892040"/>
            <a:ext cx="2631338" cy="868680"/>
          </a:xfrm>
          <a:prstGeom prst="roundRect">
            <a:avLst>
              <a:gd name="adj" fmla="val 20000"/>
            </a:avLst>
          </a:prstGeom>
          <a:solidFill>
            <a:srgbClr val="FFFFFF"/>
          </a:solidFill>
          <a:ln w="15875">
            <a:solidFill>
              <a:srgbClr val="B9A7D6"/>
            </a:solidFill>
          </a:ln>
        </p:spPr>
        <p:txBody>
          <a:bodyPr rtlCol="0" anchor="ctr"/>
          <a:lstStyle/>
          <a:p>
            <a:pPr algn="ctr"/>
          </a:p>
        </p:txBody>
      </p:sp>
      <p:sp>
        <p:nvSpPr>
          <p:cNvPr id="25" name="Rounded Rectangle 24"/>
          <p:cNvSpPr/>
          <p:nvPr/>
        </p:nvSpPr>
        <p:spPr>
          <a:xfrm>
            <a:off x="685800" y="589788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26" name="TextBox 25"/>
          <p:cNvSpPr txBox="1"/>
          <p:nvPr/>
        </p:nvSpPr>
        <p:spPr>
          <a:xfrm>
            <a:off x="960120" y="589788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500" b="1">
                <a:solidFill>
                  <a:srgbClr val="584099"/>
                </a:solidFill>
                <a:latin typeface="Arial"/>
                <a:ea typeface="Arial"/>
                <a:cs typeface="Arial"/>
              </a:rPr>
              <a:t>Where the design still doesn’t work for someone, that is where targeted or individual support begins.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390D125E-F51A-444A-12E3-4EEA8C2340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215485-4B97-5ACA-8C2F-696A4814B7EC}"/>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Continuum of support</a:t>
            </a:r>
          </a:p>
        </p:txBody>
      </p:sp>
      <p:sp>
        <p:nvSpPr>
          <p:cNvPr id="5" name="TextBox 4"/>
          <p:cNvSpPr txBox="1"/>
          <p:nvPr/>
        </p:nvSpPr>
        <p:spPr>
          <a:xfrm>
            <a:off x="685800" y="1280160"/>
            <a:ext cx="1078992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0">
                <a:solidFill>
                  <a:srgbClr val="2D2440"/>
                </a:solidFill>
                <a:latin typeface="Arial"/>
                <a:ea typeface="Arial"/>
                <a:cs typeface="Arial"/>
              </a:rPr>
              <a:t>Support is a continuum rather than a single intervention.</a:t>
            </a:r>
          </a:p>
        </p:txBody>
      </p:sp>
      <p:sp>
        <p:nvSpPr>
          <p:cNvPr id="6" name="Rounded Rectangle 5"/>
          <p:cNvSpPr/>
          <p:nvPr/>
        </p:nvSpPr>
        <p:spPr>
          <a:xfrm>
            <a:off x="685800" y="2468880"/>
            <a:ext cx="2567864" cy="2286000"/>
          </a:xfrm>
          <a:prstGeom prst="roundRect">
            <a:avLst>
              <a:gd name="adj" fmla="val 8000"/>
            </a:avLst>
          </a:prstGeom>
          <a:solidFill>
            <a:srgbClr val="EDE8F8"/>
          </a:solidFill>
          <a:ln>
            <a:noFill/>
          </a:ln>
        </p:spPr>
        <p:txBody>
          <a:bodyPr rtlCol="0" anchor="ctr"/>
          <a:lstStyle/>
          <a:p>
            <a:pPr algn="ctr"/>
            <a:endParaRPr/>
          </a:p>
        </p:txBody>
      </p:sp>
      <p:sp>
        <p:nvSpPr>
          <p:cNvPr id="7" name="TextBox 6"/>
          <p:cNvSpPr txBox="1"/>
          <p:nvPr/>
        </p:nvSpPr>
        <p:spPr>
          <a:xfrm>
            <a:off x="822960" y="2651760"/>
            <a:ext cx="2293544" cy="2011680"/>
          </a:xfrm>
          <a:prstGeom prst="rect">
            <a:avLst/>
          </a:prstGeom>
          <a:noFill/>
        </p:spPr>
        <p:txBody>
          <a:bodyPr wrap="square" lIns="0" tIns="0" rIns="0" bIns="0" anchor="t">
            <a:noAutofit/>
          </a:bodyPr>
          <a:lstStyle/>
          <a:p>
            <a:pPr marL="0" indent="0" algn="l">
              <a:lnSpc>
                <a:spcPct val="100000"/>
              </a:lnSpc>
              <a:spcBef>
                <a:spcPts val="0"/>
              </a:spcBef>
              <a:buNone/>
            </a:pPr>
            <a:r>
              <a:rPr lang="en-AU" sz="2200" b="0">
                <a:solidFill>
                  <a:srgbClr val="584099"/>
                </a:solidFill>
                <a:latin typeface="Arial Black"/>
                <a:ea typeface="Arial Black"/>
                <a:cs typeface="Arial Black"/>
              </a:rPr>
              <a:t>1</a:t>
            </a:r>
          </a:p>
          <a:p>
            <a:pPr marL="0" indent="0" algn="l">
              <a:lnSpc>
                <a:spcPct val="100000"/>
              </a:lnSpc>
              <a:spcBef>
                <a:spcPts val="400"/>
              </a:spcBef>
              <a:buNone/>
            </a:pPr>
            <a:r>
              <a:rPr lang="en-AU" sz="1800" b="1">
                <a:solidFill>
                  <a:srgbClr val="3D2A6B"/>
                </a:solidFill>
                <a:latin typeface="Arial"/>
                <a:ea typeface="Arial"/>
                <a:cs typeface="Arial"/>
              </a:rPr>
              <a:t>Inclusive environment</a:t>
            </a:r>
          </a:p>
          <a:p>
            <a:pPr marL="0" indent="0" algn="l">
              <a:lnSpc>
                <a:spcPct val="105000"/>
              </a:lnSpc>
              <a:spcBef>
                <a:spcPts val="600"/>
              </a:spcBef>
              <a:buNone/>
            </a:pPr>
            <a:r>
              <a:rPr lang="en-AU" sz="1600" b="0">
                <a:solidFill>
                  <a:srgbClr val="2D2440"/>
                </a:solidFill>
                <a:latin typeface="Arial"/>
                <a:ea typeface="Arial"/>
                <a:cs typeface="Arial"/>
              </a:rPr>
              <a:t>First, design inclusive environments that reduce barriers for everyone.</a:t>
            </a:r>
          </a:p>
        </p:txBody>
      </p:sp>
      <p:sp>
        <p:nvSpPr>
          <p:cNvPr id="8" name="Rounded Rectangle 7"/>
          <p:cNvSpPr/>
          <p:nvPr/>
        </p:nvSpPr>
        <p:spPr>
          <a:xfrm>
            <a:off x="3436544" y="2148840"/>
            <a:ext cx="2567864" cy="2606040"/>
          </a:xfrm>
          <a:prstGeom prst="roundRect">
            <a:avLst>
              <a:gd name="adj" fmla="val 8000"/>
            </a:avLst>
          </a:prstGeom>
          <a:solidFill>
            <a:srgbClr val="C9BCE0"/>
          </a:solidFill>
          <a:ln>
            <a:noFill/>
          </a:ln>
        </p:spPr>
        <p:txBody>
          <a:bodyPr rtlCol="0" anchor="ctr"/>
          <a:lstStyle/>
          <a:p>
            <a:pPr algn="ctr"/>
            <a:endParaRPr/>
          </a:p>
        </p:txBody>
      </p:sp>
      <p:sp>
        <p:nvSpPr>
          <p:cNvPr id="9" name="TextBox 8"/>
          <p:cNvSpPr txBox="1"/>
          <p:nvPr/>
        </p:nvSpPr>
        <p:spPr>
          <a:xfrm>
            <a:off x="3573704" y="2331720"/>
            <a:ext cx="2293544" cy="2331720"/>
          </a:xfrm>
          <a:prstGeom prst="rect">
            <a:avLst/>
          </a:prstGeom>
          <a:noFill/>
        </p:spPr>
        <p:txBody>
          <a:bodyPr wrap="square" lIns="0" tIns="0" rIns="0" bIns="0" anchor="t">
            <a:noAutofit/>
          </a:bodyPr>
          <a:lstStyle/>
          <a:p>
            <a:pPr marL="0" indent="0" algn="l">
              <a:lnSpc>
                <a:spcPct val="100000"/>
              </a:lnSpc>
              <a:spcBef>
                <a:spcPts val="0"/>
              </a:spcBef>
              <a:buNone/>
            </a:pPr>
            <a:r>
              <a:rPr lang="en-AU" sz="2200" b="0">
                <a:solidFill>
                  <a:srgbClr val="584099"/>
                </a:solidFill>
                <a:latin typeface="Arial Black"/>
                <a:ea typeface="Arial Black"/>
                <a:cs typeface="Arial Black"/>
              </a:rPr>
              <a:t>2</a:t>
            </a:r>
          </a:p>
          <a:p>
            <a:pPr marL="0" indent="0" algn="l">
              <a:lnSpc>
                <a:spcPct val="100000"/>
              </a:lnSpc>
              <a:spcBef>
                <a:spcPts val="400"/>
              </a:spcBef>
              <a:buNone/>
            </a:pPr>
            <a:r>
              <a:rPr lang="en-AU" sz="1800" b="1">
                <a:solidFill>
                  <a:srgbClr val="3D2A6B"/>
                </a:solidFill>
                <a:latin typeface="Arial"/>
                <a:ea typeface="Arial"/>
                <a:cs typeface="Arial"/>
              </a:rPr>
              <a:t>Universal supports</a:t>
            </a:r>
          </a:p>
          <a:p>
            <a:pPr marL="0" indent="0" algn="l">
              <a:lnSpc>
                <a:spcPct val="105000"/>
              </a:lnSpc>
              <a:spcBef>
                <a:spcPts val="600"/>
              </a:spcBef>
              <a:buNone/>
            </a:pPr>
            <a:r>
              <a:rPr lang="en-AU" sz="1600" b="0">
                <a:solidFill>
                  <a:srgbClr val="2D2440"/>
                </a:solidFill>
                <a:latin typeface="Arial"/>
                <a:ea typeface="Arial"/>
                <a:cs typeface="Arial"/>
              </a:rPr>
              <a:t>Then, provide universal supports that many students may benefit from.</a:t>
            </a:r>
          </a:p>
        </p:txBody>
      </p:sp>
      <p:sp>
        <p:nvSpPr>
          <p:cNvPr id="10" name="Rounded Rectangle 9"/>
          <p:cNvSpPr/>
          <p:nvPr/>
        </p:nvSpPr>
        <p:spPr>
          <a:xfrm>
            <a:off x="6187288" y="1828800"/>
            <a:ext cx="2567864" cy="2926080"/>
          </a:xfrm>
          <a:prstGeom prst="roundRect">
            <a:avLst>
              <a:gd name="adj" fmla="val 8000"/>
            </a:avLst>
          </a:prstGeom>
          <a:solidFill>
            <a:srgbClr val="7A5FC0"/>
          </a:solidFill>
          <a:ln>
            <a:noFill/>
          </a:ln>
        </p:spPr>
        <p:txBody>
          <a:bodyPr rtlCol="0" anchor="ctr"/>
          <a:lstStyle/>
          <a:p>
            <a:pPr algn="ctr"/>
            <a:endParaRPr/>
          </a:p>
        </p:txBody>
      </p:sp>
      <p:sp>
        <p:nvSpPr>
          <p:cNvPr id="11" name="TextBox 10"/>
          <p:cNvSpPr txBox="1"/>
          <p:nvPr/>
        </p:nvSpPr>
        <p:spPr>
          <a:xfrm>
            <a:off x="6324448" y="2011680"/>
            <a:ext cx="2293544" cy="2651760"/>
          </a:xfrm>
          <a:prstGeom prst="rect">
            <a:avLst/>
          </a:prstGeom>
          <a:noFill/>
        </p:spPr>
        <p:txBody>
          <a:bodyPr wrap="square" lIns="0" tIns="0" rIns="0" bIns="0" anchor="t">
            <a:noAutofit/>
          </a:bodyPr>
          <a:lstStyle/>
          <a:p>
            <a:pPr marL="0" indent="0" algn="l">
              <a:lnSpc>
                <a:spcPct val="100000"/>
              </a:lnSpc>
              <a:spcBef>
                <a:spcPts val="0"/>
              </a:spcBef>
              <a:buNone/>
            </a:pPr>
            <a:r>
              <a:rPr lang="en-AU" sz="2200" b="0">
                <a:solidFill>
                  <a:srgbClr val="FFFFFF"/>
                </a:solidFill>
                <a:latin typeface="Arial Black"/>
                <a:ea typeface="Arial Black"/>
                <a:cs typeface="Arial Black"/>
              </a:rPr>
              <a:t>3</a:t>
            </a:r>
          </a:p>
          <a:p>
            <a:pPr marL="0" indent="0" algn="l">
              <a:lnSpc>
                <a:spcPct val="100000"/>
              </a:lnSpc>
              <a:spcBef>
                <a:spcPts val="400"/>
              </a:spcBef>
              <a:buNone/>
            </a:pPr>
            <a:r>
              <a:rPr lang="en-AU" sz="1800" b="1">
                <a:solidFill>
                  <a:srgbClr val="FFFFFF"/>
                </a:solidFill>
                <a:latin typeface="Arial"/>
                <a:ea typeface="Arial"/>
                <a:cs typeface="Arial"/>
              </a:rPr>
              <a:t>Targeted supports</a:t>
            </a:r>
          </a:p>
          <a:p>
            <a:pPr marL="0" indent="0" algn="l">
              <a:lnSpc>
                <a:spcPct val="105000"/>
              </a:lnSpc>
              <a:spcBef>
                <a:spcPts val="600"/>
              </a:spcBef>
              <a:buNone/>
            </a:pPr>
            <a:r>
              <a:rPr lang="en-AU" sz="1600" b="0">
                <a:solidFill>
                  <a:srgbClr val="FFFFFF"/>
                </a:solidFill>
                <a:latin typeface="Arial"/>
                <a:ea typeface="Arial"/>
                <a:cs typeface="Arial"/>
              </a:rPr>
              <a:t>Next, offer targeted supports for students who need additional assistance.</a:t>
            </a:r>
          </a:p>
        </p:txBody>
      </p:sp>
      <p:sp>
        <p:nvSpPr>
          <p:cNvPr id="12" name="Rounded Rectangle 11"/>
          <p:cNvSpPr/>
          <p:nvPr/>
        </p:nvSpPr>
        <p:spPr>
          <a:xfrm>
            <a:off x="8938031" y="1508760"/>
            <a:ext cx="2567864" cy="3246120"/>
          </a:xfrm>
          <a:prstGeom prst="roundRect">
            <a:avLst>
              <a:gd name="adj" fmla="val 8000"/>
            </a:avLst>
          </a:prstGeom>
          <a:solidFill>
            <a:srgbClr val="584099"/>
          </a:solidFill>
          <a:ln>
            <a:noFill/>
          </a:ln>
        </p:spPr>
        <p:txBody>
          <a:bodyPr rtlCol="0" anchor="ctr"/>
          <a:lstStyle/>
          <a:p>
            <a:pPr algn="ctr"/>
            <a:endParaRPr/>
          </a:p>
        </p:txBody>
      </p:sp>
      <p:sp>
        <p:nvSpPr>
          <p:cNvPr id="13" name="TextBox 12"/>
          <p:cNvSpPr txBox="1"/>
          <p:nvPr/>
        </p:nvSpPr>
        <p:spPr>
          <a:xfrm>
            <a:off x="9075191" y="1691640"/>
            <a:ext cx="2293544" cy="2971800"/>
          </a:xfrm>
          <a:prstGeom prst="rect">
            <a:avLst/>
          </a:prstGeom>
          <a:noFill/>
        </p:spPr>
        <p:txBody>
          <a:bodyPr wrap="square" lIns="0" tIns="0" rIns="0" bIns="0" anchor="t">
            <a:noAutofit/>
          </a:bodyPr>
          <a:lstStyle/>
          <a:p>
            <a:pPr marL="0" indent="0" algn="l">
              <a:lnSpc>
                <a:spcPct val="100000"/>
              </a:lnSpc>
              <a:spcBef>
                <a:spcPts val="0"/>
              </a:spcBef>
              <a:buNone/>
            </a:pPr>
            <a:r>
              <a:rPr lang="en-AU" sz="2200" b="0">
                <a:solidFill>
                  <a:srgbClr val="FFFFFF"/>
                </a:solidFill>
                <a:latin typeface="Arial Black"/>
                <a:ea typeface="Arial Black"/>
                <a:cs typeface="Arial Black"/>
              </a:rPr>
              <a:t>4</a:t>
            </a:r>
          </a:p>
          <a:p>
            <a:pPr marL="0" indent="0" algn="l">
              <a:lnSpc>
                <a:spcPct val="100000"/>
              </a:lnSpc>
              <a:spcBef>
                <a:spcPts val="400"/>
              </a:spcBef>
              <a:buNone/>
            </a:pPr>
            <a:r>
              <a:rPr lang="en-AU" sz="1800" b="1">
                <a:solidFill>
                  <a:srgbClr val="FFFFFF"/>
                </a:solidFill>
                <a:latin typeface="Arial"/>
                <a:ea typeface="Arial"/>
                <a:cs typeface="Arial"/>
              </a:rPr>
              <a:t>Individual adjustments</a:t>
            </a:r>
          </a:p>
          <a:p>
            <a:pPr marL="0" indent="0" algn="l">
              <a:lnSpc>
                <a:spcPct val="105000"/>
              </a:lnSpc>
              <a:spcBef>
                <a:spcPts val="600"/>
              </a:spcBef>
              <a:buNone/>
            </a:pPr>
            <a:r>
              <a:rPr lang="en-AU" sz="1600" b="0">
                <a:solidFill>
                  <a:srgbClr val="FFFFFF"/>
                </a:solidFill>
                <a:latin typeface="Arial"/>
                <a:ea typeface="Arial"/>
                <a:cs typeface="Arial"/>
              </a:rPr>
              <a:t>Finally, where necessary, implement individual adjustments to ensure equitable access, participation and learning.</a:t>
            </a:r>
          </a:p>
        </p:txBody>
      </p:sp>
      <p:sp>
        <p:nvSpPr>
          <p:cNvPr id="14" name="Rounded Rectangle 13"/>
          <p:cNvSpPr/>
          <p:nvPr/>
        </p:nvSpPr>
        <p:spPr>
          <a:xfrm>
            <a:off x="685800" y="4937760"/>
            <a:ext cx="10820095" cy="137160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1005840" y="4937760"/>
            <a:ext cx="10149840" cy="1371600"/>
          </a:xfrm>
          <a:prstGeom prst="rect">
            <a:avLst/>
          </a:prstGeom>
          <a:noFill/>
        </p:spPr>
        <p:txBody>
          <a:bodyPr wrap="square" lIns="0" tIns="0" rIns="0" bIns="0" anchor="ctr">
            <a:noAutofit/>
          </a:bodyPr>
          <a:lstStyle/>
          <a:p>
            <a:pPr marL="0" indent="0" algn="l">
              <a:lnSpc>
                <a:spcPct val="100000"/>
              </a:lnSpc>
              <a:spcBef>
                <a:spcPts val="0"/>
              </a:spcBef>
              <a:buNone/>
            </a:pPr>
            <a:r>
              <a:rPr lang="en-AU" sz="2000" b="1">
                <a:solidFill>
                  <a:srgbClr val="3D2A6B"/>
                </a:solidFill>
                <a:latin typeface="Arial"/>
                <a:ea typeface="Arial"/>
                <a:cs typeface="Arial"/>
              </a:rPr>
              <a:t>Academic adjustments sit within a wider continuum of support.</a:t>
            </a:r>
          </a:p>
          <a:p>
            <a:pPr marL="0" indent="0" algn="l">
              <a:lnSpc>
                <a:spcPct val="100000"/>
              </a:lnSpc>
              <a:spcBef>
                <a:spcPts val="600"/>
              </a:spcBef>
              <a:buNone/>
            </a:pPr>
            <a:r>
              <a:rPr lang="en-AU" sz="1800" b="0">
                <a:solidFill>
                  <a:srgbClr val="2D2440"/>
                </a:solidFill>
                <a:latin typeface="Arial"/>
                <a:ea typeface="Arial"/>
                <a:cs typeface="Arial"/>
              </a:rPr>
              <a:t>Consider what is available to everyone, what is targeted and what is individually adjusted. Each response should connect to access and participation needs and be reviewed through use and feedback.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9C37B-A0B8-DC64-2CA6-97095004D226}"/>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Reasonable Adjustments</a:t>
            </a:r>
          </a:p>
        </p:txBody>
      </p:sp>
      <p:sp>
        <p:nvSpPr>
          <p:cNvPr id="3" name="Rounded Rectangle 2"/>
          <p:cNvSpPr/>
          <p:nvPr/>
        </p:nvSpPr>
        <p:spPr>
          <a:xfrm>
            <a:off x="685800" y="1645920"/>
            <a:ext cx="7315200" cy="640080"/>
          </a:xfrm>
          <a:prstGeom prst="roundRect">
            <a:avLst>
              <a:gd name="adj" fmla="val 30000"/>
            </a:avLst>
          </a:prstGeom>
          <a:solidFill>
            <a:srgbClr val="EDE8F8"/>
          </a:solidFill>
          <a:ln>
            <a:noFill/>
          </a:ln>
        </p:spPr>
        <p:txBody>
          <a:bodyPr rtlCol="0" anchor="ctr"/>
          <a:lstStyle/>
          <a:p>
            <a:pPr algn="ctr"/>
            <a:endParaRPr/>
          </a:p>
        </p:txBody>
      </p:sp>
      <p:sp>
        <p:nvSpPr>
          <p:cNvPr id="4" name="TextBox 3"/>
          <p:cNvSpPr txBox="1"/>
          <p:nvPr/>
        </p:nvSpPr>
        <p:spPr>
          <a:xfrm>
            <a:off x="822960" y="1645920"/>
            <a:ext cx="704088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3D2A6B"/>
                </a:solidFill>
                <a:latin typeface="Arial"/>
                <a:ea typeface="Arial"/>
                <a:cs typeface="Arial"/>
              </a:rPr>
              <a:t>Environmental design</a:t>
            </a:r>
          </a:p>
        </p:txBody>
      </p:sp>
      <p:sp>
        <p:nvSpPr>
          <p:cNvPr id="5" name="Rounded Rectangle 4"/>
          <p:cNvSpPr/>
          <p:nvPr/>
        </p:nvSpPr>
        <p:spPr>
          <a:xfrm>
            <a:off x="987552" y="2414016"/>
            <a:ext cx="6711696" cy="640080"/>
          </a:xfrm>
          <a:prstGeom prst="roundRect">
            <a:avLst>
              <a:gd name="adj" fmla="val 30000"/>
            </a:avLst>
          </a:prstGeom>
          <a:solidFill>
            <a:srgbClr val="DCD3F0"/>
          </a:solidFill>
          <a:ln>
            <a:noFill/>
          </a:ln>
        </p:spPr>
        <p:txBody>
          <a:bodyPr rtlCol="0" anchor="ctr"/>
          <a:lstStyle/>
          <a:p>
            <a:pPr algn="ctr"/>
            <a:endParaRPr/>
          </a:p>
        </p:txBody>
      </p:sp>
      <p:sp>
        <p:nvSpPr>
          <p:cNvPr id="6" name="TextBox 5"/>
          <p:cNvSpPr txBox="1"/>
          <p:nvPr/>
        </p:nvSpPr>
        <p:spPr>
          <a:xfrm>
            <a:off x="1124712" y="2414016"/>
            <a:ext cx="6437376"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3D2A6B"/>
                </a:solidFill>
                <a:latin typeface="Arial"/>
                <a:ea typeface="Arial"/>
                <a:cs typeface="Arial"/>
              </a:rPr>
              <a:t>Universal Design for Learning</a:t>
            </a:r>
          </a:p>
        </p:txBody>
      </p:sp>
      <p:sp>
        <p:nvSpPr>
          <p:cNvPr id="7" name="Rounded Rectangle 6"/>
          <p:cNvSpPr/>
          <p:nvPr/>
        </p:nvSpPr>
        <p:spPr>
          <a:xfrm>
            <a:off x="1289304" y="3182112"/>
            <a:ext cx="6108192" cy="640080"/>
          </a:xfrm>
          <a:prstGeom prst="roundRect">
            <a:avLst>
              <a:gd name="adj" fmla="val 30000"/>
            </a:avLst>
          </a:prstGeom>
          <a:solidFill>
            <a:srgbClr val="C9BCE0"/>
          </a:solidFill>
          <a:ln>
            <a:noFill/>
          </a:ln>
        </p:spPr>
        <p:txBody>
          <a:bodyPr rtlCol="0" anchor="ctr"/>
          <a:lstStyle/>
          <a:p>
            <a:pPr algn="ctr"/>
            <a:endParaRPr/>
          </a:p>
        </p:txBody>
      </p:sp>
      <p:sp>
        <p:nvSpPr>
          <p:cNvPr id="8" name="TextBox 7"/>
          <p:cNvSpPr txBox="1"/>
          <p:nvPr/>
        </p:nvSpPr>
        <p:spPr>
          <a:xfrm>
            <a:off x="1426464" y="3182112"/>
            <a:ext cx="5833872"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3D2A6B"/>
                </a:solidFill>
                <a:latin typeface="Arial"/>
                <a:ea typeface="Arial"/>
                <a:cs typeface="Arial"/>
              </a:rPr>
              <a:t>Quality differentiated teaching practice (NCCD level)</a:t>
            </a:r>
          </a:p>
        </p:txBody>
      </p:sp>
      <p:sp>
        <p:nvSpPr>
          <p:cNvPr id="9" name="Rounded Rectangle 8"/>
          <p:cNvSpPr/>
          <p:nvPr/>
        </p:nvSpPr>
        <p:spPr>
          <a:xfrm>
            <a:off x="1591056" y="3950208"/>
            <a:ext cx="5504688" cy="640080"/>
          </a:xfrm>
          <a:prstGeom prst="roundRect">
            <a:avLst>
              <a:gd name="adj" fmla="val 30000"/>
            </a:avLst>
          </a:prstGeom>
          <a:solidFill>
            <a:srgbClr val="A893D8"/>
          </a:solidFill>
          <a:ln>
            <a:noFill/>
          </a:ln>
        </p:spPr>
        <p:txBody>
          <a:bodyPr rtlCol="0" anchor="ctr"/>
          <a:lstStyle/>
          <a:p>
            <a:pPr algn="ctr"/>
            <a:endParaRPr/>
          </a:p>
        </p:txBody>
      </p:sp>
      <p:sp>
        <p:nvSpPr>
          <p:cNvPr id="10" name="TextBox 9"/>
          <p:cNvSpPr txBox="1"/>
          <p:nvPr/>
        </p:nvSpPr>
        <p:spPr>
          <a:xfrm>
            <a:off x="1728216" y="3950208"/>
            <a:ext cx="5230368"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3D2A6B"/>
                </a:solidFill>
                <a:latin typeface="Arial"/>
                <a:ea typeface="Arial"/>
                <a:cs typeface="Arial"/>
              </a:rPr>
              <a:t>Supplementary adjustments (NCCD level)</a:t>
            </a:r>
          </a:p>
        </p:txBody>
      </p:sp>
      <p:sp>
        <p:nvSpPr>
          <p:cNvPr id="11" name="Rounded Rectangle 10"/>
          <p:cNvSpPr/>
          <p:nvPr/>
        </p:nvSpPr>
        <p:spPr>
          <a:xfrm>
            <a:off x="1892808" y="4718304"/>
            <a:ext cx="4901184" cy="640080"/>
          </a:xfrm>
          <a:prstGeom prst="roundRect">
            <a:avLst>
              <a:gd name="adj" fmla="val 30000"/>
            </a:avLst>
          </a:prstGeom>
          <a:solidFill>
            <a:srgbClr val="7A5FC0"/>
          </a:solidFill>
          <a:ln>
            <a:noFill/>
          </a:ln>
        </p:spPr>
        <p:txBody>
          <a:bodyPr rtlCol="0" anchor="ctr"/>
          <a:lstStyle/>
          <a:p>
            <a:pPr algn="ctr"/>
            <a:endParaRPr/>
          </a:p>
        </p:txBody>
      </p:sp>
      <p:sp>
        <p:nvSpPr>
          <p:cNvPr id="12" name="TextBox 11"/>
          <p:cNvSpPr txBox="1"/>
          <p:nvPr/>
        </p:nvSpPr>
        <p:spPr>
          <a:xfrm>
            <a:off x="2029968" y="4718304"/>
            <a:ext cx="4626864"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FFFFFF"/>
                </a:solidFill>
                <a:latin typeface="Arial"/>
                <a:ea typeface="Arial"/>
                <a:cs typeface="Arial"/>
              </a:rPr>
              <a:t>Substantial adjustments (NCCD level)</a:t>
            </a:r>
          </a:p>
        </p:txBody>
      </p:sp>
      <p:sp>
        <p:nvSpPr>
          <p:cNvPr id="13" name="Rounded Rectangle 12"/>
          <p:cNvSpPr/>
          <p:nvPr/>
        </p:nvSpPr>
        <p:spPr>
          <a:xfrm>
            <a:off x="2194560" y="5486400"/>
            <a:ext cx="4297680" cy="640080"/>
          </a:xfrm>
          <a:prstGeom prst="roundRect">
            <a:avLst>
              <a:gd name="adj" fmla="val 30000"/>
            </a:avLst>
          </a:prstGeom>
          <a:solidFill>
            <a:srgbClr val="584099"/>
          </a:solidFill>
          <a:ln>
            <a:noFill/>
          </a:ln>
        </p:spPr>
        <p:txBody>
          <a:bodyPr rtlCol="0" anchor="ctr"/>
          <a:lstStyle/>
          <a:p>
            <a:pPr algn="ctr"/>
            <a:endParaRPr/>
          </a:p>
        </p:txBody>
      </p:sp>
      <p:sp>
        <p:nvSpPr>
          <p:cNvPr id="14" name="TextBox 13"/>
          <p:cNvSpPr txBox="1"/>
          <p:nvPr/>
        </p:nvSpPr>
        <p:spPr>
          <a:xfrm>
            <a:off x="2331720" y="5486400"/>
            <a:ext cx="402336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FFFFFF"/>
                </a:solidFill>
                <a:latin typeface="Arial"/>
                <a:ea typeface="Arial"/>
                <a:cs typeface="Arial"/>
              </a:rPr>
              <a:t>Extensive adjustments (NCCD level)</a:t>
            </a:r>
          </a:p>
        </p:txBody>
      </p:sp>
      <p:sp>
        <p:nvSpPr>
          <p:cNvPr id="15" name="Rounded Rectangle 14"/>
          <p:cNvSpPr/>
          <p:nvPr/>
        </p:nvSpPr>
        <p:spPr>
          <a:xfrm>
            <a:off x="8549640" y="1645920"/>
            <a:ext cx="2956255" cy="2176272"/>
          </a:xfrm>
          <a:prstGeom prst="roundRect">
            <a:avLst>
              <a:gd name="adj" fmla="val 8000"/>
            </a:avLst>
          </a:prstGeom>
          <a:solidFill>
            <a:srgbClr val="FFFFFF"/>
          </a:solidFill>
          <a:ln w="19050">
            <a:solidFill>
              <a:srgbClr val="584099"/>
            </a:solidFill>
          </a:ln>
        </p:spPr>
        <p:txBody>
          <a:bodyPr rtlCol="0" anchor="ctr"/>
          <a:lstStyle/>
          <a:p>
            <a:pPr algn="ctr"/>
            <a:endParaRPr/>
          </a:p>
        </p:txBody>
      </p:sp>
      <p:sp>
        <p:nvSpPr>
          <p:cNvPr id="16" name="TextBox 15"/>
          <p:cNvSpPr txBox="1"/>
          <p:nvPr/>
        </p:nvSpPr>
        <p:spPr>
          <a:xfrm>
            <a:off x="8686800" y="1645920"/>
            <a:ext cx="2697480" cy="2176272"/>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584099"/>
                </a:solidFill>
                <a:latin typeface="Arial Black"/>
                <a:ea typeface="Arial Black"/>
                <a:cs typeface="Arial Black"/>
              </a:rPr>
              <a:t>NCCD level of adjustment</a:t>
            </a:r>
          </a:p>
          <a:p>
            <a:pPr marL="0" indent="0" algn="l">
              <a:lnSpc>
                <a:spcPct val="100000"/>
              </a:lnSpc>
              <a:spcBef>
                <a:spcPts val="400"/>
              </a:spcBef>
              <a:buNone/>
            </a:pPr>
            <a:r>
              <a:rPr lang="en-AU" sz="1800" b="1">
                <a:solidFill>
                  <a:srgbClr val="3D2A6B"/>
                </a:solidFill>
                <a:latin typeface="Arial"/>
                <a:ea typeface="Arial"/>
                <a:cs typeface="Arial"/>
              </a:rPr>
              <a:t>Quality differentiated teaching practice</a:t>
            </a:r>
          </a:p>
        </p:txBody>
      </p:sp>
      <p:cxnSp>
        <p:nvCxnSpPr>
          <p:cNvPr id="17" name="Connector 16"/>
          <p:cNvCxnSpPr/>
          <p:nvPr/>
        </p:nvCxnSpPr>
        <p:spPr>
          <a:xfrm>
            <a:off x="8138160" y="2734056"/>
            <a:ext cx="411480" cy="0"/>
          </a:xfrm>
          <a:prstGeom prst="line">
            <a:avLst/>
          </a:prstGeom>
          <a:ln w="19050">
            <a:solidFill>
              <a:srgbClr val="B9A7D6"/>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549640" y="3950208"/>
            <a:ext cx="2956255" cy="2176272"/>
          </a:xfrm>
          <a:prstGeom prst="roundRect">
            <a:avLst>
              <a:gd name="adj" fmla="val 8000"/>
            </a:avLst>
          </a:prstGeom>
          <a:solidFill>
            <a:srgbClr val="584099"/>
          </a:solidFill>
          <a:ln w="19050">
            <a:solidFill>
              <a:srgbClr val="584099"/>
            </a:solidFill>
          </a:ln>
        </p:spPr>
        <p:txBody>
          <a:bodyPr rtlCol="0" anchor="ctr"/>
          <a:lstStyle/>
          <a:p>
            <a:pPr algn="ctr"/>
            <a:endParaRPr/>
          </a:p>
        </p:txBody>
      </p:sp>
      <p:sp>
        <p:nvSpPr>
          <p:cNvPr id="19" name="TextBox 18"/>
          <p:cNvSpPr txBox="1"/>
          <p:nvPr/>
        </p:nvSpPr>
        <p:spPr>
          <a:xfrm>
            <a:off x="8686800" y="3950208"/>
            <a:ext cx="2697480" cy="2176272"/>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FFFFFF"/>
                </a:solidFill>
                <a:latin typeface="Arial Black"/>
                <a:ea typeface="Arial Black"/>
                <a:cs typeface="Arial Black"/>
              </a:rPr>
              <a:t>Reasonable adjustments</a:t>
            </a:r>
          </a:p>
          <a:p>
            <a:pPr marL="0" indent="0" algn="l">
              <a:lnSpc>
                <a:spcPct val="100000"/>
              </a:lnSpc>
              <a:spcBef>
                <a:spcPts val="400"/>
              </a:spcBef>
              <a:buNone/>
            </a:pPr>
            <a:r>
              <a:rPr lang="en-AU" sz="1800" b="1">
                <a:solidFill>
                  <a:srgbClr val="FFFFFF"/>
                </a:solidFill>
                <a:latin typeface="Arial"/>
                <a:ea typeface="Arial"/>
                <a:cs typeface="Arial"/>
              </a:rPr>
              <a:t>NCCD levels: supplementary, substantial, extensive</a:t>
            </a:r>
          </a:p>
        </p:txBody>
      </p:sp>
      <p:cxnSp>
        <p:nvCxnSpPr>
          <p:cNvPr id="20" name="Connector 19"/>
          <p:cNvCxnSpPr/>
          <p:nvPr/>
        </p:nvCxnSpPr>
        <p:spPr>
          <a:xfrm>
            <a:off x="8138160" y="5038344"/>
            <a:ext cx="411480" cy="0"/>
          </a:xfrm>
          <a:prstGeom prst="line">
            <a:avLst/>
          </a:prstGeom>
          <a:ln w="19050">
            <a:solidFill>
              <a:srgbClr val="B9A7D6"/>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NCCD</a:t>
            </a:r>
          </a:p>
        </p:txBody>
      </p:sp>
      <p:sp>
        <p:nvSpPr>
          <p:cNvPr id="3" name="Rounded Rectangle 2"/>
          <p:cNvSpPr/>
          <p:nvPr/>
        </p:nvSpPr>
        <p:spPr>
          <a:xfrm>
            <a:off x="685800" y="1554480"/>
            <a:ext cx="10820095" cy="2926080"/>
          </a:xfrm>
          <a:prstGeom prst="roundRect">
            <a:avLst>
              <a:gd name="adj" fmla="val 7000"/>
            </a:avLst>
          </a:prstGeom>
          <a:solidFill>
            <a:srgbClr val="F3F0FA"/>
          </a:solidFill>
          <a:ln>
            <a:noFill/>
          </a:ln>
        </p:spPr>
        <p:txBody>
          <a:bodyPr rtlCol="0" anchor="ctr"/>
          <a:lstStyle/>
          <a:p>
            <a:pPr algn="ctr"/>
            <a:endParaRPr/>
          </a:p>
        </p:txBody>
      </p:sp>
      <p:sp>
        <p:nvSpPr>
          <p:cNvPr id="4" name="TextBox 3"/>
          <p:cNvSpPr txBox="1"/>
          <p:nvPr/>
        </p:nvSpPr>
        <p:spPr>
          <a:xfrm>
            <a:off x="1097280" y="1554480"/>
            <a:ext cx="9997135" cy="29260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584099"/>
                </a:solidFill>
                <a:latin typeface="Arial"/>
                <a:ea typeface="Arial"/>
                <a:cs typeface="Arial"/>
              </a:rPr>
              <a:t>NCCD information and links</a:t>
            </a:r>
          </a:p>
          <a:p>
            <a:pPr marL="0" indent="0" algn="l">
              <a:lnSpc>
                <a:spcPct val="110000"/>
              </a:lnSpc>
              <a:spcBef>
                <a:spcPts val="1400"/>
              </a:spcBef>
              <a:buNone/>
            </a:pPr>
            <a:r>
              <a:rPr lang="en-AU" sz="2000" b="0">
                <a:solidFill>
                  <a:srgbClr val="2D2440"/>
                </a:solidFill>
                <a:latin typeface="Arial"/>
                <a:ea typeface="Arial"/>
                <a:cs typeface="Arial"/>
              </a:rPr>
              <a:t>Connect the NCCD discussion with reasonable adjustments and evidence. Follow the consultation, documentation and review processes used in your school or system, and make responsibilities clear to the student, family and staff involved.</a:t>
            </a:r>
          </a:p>
        </p:txBody>
      </p:sp>
      <p:sp>
        <p:nvSpPr>
          <p:cNvPr id="5" name="DSE band"/>
          <p:cNvSpPr/>
          <p:nvPr/>
        </p:nvSpPr>
        <p:spPr>
          <a:xfrm>
            <a:off x="685800" y="4754880"/>
            <a:ext cx="10820095" cy="1188720"/>
          </a:xfrm>
          <a:prstGeom prst="roundRect">
            <a:avLst>
              <a:gd name="adj" fmla="val 25000"/>
            </a:avLst>
          </a:prstGeom>
          <a:solidFill>
            <a:srgbClr val="FFFFFF"/>
          </a:solidFill>
          <a:ln w="19050">
            <a:solidFill>
              <a:srgbClr val="584099"/>
            </a:solidFill>
          </a:ln>
        </p:spPr>
        <p:txBody>
          <a:bodyPr rtlCol="0" anchor="ctr"/>
          <a:lstStyle/>
          <a:p>
            <a:pPr algn="ctr"/>
            <a:endParaRPr/>
          </a:p>
        </p:txBody>
      </p:sp>
      <p:sp>
        <p:nvSpPr>
          <p:cNvPr id="6" name="DSE text"/>
          <p:cNvSpPr txBox="1"/>
          <p:nvPr/>
        </p:nvSpPr>
        <p:spPr>
          <a:xfrm>
            <a:off x="1097280" y="4754880"/>
            <a:ext cx="9997135"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000" b="1">
                <a:solidFill>
                  <a:srgbClr val="584099"/>
                </a:solidFill>
                <a:latin typeface="Arial"/>
                <a:ea typeface="Arial"/>
                <a:cs typeface="Arial"/>
              </a:rPr>
              <a:t>Under the Disability Standards for Education 2005, schools must consult the student, or an associate such as a parent or carer, about adjustments.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Share, refine and commit</a:t>
            </a:r>
          </a:p>
        </p:txBody>
      </p:sp>
      <p:sp>
        <p:nvSpPr>
          <p:cNvPr id="4" name="Rounded Rectangle 3"/>
          <p:cNvSpPr/>
          <p:nvPr/>
        </p:nvSpPr>
        <p:spPr>
          <a:xfrm>
            <a:off x="685800" y="1554480"/>
            <a:ext cx="9509760" cy="356616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3000" y="1965960"/>
            <a:ext cx="658368" cy="658368"/>
          </a:xfrm>
          <a:prstGeom prst="rect">
            <a:avLst/>
          </a:prstGeom>
        </p:spPr>
      </p:pic>
      <p:sp>
        <p:nvSpPr>
          <p:cNvPr id="6" name="TextBox 5"/>
          <p:cNvSpPr txBox="1"/>
          <p:nvPr/>
        </p:nvSpPr>
        <p:spPr>
          <a:xfrm>
            <a:off x="2194560" y="1874520"/>
            <a:ext cx="7680960" cy="3017520"/>
          </a:xfrm>
          <a:prstGeom prst="rect">
            <a:avLst/>
          </a:prstGeom>
          <a:noFill/>
        </p:spPr>
        <p:txBody>
          <a:bodyPr wrap="square" lIns="0" tIns="0" rIns="0" bIns="0" anchor="ctr">
            <a:noAutofit/>
          </a:bodyPr>
          <a:lstStyle/>
          <a:p>
            <a:pPr marL="0" indent="0" algn="l">
              <a:lnSpc>
                <a:spcPct val="100000"/>
              </a:lnSpc>
              <a:spcBef>
                <a:spcPts val="0"/>
              </a:spcBef>
              <a:buNone/>
            </a:pPr>
            <a:r>
              <a:rPr lang="en-AU" sz="2600" b="1">
                <a:solidFill>
                  <a:srgbClr val="3D2A6B"/>
                </a:solidFill>
                <a:latin typeface="Arial"/>
                <a:ea typeface="Arial"/>
                <a:cs typeface="Arial"/>
              </a:rPr>
              <a:t>Before you leave, ask yourself:</a:t>
            </a:r>
          </a:p>
          <a:p>
            <a:pPr marL="347472" indent="-347472" algn="l">
              <a:lnSpc>
                <a:spcPct val="100000"/>
              </a:lnSpc>
              <a:spcBef>
                <a:spcPts val="1600"/>
              </a:spcBef>
              <a:buClr>
                <a:srgbClr val="584099"/>
              </a:buClr>
              <a:buFont typeface="Arial"/>
              <a:buChar char="•"/>
            </a:pPr>
            <a:r>
              <a:rPr lang="en-AU" sz="2200" b="0">
                <a:solidFill>
                  <a:srgbClr val="3D2A6B"/>
                </a:solidFill>
                <a:latin typeface="Arial"/>
                <a:ea typeface="Arial"/>
                <a:cs typeface="Arial"/>
              </a:rPr>
              <a:t>What will you try?</a:t>
            </a:r>
          </a:p>
          <a:p>
            <a:pPr marL="347472" indent="-347472" algn="l">
              <a:lnSpc>
                <a:spcPct val="100000"/>
              </a:lnSpc>
              <a:spcBef>
                <a:spcPts val="1000"/>
              </a:spcBef>
              <a:buClr>
                <a:srgbClr val="584099"/>
              </a:buClr>
              <a:buFont typeface="Arial"/>
              <a:buChar char="•"/>
            </a:pPr>
            <a:r>
              <a:rPr lang="en-AU" sz="2200" b="0">
                <a:solidFill>
                  <a:srgbClr val="3D2A6B"/>
                </a:solidFill>
                <a:latin typeface="Arial"/>
                <a:ea typeface="Arial"/>
                <a:cs typeface="Arial"/>
              </a:rPr>
              <a:t>What will you notice?</a:t>
            </a:r>
          </a:p>
          <a:p>
            <a:pPr marL="347472" indent="-347472" algn="l">
              <a:lnSpc>
                <a:spcPct val="100000"/>
              </a:lnSpc>
              <a:spcBef>
                <a:spcPts val="1000"/>
              </a:spcBef>
              <a:buClr>
                <a:srgbClr val="584099"/>
              </a:buClr>
              <a:buFont typeface="Arial"/>
              <a:buChar char="•"/>
            </a:pPr>
            <a:r>
              <a:rPr lang="en-AU" sz="2200" b="0">
                <a:solidFill>
                  <a:srgbClr val="3D2A6B"/>
                </a:solidFill>
                <a:latin typeface="Arial"/>
                <a:ea typeface="Arial"/>
                <a:cs typeface="Arial"/>
              </a:rPr>
              <a:t>Who needs to be involved?</a:t>
            </a:r>
          </a:p>
          <a:p>
            <a:pPr marL="347472" indent="-347472" algn="l">
              <a:lnSpc>
                <a:spcPct val="100000"/>
              </a:lnSpc>
              <a:spcBef>
                <a:spcPts val="1000"/>
              </a:spcBef>
              <a:buClr>
                <a:srgbClr val="584099"/>
              </a:buClr>
              <a:buFont typeface="Arial"/>
              <a:buChar char="•"/>
            </a:pPr>
            <a:r>
              <a:rPr lang="en-AU" sz="2200" b="0">
                <a:solidFill>
                  <a:srgbClr val="3D2A6B"/>
                </a:solidFill>
                <a:latin typeface="Arial"/>
                <a:ea typeface="Arial"/>
                <a:cs typeface="Arial"/>
              </a:rPr>
              <a:t>How will students and families help refine it?</a:t>
            </a:r>
          </a:p>
        </p:txBody>
      </p:sp>
      <p:sp>
        <p:nvSpPr>
          <p:cNvPr id="7" name="Rounded Rectangle 6"/>
          <p:cNvSpPr/>
          <p:nvPr/>
        </p:nvSpPr>
        <p:spPr>
          <a:xfrm>
            <a:off x="685800" y="53949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3949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Treat the change as something to try, review and refine.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F100441E-11A5-4A61-832A-53B319D62A75}">
  <ds:schemaRefs>
    <ds:schemaRef ds:uri="http://schemas.microsoft.com/sharepoint/v3/contenttype/forms"/>
  </ds:schemaRefs>
</ds:datastoreItem>
</file>

<file path=customXml/itemProps2.xml><?xml version="1.0" encoding="utf-8"?>
<ds:datastoreItem xmlns:ds="http://schemas.openxmlformats.org/officeDocument/2006/customXml" ds:itemID="{E1E5169E-B6EB-4171-A635-D3FB4B86E1B1}">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07F7170-71E1-4CFC-928F-F99B5952CB69}">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401</TotalTime>
  <Words>6499</Words>
  <Application>Microsoft Macintosh PowerPoint</Application>
  <PresentationFormat>Widescreen</PresentationFormat>
  <Paragraphs>680</Paragraphs>
  <Slides>30</Slides>
  <Notes>27</Notes>
  <HiddenSlides>3</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 Unicode MS</vt:lpstr>
      <vt:lpstr>Aptos</vt:lpstr>
      <vt:lpstr>Aptos Display</vt:lpstr>
      <vt:lpstr>Arial</vt:lpstr>
      <vt:lpstr>Arial Black</vt:lpstr>
      <vt:lpstr>Arial,Sans-Serif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Identifying and reducing barriers in practice</vt:lpstr>
      <vt:lpstr>PowerPoint Presentation</vt:lpstr>
      <vt:lpstr>Inclusive Design</vt:lpstr>
      <vt:lpstr>Universal Design for Learning</vt:lpstr>
      <vt:lpstr>Differentiation</vt:lpstr>
      <vt:lpstr>PowerPoint Presentation</vt:lpstr>
      <vt:lpstr>PowerPoint Presentation</vt:lpstr>
      <vt:lpstr>PowerPoint Presentation</vt:lpstr>
      <vt:lpstr>Supporting Frameworks/Guidance</vt:lpstr>
      <vt:lpstr>PowerPoint Presentation</vt:lpstr>
      <vt:lpstr>Continuum of support</vt:lpstr>
      <vt:lpstr>A continuum of support example</vt:lpstr>
      <vt:lpstr>Reasonable Adjustments</vt:lpstr>
      <vt:lpstr>What are reasonable adjustments?</vt:lpstr>
      <vt:lpstr>PowerPoint Presentation</vt:lpstr>
      <vt:lpstr>PowerPoint Presentation</vt:lpstr>
      <vt:lpstr>Record – Monitor – Review</vt:lpstr>
      <vt:lpstr>PowerPoint Presentation</vt:lpstr>
      <vt:lpstr>PowerPoint Presentation</vt:lpstr>
      <vt:lpstr>PowerPoint Presentation</vt:lpstr>
      <vt:lpstr>Student Consultation</vt:lpstr>
      <vt:lpstr>Parent/Carer Consultation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Lynda Hunt</dc:creator>
  <cp:lastModifiedBy>Craig Smith</cp:lastModifiedBy>
  <cp:revision>5</cp:revision>
  <dcterms:modified xsi:type="dcterms:W3CDTF">2026-09-24T12:24:32Z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